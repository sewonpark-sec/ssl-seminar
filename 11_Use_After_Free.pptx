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29"/>
  </p:notesMasterIdLst>
  <p:sldIdLst>
    <p:sldId id="256" r:id="rId2"/>
    <p:sldId id="257" r:id="rId3"/>
    <p:sldId id="289" r:id="rId4"/>
    <p:sldId id="321" r:id="rId5"/>
    <p:sldId id="322" r:id="rId6"/>
    <p:sldId id="323" r:id="rId7"/>
    <p:sldId id="327" r:id="rId8"/>
    <p:sldId id="328" r:id="rId9"/>
    <p:sldId id="324" r:id="rId10"/>
    <p:sldId id="329" r:id="rId11"/>
    <p:sldId id="333" r:id="rId12"/>
    <p:sldId id="332" r:id="rId13"/>
    <p:sldId id="334" r:id="rId14"/>
    <p:sldId id="305" r:id="rId15"/>
    <p:sldId id="340" r:id="rId16"/>
    <p:sldId id="335" r:id="rId17"/>
    <p:sldId id="336" r:id="rId18"/>
    <p:sldId id="337" r:id="rId19"/>
    <p:sldId id="338" r:id="rId20"/>
    <p:sldId id="343" r:id="rId21"/>
    <p:sldId id="339" r:id="rId22"/>
    <p:sldId id="341" r:id="rId23"/>
    <p:sldId id="342" r:id="rId24"/>
    <p:sldId id="311" r:id="rId25"/>
    <p:sldId id="312" r:id="rId26"/>
    <p:sldId id="315" r:id="rId27"/>
    <p:sldId id="287" r:id="rId28"/>
  </p:sldIdLst>
  <p:sldSz cx="9144000" cy="5143500" type="screen16x9"/>
  <p:notesSz cx="6858000" cy="9144000"/>
  <p:embeddedFontLst>
    <p:embeddedFont>
      <p:font typeface="Cascadia Code Light" panose="020B0609020000020004" pitchFamily="49" charset="0"/>
      <p:regular r:id="rId30"/>
      <p:italic r:id="rId31"/>
    </p:embeddedFont>
    <p:embeddedFont>
      <p:font typeface="Cascadia Code SemiBold" panose="020B0609020000020004" pitchFamily="49" charset="0"/>
      <p:bold r:id="rId32"/>
      <p:boldItalic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Montserrat Medium" panose="00000600000000000000" pitchFamily="2" charset="0"/>
      <p:regular r:id="rId38"/>
      <p:bold r:id="rId39"/>
      <p:italic r:id="rId40"/>
      <p:boldItalic r:id="rId41"/>
    </p:embeddedFont>
    <p:embeddedFont>
      <p:font typeface="Montserrat SemiBold" panose="00000700000000000000" pitchFamily="2" charset="0"/>
      <p:regular r:id="rId42"/>
      <p:bold r:id="rId43"/>
      <p:italic r:id="rId44"/>
      <p:boldItalic r:id="rId45"/>
    </p:embeddedFont>
    <p:embeddedFont>
      <p:font typeface="페이퍼로지 4 Regular" pitchFamily="2" charset="-127"/>
      <p:regular r:id="rId46"/>
    </p:embeddedFont>
    <p:embeddedFont>
      <p:font typeface="페이퍼로지 5 Medium" pitchFamily="2" charset="-127"/>
      <p:regular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92D050"/>
    <a:srgbClr val="009900"/>
    <a:srgbClr val="336600"/>
    <a:srgbClr val="FAA4B5"/>
    <a:srgbClr val="8DB6FA"/>
    <a:srgbClr val="FAFAFA"/>
    <a:srgbClr val="FFFFFF"/>
    <a:srgbClr val="00B0F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14" autoAdjust="0"/>
    <p:restoredTop sz="94660"/>
  </p:normalViewPr>
  <p:slideViewPr>
    <p:cSldViewPr snapToGrid="0">
      <p:cViewPr>
        <p:scale>
          <a:sx n="150" d="100"/>
          <a:sy n="150" d="100"/>
        </p:scale>
        <p:origin x="276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e95a381e3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e95a381e3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C4060FB-DD48-2C96-7ED6-51397ACE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13DF98E-0E60-63E7-BB7D-0D2E1873A3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4ED4686-1280-E161-4BD4-4676433CA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9618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5C15DEB-B026-D331-8E7F-F8B79216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0DC2D0A-73A5-55F6-CD8F-208E26CCD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F52C803-04F6-C85B-F605-9528429C91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080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DA627DA-EC07-AC71-3BF0-29C1EA92A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98E9D805-D728-4407-A9E9-1B060EC6A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C8BB352-97B6-1FB9-A283-0420CEF24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2536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405EB07-CFC3-6BE0-9C68-8EB7DD704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324C7AF-89AA-44A9-633E-49EA3E7A8A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F4722A5-BE62-F4FA-06AC-A913D9FF1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2556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05E5AD5-4ABB-88FD-0369-E5001496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303F0B5-15C4-D1E5-B0E9-652558C4E0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F6A5BB9-6C5B-88F1-F3D5-78BD57836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752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667BA06-3618-4529-3313-387C1164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2CF3CB4-A67D-4CE4-23BA-6C152B6B1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4162DE1-19F8-8626-9B69-6E6263AD3D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587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1D9CA80-8328-C53D-07CF-AE276148B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8D73CAD-645D-89E4-5556-A1A643C24F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D16DAA4C-2A50-2085-20E4-DA7BF1C62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691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44F25F5-AC50-32AA-5634-F58EE9E7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73F955B-1BCF-7738-B830-FBA3F34D7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9B4B9C6-BB42-DDBB-C361-0883E8A399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398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A5886B1-F283-8B4C-24A7-25E2EE0B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7B081BD-B28B-A12F-B962-3F8665F467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196B403-DF67-D440-815A-6B433A58E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799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8E15235-100B-EF8C-CB69-B80972558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95078399-3F0C-5D2C-0E61-3A1EC4857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CEBBCCF-90CC-B21B-9916-9DA4C5855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15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886381B-E394-0073-6A1E-742BB3975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A09D261-7990-3FB1-B9C2-DD5303D58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C30E7A2-F03E-E4D3-BA44-D982A3AD7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244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04A45EE-777B-AEC8-DDD0-72CA6091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51ED0B1-B6C9-D374-DC41-39C22FEFA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5CDF043-F977-542C-DFC3-205601FBBC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681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101BB1B-FC87-489B-AE06-25295158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D6A8FF1-7694-47E9-68BE-D858974A33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0205BD4-5C20-7244-F929-779D48DEA5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433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3B1AC4BE-F8F8-1254-6BA3-D5BD88BF4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D803F35-C6BD-A173-BF83-74C7E99D6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EDA0D36-E157-85A3-CB49-AD4E44C59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703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9FB26CB-D2EB-6343-EB8F-6E5BA101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4148581-83F3-B45A-D5DD-343046C51F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6A9382F-590B-2D5A-09D8-825F2FEFAB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230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8B7839F-E932-046C-B44C-ED15E63C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07FD282-DA39-411B-210F-3B2F25D69E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AEFF9D7-3D45-E1EB-25A4-A0C6458D3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393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B1ACF92-FE27-7995-368A-BE84A125B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28EBA8D-EBC8-5D74-AB00-4A9E2C8FC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592CFB6-A797-879B-EA41-5AD1AA9FE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069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E170407-15F9-46B7-4485-717F3DE76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A08E0D7-E545-3D9C-9AC1-085C537308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7D2AD860-2F30-6428-050D-B4F015765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5092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6979EAB-F658-61A2-213F-1F773A6A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168E97B-53B6-9372-7278-18C9B9DDE3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78A9AEA-1247-39C8-55A5-EC5F7B4A3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111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FAA34E6-EBA0-2E0E-2443-FD9DC806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D8F4E6D-55AE-F668-60BF-FF98015A0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825ACA2-918B-17F3-9D70-3134F80CD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27987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E431E59-952C-1FB2-54DB-F09330690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0B6529F-7770-DB8D-7592-2AB88D57D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17B044C3-D735-959D-8A28-086C520187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93468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88A5739-F042-9592-E215-F99D2EF6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FF659AF0-8147-5431-435F-2EF51C995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41F8B27-6A0A-B253-CB42-972565EF9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17090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F6D1283-95D8-C133-18BE-CC6CB332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F7B5B93-6DF1-3886-ACAA-D359D9275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9668867-C0F6-7EB0-29A8-9A0B462CC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7367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667BA06-3618-4529-3313-387C1164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2CF3CB4-A67D-4CE4-23BA-6C152B6B1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4162DE1-19F8-8626-9B69-6E6263AD3D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5874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5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5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1953247" y="1587917"/>
            <a:ext cx="5237505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/>
              <a:t>Use After Free</a:t>
            </a:r>
            <a:endParaRPr dirty="0"/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3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5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20200451 </a:t>
            </a:r>
          </a:p>
          <a:p>
            <a:pPr algn="r"/>
            <a:r>
              <a:rPr lang="ko-KR" altLang="en-US" sz="800" dirty="0"/>
              <a:t>박세원</a:t>
            </a:r>
            <a:endParaRPr lang="en-US" altLang="ko-KR" sz="800" dirty="0"/>
          </a:p>
          <a:p>
            <a:pPr algn="r"/>
            <a:r>
              <a:rPr lang="en-US" altLang="ko-KR" sz="800" dirty="0"/>
              <a:t>System Software Lab.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6096000" y="1190625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116" name="Google Shape;116;p18"/>
          <p:cNvSpPr/>
          <p:nvPr/>
        </p:nvSpPr>
        <p:spPr>
          <a:xfrm>
            <a:off x="457200" y="1190625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276600" y="1190625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633921" y="1675163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Introduction</a:t>
            </a:r>
            <a:endParaRPr lang="en"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459450" y="1674126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Montserrat SemiBold"/>
                <a:ea typeface="페이퍼로지 4 Regular" charset="-127"/>
                <a:cs typeface="Montserrat SemiBold"/>
                <a:sym typeface="Montserrat SemiBold"/>
              </a:rPr>
              <a:t>Dangling Pointer</a:t>
            </a:r>
            <a:endParaRPr sz="1600" dirty="0">
              <a:solidFill>
                <a:schemeClr val="dk1"/>
              </a:solidFill>
              <a:latin typeface="Montserrat SemiBold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6283071" y="1674126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buSzPts val="1800"/>
            </a:pPr>
            <a:r>
              <a:rPr lang="en-US" altLang="ko-KR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Use After Free</a:t>
            </a:r>
            <a:endParaRPr lang="en-US" altLang="ko-KR"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1562438" y="998500"/>
            <a:ext cx="380400" cy="380400"/>
          </a:xfrm>
          <a:prstGeom prst="ellipse">
            <a:avLst/>
          </a:prstGeom>
          <a:solidFill>
            <a:srgbClr val="51EEB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381850" y="998513"/>
            <a:ext cx="380400" cy="38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201200" y="998463"/>
            <a:ext cx="380400" cy="380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57200" y="3146000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276600" y="3146000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33921" y="3633245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reuse</a:t>
            </a:r>
            <a:endParaRPr sz="1600" b="1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3459450" y="3631684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페이퍼로지 5 Medium" pitchFamily="2" charset="-127"/>
                <a:ea typeface="페이퍼로지 5 Medium" pitchFamily="2" charset="-127"/>
                <a:cs typeface="Montserrat SemiBold"/>
                <a:sym typeface="Montserrat SemiBold"/>
              </a:rPr>
              <a:t>Advanced</a:t>
            </a:r>
            <a:endParaRPr sz="1600" dirty="0">
              <a:solidFill>
                <a:schemeClr val="dk1"/>
              </a:solidFill>
              <a:latin typeface="페이퍼로지 5 Medium" pitchFamily="2" charset="-127"/>
              <a:ea typeface="페이퍼로지 5 Medium" pitchFamily="2" charset="-127"/>
              <a:cs typeface="Montserrat SemiBold"/>
              <a:sym typeface="Montserrat SemiBold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562438" y="2953875"/>
            <a:ext cx="380400" cy="380400"/>
          </a:xfrm>
          <a:prstGeom prst="ellipse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381850" y="2953888"/>
            <a:ext cx="380400" cy="3804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" name="Google Shape;149;p18">
            <a:extLst>
              <a:ext uri="{FF2B5EF4-FFF2-40B4-BE49-F238E27FC236}">
                <a16:creationId xmlns:a16="http://schemas.microsoft.com/office/drawing/2014/main" id="{42ADA00E-9DDC-2D1C-2A25-8AD5DA17311F}"/>
              </a:ext>
            </a:extLst>
          </p:cNvPr>
          <p:cNvSpPr/>
          <p:nvPr/>
        </p:nvSpPr>
        <p:spPr>
          <a:xfrm>
            <a:off x="6096000" y="3145645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57;p18">
            <a:extLst>
              <a:ext uri="{FF2B5EF4-FFF2-40B4-BE49-F238E27FC236}">
                <a16:creationId xmlns:a16="http://schemas.microsoft.com/office/drawing/2014/main" id="{75FD18B5-1393-1090-4F1F-ECDF055988BC}"/>
              </a:ext>
            </a:extLst>
          </p:cNvPr>
          <p:cNvSpPr txBox="1"/>
          <p:nvPr/>
        </p:nvSpPr>
        <p:spPr>
          <a:xfrm>
            <a:off x="6278850" y="3631684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Exploit</a:t>
            </a:r>
            <a:endParaRPr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" name="Google Shape;162;p18">
            <a:extLst>
              <a:ext uri="{FF2B5EF4-FFF2-40B4-BE49-F238E27FC236}">
                <a16:creationId xmlns:a16="http://schemas.microsoft.com/office/drawing/2014/main" id="{81C7114F-953D-E256-ED65-2D580019068E}"/>
              </a:ext>
            </a:extLst>
          </p:cNvPr>
          <p:cNvSpPr/>
          <p:nvPr/>
        </p:nvSpPr>
        <p:spPr>
          <a:xfrm>
            <a:off x="7201250" y="2953533"/>
            <a:ext cx="380400" cy="380400"/>
          </a:xfrm>
          <a:prstGeom prst="ellipse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endParaRPr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127925B-2899-317F-4014-B9DC84E31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B63678A-D1DE-9B8C-B206-2825C225A243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b="1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 After Free?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b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원룸을 임대했는데 계약이 만료되면 세입자는 원룸의 접근 권한을 반납해야 함</a:t>
            </a: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열쇠를 이용하면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열쇠를 돌려줘야 하고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도어락을 사용하면 재설정을 해줘야 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그러면 임대인이 깔끔히 치우고 다시 세입자를 구함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if)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접근 권한을 회수하지 않는다면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원룸 무단 사용 가능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if) 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깨끗이 청소하지 않는다면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이전 세입자의 기록이 남음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i.e.) “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접근 권한 회수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깨끗한 청소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반드시 필요함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EE1C7DE-3C00-00F4-E026-D8E0624D24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93E17EC-6F63-27E5-41A2-7079A010F69C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28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DBABDAB-DB81-A98C-C2B5-883AF9C68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1C5B0EFC-3872-C843-4DEA-37B0FC3C5CDA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b="1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 After Free?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b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ptmalloc2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이용해 메모리 관리 시 비슷한 문제 발생 가능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!!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이번 세미나에서는 메모리 참조에 사용한 포인터를 </a:t>
            </a:r>
            <a:b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 i="0" u="none" strike="noStrike" cap="none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1. </a:t>
            </a:r>
            <a:r>
              <a:rPr lang="ko-KR" altLang="en-US" sz="1800" i="0" u="none" strike="noStrike" cap="none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 해제 후에 적절히 초기화 하지 않아 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	or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2. </a:t>
            </a:r>
            <a:r>
              <a:rPr lang="ko-KR" altLang="en-US" sz="18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해제한 메모리를 초기화 하지 않고 다음 청크에 재할당</a:t>
            </a:r>
            <a:br>
              <a:rPr lang="en-US" altLang="ko-KR" sz="1800">
                <a:solidFill>
                  <a:schemeClr val="accent1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1800">
                <a:solidFill>
                  <a:schemeClr val="accent1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하면서 발생하는 취약점에 대해 소개 하려 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**Note**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취약점은 현재까지도 브라우저 및 커널에서 자주 발견되고 있음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Exploit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성공률도 다른 취약점에 비해 상당히 높다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498FCA0-6024-522C-9F12-4793D481A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153F2E7-0C8C-A7A0-8AD4-90EB1599BB03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kull Emoji Evil Sticker - Just Stickers">
            <a:extLst>
              <a:ext uri="{FF2B5EF4-FFF2-40B4-BE49-F238E27FC236}">
                <a16:creationId xmlns:a16="http://schemas.microsoft.com/office/drawing/2014/main" id="{EE5AD959-1BC5-2CB9-66BF-178E32AB9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190" y="1261565"/>
            <a:ext cx="493878" cy="46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00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1265954-DDC4-A1C9-1A73-AB30A1BEE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842008C-59DD-725C-BA8F-D88F1C6A75A6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b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Dangling Pointer?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b="1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유효하지 않은 메모리 영역을 가리키는 포인터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malloc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함수는 할당한 메모리의 주소를 반환한다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e.g.) normally</a:t>
            </a:r>
            <a:r>
              <a:rPr lang="ko-KR" altLang="en-US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포인터 선언 후 할당한 메모리 주소 저장 </a:t>
            </a:r>
            <a:r>
              <a:rPr lang="en-US" altLang="ko-KR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&amp; </a:t>
            </a:r>
            <a:r>
              <a:rPr lang="ko-KR" altLang="en-US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포인터 참조 접근</a:t>
            </a:r>
            <a:endParaRPr lang="en-US" altLang="ko-KR">
              <a:solidFill>
                <a:schemeClr val="accent2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accent2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free</a:t>
            </a:r>
            <a:r>
              <a:rPr lang="ko-KR" altLang="en-US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함수는 메모리 해제 시 호출한다</a:t>
            </a: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but) </a:t>
            </a:r>
            <a:r>
              <a:rPr lang="ko-KR" altLang="en-US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청크의 주소를 담고 있던 포인터를 초기화하지 않는다</a:t>
            </a:r>
            <a:r>
              <a:rPr lang="en-US" altLang="ko-KR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즉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free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후 포인터를 초기화 하지 않으면 포인터는 해제된 청크를 가리키는 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Dangling Pointer.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63AD4AA-8334-569B-0B0C-36DA8231B5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Dangling Pointer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DC8061F-45DD-3624-D838-D1945A726E28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ECBF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73DA3D1E-18C3-BE9C-066D-BD337D9C4FE0}"/>
              </a:ext>
            </a:extLst>
          </p:cNvPr>
          <p:cNvCxnSpPr>
            <a:cxnSpLocks/>
          </p:cNvCxnSpPr>
          <p:nvPr/>
        </p:nvCxnSpPr>
        <p:spPr>
          <a:xfrm>
            <a:off x="996287" y="3220872"/>
            <a:ext cx="216563" cy="154153"/>
          </a:xfrm>
          <a:prstGeom prst="bentConnector3">
            <a:avLst>
              <a:gd name="adj1" fmla="val -1313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375DCA28-7D68-228B-4BA1-B48422793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121" y="1120438"/>
            <a:ext cx="4401757" cy="341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2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FB54334B-D6A6-7BFB-415B-6460566A7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BB7C11D-E5F9-76A7-5F0B-B771190B3814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CDDD5C9-1694-3605-C7A0-B43E02B84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Dangling Pointer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DA17027-AEA5-1A8F-2F1D-0E3914AE1AA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ECBF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5C55848A-41C8-CF6E-04B8-1DE53E0D5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75" y="966285"/>
            <a:ext cx="2245030" cy="373957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42C1A4F-B83B-A19A-1D19-16BECBF6E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250" y="1933486"/>
            <a:ext cx="3305636" cy="1276528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65E5407-C09C-5B5C-09EF-C2C22C1C43AD}"/>
              </a:ext>
            </a:extLst>
          </p:cNvPr>
          <p:cNvCxnSpPr/>
          <p:nvPr/>
        </p:nvCxnSpPr>
        <p:spPr>
          <a:xfrm flipV="1">
            <a:off x="1431509" y="2446808"/>
            <a:ext cx="3550394" cy="140628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2DF113-F3B5-15AA-37CC-225BF14A2438}"/>
              </a:ext>
            </a:extLst>
          </p:cNvPr>
          <p:cNvSpPr txBox="1"/>
          <p:nvPr/>
        </p:nvSpPr>
        <p:spPr>
          <a:xfrm>
            <a:off x="4231465" y="1422710"/>
            <a:ext cx="4796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두 번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free()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를 호출하니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double free detected in </a:t>
            </a:r>
            <a:r>
              <a:rPr lang="en-US" altLang="ko-KR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</a:rPr>
              <a:t>tcache</a:t>
            </a:r>
            <a:endParaRPr lang="ko-KR" altLang="en-US">
              <a:solidFill>
                <a:srgbClr val="9933FF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CE3600B-4687-4D79-9763-A34940B70BDC}"/>
              </a:ext>
            </a:extLst>
          </p:cNvPr>
          <p:cNvSpPr/>
          <p:nvPr/>
        </p:nvSpPr>
        <p:spPr>
          <a:xfrm>
            <a:off x="4745125" y="3413013"/>
            <a:ext cx="3651886" cy="1241042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accent2">
                    <a:lumMod val="75000"/>
                  </a:schemeClr>
                </a:solidFill>
              </a:rPr>
              <a:t>이를 </a:t>
            </a:r>
            <a:r>
              <a:rPr lang="en-US" altLang="ko-KR">
                <a:solidFill>
                  <a:schemeClr val="accent2">
                    <a:lumMod val="75000"/>
                  </a:schemeClr>
                </a:solidFill>
              </a:rPr>
              <a:t>Double Free Bug</a:t>
            </a:r>
            <a:br>
              <a:rPr lang="en-US" altLang="ko-KR">
                <a:solidFill>
                  <a:schemeClr val="accent2">
                    <a:lumMod val="75000"/>
                  </a:schemeClr>
                </a:solidFill>
              </a:rPr>
            </a:br>
            <a:br>
              <a:rPr lang="en-US" altLang="ko-KR">
                <a:solidFill>
                  <a:schemeClr val="accent2">
                    <a:lumMod val="75000"/>
                  </a:schemeClr>
                </a:solidFill>
              </a:rPr>
            </a:br>
            <a:r>
              <a:rPr lang="ko-KR" altLang="en-US">
                <a:solidFill>
                  <a:schemeClr val="accent2">
                    <a:lumMod val="75000"/>
                  </a:schemeClr>
                </a:solidFill>
              </a:rPr>
              <a:t>여기서 이전 시간에 언급한 </a:t>
            </a:r>
            <a:r>
              <a:rPr lang="en-US" altLang="ko-KR">
                <a:solidFill>
                  <a:schemeClr val="accent2">
                    <a:lumMod val="75000"/>
                  </a:schemeClr>
                </a:solidFill>
              </a:rPr>
              <a:t>key</a:t>
            </a:r>
            <a:r>
              <a:rPr lang="ko-KR" altLang="en-US">
                <a:solidFill>
                  <a:schemeClr val="accent2">
                    <a:lumMod val="75000"/>
                  </a:schemeClr>
                </a:solidFill>
              </a:rPr>
              <a:t>를 응용</a:t>
            </a:r>
            <a:endParaRPr lang="en-US" altLang="ko-KR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en-US" altLang="ko-KR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altLang="ko-KR">
                <a:solidFill>
                  <a:schemeClr val="accent2">
                    <a:lumMod val="75000"/>
                  </a:schemeClr>
                </a:solidFill>
              </a:rPr>
              <a:t>key</a:t>
            </a:r>
            <a:r>
              <a:rPr lang="ko-KR" altLang="en-US">
                <a:solidFill>
                  <a:schemeClr val="accent2">
                    <a:lumMod val="75000"/>
                  </a:schemeClr>
                </a:solidFill>
              </a:rPr>
              <a:t>는 </a:t>
            </a:r>
            <a:r>
              <a:rPr lang="en-US" altLang="ko-KR">
                <a:solidFill>
                  <a:schemeClr val="accent2">
                    <a:lumMod val="75000"/>
                  </a:schemeClr>
                </a:solidFill>
              </a:rPr>
              <a:t>to be continued..</a:t>
            </a:r>
            <a:endParaRPr lang="ko-KR" altLang="en-US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71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A5DCA8A-670C-7AB7-C781-BEAF4BC1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4EE2E8D-780F-CD27-A89E-A05A0CA460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 err="1">
                <a:solidFill>
                  <a:srgbClr val="9933FF"/>
                </a:solidFill>
              </a:rPr>
              <a:t>tcache</a:t>
            </a:r>
            <a:endParaRPr dirty="0">
              <a:solidFill>
                <a:srgbClr val="9933FF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E2E0CC6-87D1-60A4-C851-ACAF12D61C9E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B8A28D-3457-F750-0C2A-E5124F876A40}"/>
              </a:ext>
            </a:extLst>
          </p:cNvPr>
          <p:cNvSpPr/>
          <p:nvPr/>
        </p:nvSpPr>
        <p:spPr>
          <a:xfrm>
            <a:off x="367295" y="1645918"/>
            <a:ext cx="1596973" cy="347471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tcache_prethread_struct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양쪽 중괄호 4">
            <a:extLst>
              <a:ext uri="{FF2B5EF4-FFF2-40B4-BE49-F238E27FC236}">
                <a16:creationId xmlns:a16="http://schemas.microsoft.com/office/drawing/2014/main" id="{87FFF01B-65D3-615C-DA8E-43884B9979D1}"/>
              </a:ext>
            </a:extLst>
          </p:cNvPr>
          <p:cNvSpPr/>
          <p:nvPr/>
        </p:nvSpPr>
        <p:spPr>
          <a:xfrm>
            <a:off x="2057400" y="896110"/>
            <a:ext cx="3465576" cy="1847089"/>
          </a:xfrm>
          <a:prstGeom prst="bracePair">
            <a:avLst/>
          </a:prstGeom>
          <a:ln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4C0C3D3-259A-2353-A8D3-DBCFFB8EEDC2}"/>
              </a:ext>
            </a:extLst>
          </p:cNvPr>
          <p:cNvGraphicFramePr>
            <a:graphicFrameLocks noGrp="1"/>
          </p:cNvGraphicFramePr>
          <p:nvPr/>
        </p:nvGraphicFramePr>
        <p:xfrm>
          <a:off x="2307336" y="1265933"/>
          <a:ext cx="2965704" cy="379985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423672">
                  <a:extLst>
                    <a:ext uri="{9D8B030D-6E8A-4147-A177-3AD203B41FA5}">
                      <a16:colId xmlns:a16="http://schemas.microsoft.com/office/drawing/2014/main" val="1984836956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719747156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559180794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437979192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965311260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031441048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3942911841"/>
                    </a:ext>
                  </a:extLst>
                </a:gridCol>
              </a:tblGrid>
              <a:tr h="379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2320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D79EBD-FA33-A180-4A0D-573DF8563A86}"/>
              </a:ext>
            </a:extLst>
          </p:cNvPr>
          <p:cNvSpPr txBox="1"/>
          <p:nvPr/>
        </p:nvSpPr>
        <p:spPr>
          <a:xfrm>
            <a:off x="2243328" y="958156"/>
            <a:ext cx="1962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counts[</a:t>
            </a:r>
            <a:r>
              <a:rPr lang="en-US" altLang="ko-KR" dirty="0" err="1"/>
              <a:t>tc_idx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99F2B4D-BD3C-97E1-4116-11E77A554D37}"/>
              </a:ext>
            </a:extLst>
          </p:cNvPr>
          <p:cNvGraphicFramePr>
            <a:graphicFrameLocks noGrp="1"/>
          </p:cNvGraphicFramePr>
          <p:nvPr/>
        </p:nvGraphicFramePr>
        <p:xfrm>
          <a:off x="2307336" y="2127430"/>
          <a:ext cx="2965704" cy="379985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423672">
                  <a:extLst>
                    <a:ext uri="{9D8B030D-6E8A-4147-A177-3AD203B41FA5}">
                      <a16:colId xmlns:a16="http://schemas.microsoft.com/office/drawing/2014/main" val="1984836956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719747156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559180794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437979192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965311260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031441048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3942911841"/>
                    </a:ext>
                  </a:extLst>
                </a:gridCol>
              </a:tblGrid>
              <a:tr h="379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addr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addr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addr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addr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2320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8010675-7A76-08F2-0E75-8B6511A99850}"/>
              </a:ext>
            </a:extLst>
          </p:cNvPr>
          <p:cNvSpPr txBox="1"/>
          <p:nvPr/>
        </p:nvSpPr>
        <p:spPr>
          <a:xfrm>
            <a:off x="2243328" y="1819653"/>
            <a:ext cx="1962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*entries[</a:t>
            </a:r>
            <a:r>
              <a:rPr lang="en-US" altLang="ko-KR" dirty="0" err="1"/>
              <a:t>tc_idx</a:t>
            </a:r>
            <a:r>
              <a:rPr lang="en-US" altLang="ko-KR" dirty="0"/>
              <a:t>]</a:t>
            </a:r>
            <a:endParaRPr lang="ko-KR" altLang="en-US" dirty="0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58525688-24F9-28FE-7C88-5E8480B765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99712" y="2683182"/>
            <a:ext cx="611490" cy="3"/>
          </a:xfrm>
          <a:prstGeom prst="bentConnector3">
            <a:avLst>
              <a:gd name="adj1" fmla="val 50000"/>
            </a:avLst>
          </a:prstGeom>
          <a:ln w="28575"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590C9D3-F968-D7C8-1504-A56B971E8CB5}"/>
              </a:ext>
            </a:extLst>
          </p:cNvPr>
          <p:cNvGraphicFramePr>
            <a:graphicFrameLocks noGrp="1"/>
          </p:cNvGraphicFramePr>
          <p:nvPr/>
        </p:nvGraphicFramePr>
        <p:xfrm>
          <a:off x="2510350" y="3001048"/>
          <a:ext cx="1877066" cy="11277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862899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366926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141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fd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143100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69BA95E6-6DE0-0297-BB41-DF2AB0174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348991"/>
              </p:ext>
            </p:extLst>
          </p:nvPr>
        </p:nvGraphicFramePr>
        <p:xfrm>
          <a:off x="4717794" y="3414597"/>
          <a:ext cx="1877066" cy="11277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862899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366926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141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fd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143100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2E0E75C8-5388-8844-2EFE-393B66B1F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523748"/>
              </p:ext>
            </p:extLst>
          </p:nvPr>
        </p:nvGraphicFramePr>
        <p:xfrm>
          <a:off x="6925238" y="3978477"/>
          <a:ext cx="1877066" cy="11277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862899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366926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141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fd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143100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ADE5DA81-7082-1837-AA60-5B3A0FD043E0}"/>
              </a:ext>
            </a:extLst>
          </p:cNvPr>
          <p:cNvCxnSpPr>
            <a:cxnSpLocks/>
          </p:cNvCxnSpPr>
          <p:nvPr/>
        </p:nvCxnSpPr>
        <p:spPr>
          <a:xfrm>
            <a:off x="2990850" y="3333929"/>
            <a:ext cx="1726944" cy="183971"/>
          </a:xfrm>
          <a:prstGeom prst="bentConnector3">
            <a:avLst>
              <a:gd name="adj1" fmla="val 360"/>
            </a:avLst>
          </a:prstGeom>
          <a:ln w="28575"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9C702FAA-4E17-40E7-577F-E61B0B9C8BA6}"/>
              </a:ext>
            </a:extLst>
          </p:cNvPr>
          <p:cNvCxnSpPr>
            <a:cxnSpLocks/>
          </p:cNvCxnSpPr>
          <p:nvPr/>
        </p:nvCxnSpPr>
        <p:spPr>
          <a:xfrm>
            <a:off x="5207000" y="3733800"/>
            <a:ext cx="1718238" cy="325345"/>
          </a:xfrm>
          <a:prstGeom prst="bentConnector3">
            <a:avLst>
              <a:gd name="adj1" fmla="val 848"/>
            </a:avLst>
          </a:prstGeom>
          <a:ln w="28575"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83671029-26AF-129E-9789-54F2D2909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54" y="3590327"/>
            <a:ext cx="390580" cy="33342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A1A7412-AF96-A98D-3FE4-C1192F44ED63}"/>
              </a:ext>
            </a:extLst>
          </p:cNvPr>
          <p:cNvSpPr txBox="1"/>
          <p:nvPr/>
        </p:nvSpPr>
        <p:spPr>
          <a:xfrm>
            <a:off x="7943273" y="37263"/>
            <a:ext cx="116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key?</a:t>
            </a:r>
            <a:br>
              <a:rPr lang="en-US" altLang="ko-KR" sz="1000" dirty="0"/>
            </a:br>
            <a:r>
              <a:rPr lang="en-US" altLang="ko-KR" sz="1000" dirty="0"/>
              <a:t>To be continued..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9545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3CBA7BE-8CA7-EE67-35C2-2BCFC3A6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0BECD45-8EFC-D3FE-4EC7-02E9810FB284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F116B61-EB06-3667-D5FE-5A77890D37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 err="1">
                <a:solidFill>
                  <a:srgbClr val="9933FF"/>
                </a:solidFill>
              </a:rPr>
              <a:t>tcache</a:t>
            </a:r>
            <a:endParaRPr dirty="0">
              <a:solidFill>
                <a:srgbClr val="9933FF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7334C7D-EFBB-DF18-4321-E2AAB2C45C1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D1E3D769-916A-29AB-73BD-D372B84DC840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i="0" u="none" strike="noStrike" cap="none" dirty="0" err="1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en-US" altLang="ko-KR" b="1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b="1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en-US" altLang="ko-KR" b="1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thread local cache)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각 스레드에 독립적으로 할당되는 캐시 저장소</a:t>
            </a:r>
            <a:endParaRPr lang="en-US" altLang="ko-KR" i="0" u="none" strike="noStrike" cap="none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glibc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2.26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도입</a:t>
            </a: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각 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threa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64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개의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가지고 있다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 bin</a:t>
            </a:r>
            <a:r>
              <a:rPr lang="ko-KR" altLang="en-US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 </a:t>
            </a:r>
            <a:r>
              <a:rPr lang="ko-KR" altLang="en-US" i="0" u="none" strike="noStrike" cap="none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마찬가지로 </a:t>
            </a:r>
            <a:r>
              <a:rPr lang="en-US" altLang="ko-KR" i="0" u="none" strike="noStrike" cap="none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LIFO</a:t>
            </a:r>
            <a:r>
              <a:rPr lang="en-US" altLang="ko-KR" sz="1000" i="0" u="none" strike="noStrike" cap="none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(fd, key(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!bk)</a:t>
            </a:r>
            <a:r>
              <a:rPr lang="ko-KR" altLang="en-US" sz="1000" i="0" u="none" strike="noStrike" cap="none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나뉜 이유</a:t>
            </a:r>
            <a:r>
              <a:rPr lang="en-US" altLang="ko-KR" sz="1000" i="0" u="none" strike="noStrike" cap="none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), </a:t>
            </a:r>
            <a:r>
              <a:rPr lang="ko-KR" altLang="en-US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단일 연결 </a:t>
            </a:r>
            <a:r>
              <a:rPr lang="ko-KR" altLang="en-US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리스트</a:t>
            </a:r>
            <a:r>
              <a:rPr lang="en-US" altLang="ko-KR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병합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(free</a:t>
            </a:r>
            <a:r>
              <a:rPr lang="ko-KR" altLang="en-US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속도 극단적으로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..)</a:t>
            </a:r>
            <a:r>
              <a:rPr lang="ko-KR" altLang="en-US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❌</a:t>
            </a:r>
            <a:endParaRPr lang="en-US" altLang="ko-KR" i="0" u="none" strike="noStrike" cap="none" dirty="0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b="1" i="0" u="none" strike="noStrike" cap="none" dirty="0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하나의 </a:t>
            </a:r>
            <a:r>
              <a:rPr lang="en-US" altLang="ko-KR" b="1" i="0" u="none" strike="noStrike" cap="none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같은 크기의 </a:t>
            </a:r>
            <a:r>
              <a:rPr lang="ko-KR" altLang="en-US" b="1" i="0" u="none" strike="noStrike" cap="none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청크만</a:t>
            </a: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보관</a:t>
            </a:r>
            <a:br>
              <a:rPr lang="en-US" altLang="ko-KR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각 </a:t>
            </a:r>
            <a:r>
              <a:rPr lang="en-US" altLang="ko-KR" b="1" i="0" u="none" strike="noStrike" cap="none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보관할 수 있는 </a:t>
            </a:r>
            <a:r>
              <a:rPr lang="ko-KR" altLang="en-US" b="1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수 </a:t>
            </a:r>
            <a:r>
              <a:rPr lang="en-US" altLang="ko-KR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7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 </a:t>
            </a:r>
            <a:r>
              <a:rPr lang="en-US" altLang="ko-KR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 낭비 방지</a:t>
            </a:r>
            <a:r>
              <a:rPr lang="en-US" altLang="ko-KR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i="0" u="none" strike="noStrike" cap="none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  <a:t>32 &lt;= size &lt;= 1040 </a:t>
            </a:r>
            <a:br>
              <a:rPr lang="en-US" altLang="ko-KR" dirty="0">
                <a:solidFill>
                  <a:schemeClr val="tx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</a:b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이 범위에 속하는 </a:t>
            </a:r>
            <a:r>
              <a:rPr lang="ko-KR" altLang="en-US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청크는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할당 및 해제될 때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에서 가장 먼저 탐색</a:t>
            </a:r>
            <a:br>
              <a:rPr lang="en-US" altLang="ko-KR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</a:br>
            <a:r>
              <a:rPr lang="ko-KR" altLang="en-US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➕ </a:t>
            </a:r>
            <a:r>
              <a:rPr lang="en-US" altLang="ko-KR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가 </a:t>
            </a:r>
            <a:r>
              <a:rPr lang="ko-KR" altLang="en-US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가득 차면 </a:t>
            </a:r>
            <a:r>
              <a:rPr lang="en-US" altLang="ko-KR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unsorted bin</a:t>
            </a:r>
            <a:r>
              <a:rPr lang="ko-KR" altLang="en-US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으로 이동</a:t>
            </a: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Benefit:</a:t>
            </a:r>
            <a:br>
              <a:rPr lang="en-US" altLang="ko-KR" b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</a:br>
            <a:r>
              <a:rPr lang="ko-KR" altLang="en-US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각 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스레드가 고유하게 갖는 캐시 </a:t>
            </a: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레이스 컨디션 고려할 필요 ❌</a:t>
            </a: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arena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bin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에 접근하기 전에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를 먼저 사용하므로 </a:t>
            </a:r>
            <a:b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</a:b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&gt; arena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에서 발생할 수 있는 병목 현상 완화 가능</a:t>
            </a: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846057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E77D1A4-5F2F-862A-4347-FF14EA677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686CA55-0E98-FF89-C6DD-CFE6A141224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 After Free?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문자 그대로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u="sng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해제된 메모리에 접근할 수 있을 때 발생하는 취약점</a:t>
            </a:r>
            <a:endParaRPr lang="en-US" altLang="ko-KR" u="sng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u="sng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앞서 본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Dangling Pointer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인해 발생 </a:t>
            </a:r>
            <a:b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                  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➕</a:t>
            </a:r>
            <a:b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u="sng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새롭게 할당한 영역을 초기화 하지 않고 사용</a:t>
            </a:r>
            <a:endParaRPr lang="en-US" altLang="ko-KR" u="sng">
              <a:solidFill>
                <a:srgbClr val="00B0F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u="sng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다시 한 번 말하지만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malloc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 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free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함수는 할당 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or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해제할 때 메모리의 데이터를 초기화 하지 않는다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그래서 새롭게 할당된 청크를 명시적으로 초기화하지 않으면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u="sng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메모리에 남아있던 데이터가 유출되거나 사용 가능</a:t>
            </a:r>
            <a:endParaRPr lang="en-US" altLang="ko-KR" u="sng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u="sng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02FEECF-07E7-E1C8-A408-DFA31D22E1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After Free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8230605-77EA-377B-32C9-90BE5E763EDD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182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6A5DB57-D382-A3A9-A966-54ECBF7FA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68DF839-F153-AEEA-9AE3-B538B82DFE84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F766592-DE15-1431-0C21-9C5C1A57E4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After Free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BDFE90C-9901-C1CC-0C53-C598624BDAE2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1DF15F1-AC69-8EAD-3650-C2D66147F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89" y="885617"/>
            <a:ext cx="2064265" cy="4050547"/>
          </a:xfrm>
          <a:prstGeom prst="rect">
            <a:avLst/>
          </a:prstGeom>
        </p:spPr>
      </p:pic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005806C3-C361-F8C9-E306-01D285FA9A0A}"/>
              </a:ext>
            </a:extLst>
          </p:cNvPr>
          <p:cNvSpPr/>
          <p:nvPr/>
        </p:nvSpPr>
        <p:spPr>
          <a:xfrm>
            <a:off x="1111250" y="1270000"/>
            <a:ext cx="235619" cy="381000"/>
          </a:xfrm>
          <a:custGeom>
            <a:avLst/>
            <a:gdLst>
              <a:gd name="connsiteX0" fmla="*/ 57150 w 235619"/>
              <a:gd name="connsiteY0" fmla="*/ 0 h 381000"/>
              <a:gd name="connsiteX1" fmla="*/ 234950 w 235619"/>
              <a:gd name="connsiteY1" fmla="*/ 120650 h 381000"/>
              <a:gd name="connsiteX2" fmla="*/ 0 w 235619"/>
              <a:gd name="connsiteY2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619" h="381000">
                <a:moveTo>
                  <a:pt x="57150" y="0"/>
                </a:moveTo>
                <a:cubicBezTo>
                  <a:pt x="150812" y="28575"/>
                  <a:pt x="244475" y="57150"/>
                  <a:pt x="234950" y="120650"/>
                </a:cubicBezTo>
                <a:cubicBezTo>
                  <a:pt x="225425" y="184150"/>
                  <a:pt x="10583" y="352425"/>
                  <a:pt x="0" y="381000"/>
                </a:cubicBezTo>
              </a:path>
            </a:pathLst>
          </a:custGeom>
          <a:noFill/>
          <a:ln>
            <a:solidFill>
              <a:srgbClr val="8DB6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9AFEF47F-8243-52F8-27A9-35FD434DBE6E}"/>
              </a:ext>
            </a:extLst>
          </p:cNvPr>
          <p:cNvSpPr/>
          <p:nvPr/>
        </p:nvSpPr>
        <p:spPr>
          <a:xfrm>
            <a:off x="1207702" y="1834368"/>
            <a:ext cx="235619" cy="381000"/>
          </a:xfrm>
          <a:custGeom>
            <a:avLst/>
            <a:gdLst>
              <a:gd name="connsiteX0" fmla="*/ 57150 w 235619"/>
              <a:gd name="connsiteY0" fmla="*/ 0 h 381000"/>
              <a:gd name="connsiteX1" fmla="*/ 234950 w 235619"/>
              <a:gd name="connsiteY1" fmla="*/ 120650 h 381000"/>
              <a:gd name="connsiteX2" fmla="*/ 0 w 235619"/>
              <a:gd name="connsiteY2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619" h="381000">
                <a:moveTo>
                  <a:pt x="57150" y="0"/>
                </a:moveTo>
                <a:cubicBezTo>
                  <a:pt x="150812" y="28575"/>
                  <a:pt x="244475" y="57150"/>
                  <a:pt x="234950" y="120650"/>
                </a:cubicBezTo>
                <a:cubicBezTo>
                  <a:pt x="225425" y="184150"/>
                  <a:pt x="10583" y="352425"/>
                  <a:pt x="0" y="381000"/>
                </a:cubicBezTo>
              </a:path>
            </a:pathLst>
          </a:custGeom>
          <a:noFill/>
          <a:ln>
            <a:solidFill>
              <a:srgbClr val="8DB6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52A7C-AE3A-C540-F65E-453C18D84FAF}"/>
              </a:ext>
            </a:extLst>
          </p:cNvPr>
          <p:cNvSpPr txBox="1"/>
          <p:nvPr/>
        </p:nvSpPr>
        <p:spPr>
          <a:xfrm>
            <a:off x="2597150" y="1526591"/>
            <a:ext cx="1714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48 byte</a:t>
            </a:r>
            <a:endParaRPr lang="ko-KR" altLang="en-US" sz="100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F9093BA-48E9-4FA5-69EC-3CEC5D19CE19}"/>
              </a:ext>
            </a:extLst>
          </p:cNvPr>
          <p:cNvCxnSpPr>
            <a:stCxn id="2" idx="1"/>
            <a:endCxn id="5" idx="1"/>
          </p:cNvCxnSpPr>
          <p:nvPr/>
        </p:nvCxnSpPr>
        <p:spPr>
          <a:xfrm>
            <a:off x="1346200" y="1390650"/>
            <a:ext cx="1250950" cy="259052"/>
          </a:xfrm>
          <a:prstGeom prst="straightConnector1">
            <a:avLst/>
          </a:prstGeom>
          <a:ln>
            <a:solidFill>
              <a:srgbClr val="8DB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80807A8-9F17-7BAC-7F12-8A793EBD0910}"/>
              </a:ext>
            </a:extLst>
          </p:cNvPr>
          <p:cNvCxnSpPr>
            <a:cxnSpLocks/>
            <a:stCxn id="4" idx="1"/>
          </p:cNvCxnSpPr>
          <p:nvPr/>
        </p:nvCxnSpPr>
        <p:spPr>
          <a:xfrm flipV="1">
            <a:off x="1442652" y="1680479"/>
            <a:ext cx="1154498" cy="274539"/>
          </a:xfrm>
          <a:prstGeom prst="straightConnector1">
            <a:avLst/>
          </a:prstGeom>
          <a:ln>
            <a:solidFill>
              <a:srgbClr val="8DB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4F0CE2A-F1AD-6C7A-B4FA-67848BAFA7CE}"/>
              </a:ext>
            </a:extLst>
          </p:cNvPr>
          <p:cNvCxnSpPr>
            <a:cxnSpLocks/>
          </p:cNvCxnSpPr>
          <p:nvPr/>
        </p:nvCxnSpPr>
        <p:spPr>
          <a:xfrm>
            <a:off x="1066800" y="3587750"/>
            <a:ext cx="1530350" cy="0"/>
          </a:xfrm>
          <a:prstGeom prst="straightConnector1">
            <a:avLst/>
          </a:prstGeom>
          <a:ln>
            <a:solidFill>
              <a:srgbClr val="8DB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F848B97-1C2D-9831-218A-952BB1E46ACB}"/>
              </a:ext>
            </a:extLst>
          </p:cNvPr>
          <p:cNvSpPr txBox="1"/>
          <p:nvPr/>
        </p:nvSpPr>
        <p:spPr>
          <a:xfrm>
            <a:off x="2548565" y="2993808"/>
            <a:ext cx="1714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secret </a:t>
            </a:r>
            <a:r>
              <a:rPr lang="ko-KR" altLang="en-US" sz="1000"/>
              <a:t>에 중요 정보 기입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F8CADD-891D-5BF2-C6ED-2807DF8912CD}"/>
              </a:ext>
            </a:extLst>
          </p:cNvPr>
          <p:cNvSpPr txBox="1"/>
          <p:nvPr/>
        </p:nvSpPr>
        <p:spPr>
          <a:xfrm>
            <a:off x="2548565" y="3464639"/>
            <a:ext cx="2353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secret</a:t>
            </a:r>
            <a:r>
              <a:rPr lang="ko-KR" altLang="en-US" sz="1000"/>
              <a:t>을 가리키고 있던 포인터 초기화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5B7D718-714C-02CD-9594-47953AF7EA16}"/>
              </a:ext>
            </a:extLst>
          </p:cNvPr>
          <p:cNvCxnSpPr>
            <a:cxnSpLocks/>
            <a:stCxn id="22" idx="1"/>
            <a:endCxn id="14" idx="1"/>
          </p:cNvCxnSpPr>
          <p:nvPr/>
        </p:nvCxnSpPr>
        <p:spPr>
          <a:xfrm flipV="1">
            <a:off x="2368550" y="3116919"/>
            <a:ext cx="180015" cy="83481"/>
          </a:xfrm>
          <a:prstGeom prst="straightConnector1">
            <a:avLst/>
          </a:prstGeom>
          <a:ln>
            <a:solidFill>
              <a:srgbClr val="8DB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4064423D-6F51-73D4-AACD-FAD77B28C6EB}"/>
              </a:ext>
            </a:extLst>
          </p:cNvPr>
          <p:cNvSpPr/>
          <p:nvPr/>
        </p:nvSpPr>
        <p:spPr>
          <a:xfrm>
            <a:off x="2266950" y="3124200"/>
            <a:ext cx="102352" cy="215900"/>
          </a:xfrm>
          <a:custGeom>
            <a:avLst/>
            <a:gdLst>
              <a:gd name="connsiteX0" fmla="*/ 38100 w 102352"/>
              <a:gd name="connsiteY0" fmla="*/ 0 h 215900"/>
              <a:gd name="connsiteX1" fmla="*/ 101600 w 102352"/>
              <a:gd name="connsiteY1" fmla="*/ 76200 h 215900"/>
              <a:gd name="connsiteX2" fmla="*/ 0 w 102352"/>
              <a:gd name="connsiteY2" fmla="*/ 21590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352" h="215900">
                <a:moveTo>
                  <a:pt x="38100" y="0"/>
                </a:moveTo>
                <a:cubicBezTo>
                  <a:pt x="73025" y="20108"/>
                  <a:pt x="107950" y="40217"/>
                  <a:pt x="101600" y="76200"/>
                </a:cubicBezTo>
                <a:cubicBezTo>
                  <a:pt x="95250" y="112183"/>
                  <a:pt x="1058" y="169333"/>
                  <a:pt x="0" y="215900"/>
                </a:cubicBezTo>
              </a:path>
            </a:pathLst>
          </a:custGeom>
          <a:noFill/>
          <a:ln>
            <a:solidFill>
              <a:srgbClr val="8DB6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9E4BB6D-8897-0F4E-A52E-B33053115B14}"/>
              </a:ext>
            </a:extLst>
          </p:cNvPr>
          <p:cNvSpPr/>
          <p:nvPr/>
        </p:nvSpPr>
        <p:spPr>
          <a:xfrm>
            <a:off x="452550" y="4413250"/>
            <a:ext cx="2022904" cy="419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16B1E65-860A-5976-152D-5EEA47A85545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933450" y="3384550"/>
            <a:ext cx="530552" cy="1028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81BDD75B-23A1-5EE8-9B5C-5D0BBF309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531" y="3833191"/>
            <a:ext cx="2657846" cy="1019317"/>
          </a:xfrm>
          <a:prstGeom prst="rect">
            <a:avLst/>
          </a:prstGeom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49F0C85-DD4D-2C0F-49CD-33519335633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475454" y="4310218"/>
            <a:ext cx="703077" cy="3129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17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A8EA2D1-BB35-B93C-AAFC-B244D5973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3FF776D-6032-BBE6-A62C-AFB1B7123472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847F753-26AA-C83A-ABCF-1A9BBEB92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" panose="00000500000000000000" pitchFamily="2" charset="0"/>
                <a:ea typeface="페이퍼로지 8 ExtraBold" pitchFamily="2" charset="-127"/>
              </a:rPr>
              <a:t>reuse</a:t>
            </a:r>
            <a:endParaRPr dirty="0">
              <a:latin typeface="Montserrat" panose="00000500000000000000" pitchFamily="2" charset="0"/>
              <a:ea typeface="페이퍼로지 8 Extra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F79A54C-2E3A-F1A7-20F5-44039903DFAD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5445E922-CD26-231E-C7EC-B9C486A7C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37" y="2724832"/>
            <a:ext cx="2257740" cy="57158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1A85CFF-889B-600C-AF9E-D0A7BDAEC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37" y="896327"/>
            <a:ext cx="7211431" cy="704948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97F330CE-7CA1-4123-371E-15360CB11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37" y="3488251"/>
            <a:ext cx="6725589" cy="10955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EBD534-7190-86E0-9679-CEF330F03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437" y="1694606"/>
            <a:ext cx="4201111" cy="89547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3B1A02-2F81-B70E-E456-B162894CFB90}"/>
              </a:ext>
            </a:extLst>
          </p:cNvPr>
          <p:cNvSpPr/>
          <p:nvPr/>
        </p:nvSpPr>
        <p:spPr>
          <a:xfrm>
            <a:off x="1123950" y="1143000"/>
            <a:ext cx="6623050" cy="2520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39EDD8-F6F9-1B34-4610-E44E16115BA2}"/>
              </a:ext>
            </a:extLst>
          </p:cNvPr>
          <p:cNvSpPr/>
          <p:nvPr/>
        </p:nvSpPr>
        <p:spPr>
          <a:xfrm>
            <a:off x="788437" y="1689582"/>
            <a:ext cx="2659613" cy="266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2D7CC2-4502-377F-7D5D-E645DA62DA17}"/>
              </a:ext>
            </a:extLst>
          </p:cNvPr>
          <p:cNvSpPr/>
          <p:nvPr/>
        </p:nvSpPr>
        <p:spPr>
          <a:xfrm>
            <a:off x="788438" y="2916672"/>
            <a:ext cx="2257740" cy="379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03793C51-D9FA-5735-678C-8B0649EDC88B}"/>
              </a:ext>
            </a:extLst>
          </p:cNvPr>
          <p:cNvSpPr/>
          <p:nvPr/>
        </p:nvSpPr>
        <p:spPr>
          <a:xfrm>
            <a:off x="1644650" y="2540000"/>
            <a:ext cx="3242717" cy="1459001"/>
          </a:xfrm>
          <a:custGeom>
            <a:avLst/>
            <a:gdLst>
              <a:gd name="connsiteX0" fmla="*/ 0 w 3242717"/>
              <a:gd name="connsiteY0" fmla="*/ 0 h 1459001"/>
              <a:gd name="connsiteX1" fmla="*/ 146050 w 3242717"/>
              <a:gd name="connsiteY1" fmla="*/ 95250 h 1459001"/>
              <a:gd name="connsiteX2" fmla="*/ 844550 w 3242717"/>
              <a:gd name="connsiteY2" fmla="*/ 120650 h 1459001"/>
              <a:gd name="connsiteX3" fmla="*/ 2266950 w 3242717"/>
              <a:gd name="connsiteY3" fmla="*/ 114300 h 1459001"/>
              <a:gd name="connsiteX4" fmla="*/ 3194050 w 3242717"/>
              <a:gd name="connsiteY4" fmla="*/ 1212850 h 1459001"/>
              <a:gd name="connsiteX5" fmla="*/ 3117850 w 3242717"/>
              <a:gd name="connsiteY5" fmla="*/ 1441450 h 145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2717" h="1459001">
                <a:moveTo>
                  <a:pt x="0" y="0"/>
                </a:moveTo>
                <a:cubicBezTo>
                  <a:pt x="2646" y="37571"/>
                  <a:pt x="5292" y="75142"/>
                  <a:pt x="146050" y="95250"/>
                </a:cubicBezTo>
                <a:cubicBezTo>
                  <a:pt x="286808" y="115358"/>
                  <a:pt x="844550" y="120650"/>
                  <a:pt x="844550" y="120650"/>
                </a:cubicBezTo>
                <a:cubicBezTo>
                  <a:pt x="1198033" y="123825"/>
                  <a:pt x="1875367" y="-67733"/>
                  <a:pt x="2266950" y="114300"/>
                </a:cubicBezTo>
                <a:cubicBezTo>
                  <a:pt x="2658533" y="296333"/>
                  <a:pt x="3052233" y="991658"/>
                  <a:pt x="3194050" y="1212850"/>
                </a:cubicBezTo>
                <a:cubicBezTo>
                  <a:pt x="3335867" y="1434042"/>
                  <a:pt x="3123142" y="1493308"/>
                  <a:pt x="3117850" y="14414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835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8905409-4CB7-0AC5-908E-4DAA57A8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B922B28-87DE-D038-6217-7DBFFBCF70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reuse</a:t>
            </a:r>
            <a:endParaRPr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67636F1-71C4-05DE-62DF-EF3E6125702F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그림 37">
            <a:extLst>
              <a:ext uri="{FF2B5EF4-FFF2-40B4-BE49-F238E27FC236}">
                <a16:creationId xmlns:a16="http://schemas.microsoft.com/office/drawing/2014/main" id="{AF9CFF36-1B2D-4778-6749-400F6101E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75" y="3802478"/>
            <a:ext cx="984325" cy="41833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1268ED6-6B60-0045-C95F-A6F167EBE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75" y="912360"/>
            <a:ext cx="4432784" cy="170491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C27A89-350E-DEE4-746B-F55A31597D24}"/>
              </a:ext>
            </a:extLst>
          </p:cNvPr>
          <p:cNvSpPr/>
          <p:nvPr/>
        </p:nvSpPr>
        <p:spPr>
          <a:xfrm>
            <a:off x="387275" y="2458978"/>
            <a:ext cx="4432784" cy="1582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B0DB154-C39B-1377-0746-72A38E80A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75" y="2785812"/>
            <a:ext cx="4277003" cy="84813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41A4F4A-93F0-177F-A629-3718192877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407" y="2785812"/>
            <a:ext cx="2792666" cy="68900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5D6EAFF-2B89-D499-2ABD-87C79AE590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1419" y="2042758"/>
            <a:ext cx="2953162" cy="495369"/>
          </a:xfrm>
          <a:prstGeom prst="rect">
            <a:avLst/>
          </a:prstGeom>
        </p:spPr>
      </p:pic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D67C5DF-1364-6FF2-F7B6-18A6D6152C6D}"/>
              </a:ext>
            </a:extLst>
          </p:cNvPr>
          <p:cNvCxnSpPr>
            <a:stCxn id="20" idx="3"/>
            <a:endCxn id="28" idx="1"/>
          </p:cNvCxnSpPr>
          <p:nvPr/>
        </p:nvCxnSpPr>
        <p:spPr>
          <a:xfrm flipV="1">
            <a:off x="4820059" y="2290443"/>
            <a:ext cx="561360" cy="2476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8DE5AE3-5EE0-CCFF-971D-5B7C25255EF5}"/>
              </a:ext>
            </a:extLst>
          </p:cNvPr>
          <p:cNvSpPr/>
          <p:nvPr/>
        </p:nvSpPr>
        <p:spPr>
          <a:xfrm>
            <a:off x="387275" y="3037040"/>
            <a:ext cx="4277003" cy="1582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4ECAFD0-6575-3335-6E5E-54B583573B3A}"/>
              </a:ext>
            </a:extLst>
          </p:cNvPr>
          <p:cNvSpPr/>
          <p:nvPr/>
        </p:nvSpPr>
        <p:spPr>
          <a:xfrm>
            <a:off x="387275" y="3208039"/>
            <a:ext cx="4277003" cy="155835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A39821-1BD8-498A-B0BD-FE733F77BE76}"/>
              </a:ext>
            </a:extLst>
          </p:cNvPr>
          <p:cNvSpPr/>
          <p:nvPr/>
        </p:nvSpPr>
        <p:spPr>
          <a:xfrm>
            <a:off x="5110407" y="3117850"/>
            <a:ext cx="2792666" cy="321629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041CB6C-7B6C-3205-0188-0B0AFFF03A3C}"/>
              </a:ext>
            </a:extLst>
          </p:cNvPr>
          <p:cNvSpPr/>
          <p:nvPr/>
        </p:nvSpPr>
        <p:spPr>
          <a:xfrm>
            <a:off x="5110408" y="2791015"/>
            <a:ext cx="2792666" cy="3216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DC7513A1-E984-ACDC-9EE2-55AB6009B107}"/>
              </a:ext>
            </a:extLst>
          </p:cNvPr>
          <p:cNvCxnSpPr>
            <a:cxnSpLocks/>
            <a:stCxn id="33" idx="3"/>
            <a:endCxn id="39" idx="1"/>
          </p:cNvCxnSpPr>
          <p:nvPr/>
        </p:nvCxnSpPr>
        <p:spPr>
          <a:xfrm flipV="1">
            <a:off x="4664278" y="2951830"/>
            <a:ext cx="446130" cy="164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DAC62FD-5FD3-DBAA-3DDE-0A045782291F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4664278" y="3278665"/>
            <a:ext cx="446129" cy="7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0322252B-43FE-73D8-64E1-C90794E705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0059" y="3769610"/>
            <a:ext cx="3610479" cy="371527"/>
          </a:xfrm>
          <a:prstGeom prst="rect">
            <a:avLst/>
          </a:prstGeom>
        </p:spPr>
      </p:pic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E769C9A-FBD7-3C80-FB08-C87CBCD4DD3E}"/>
              </a:ext>
            </a:extLst>
          </p:cNvPr>
          <p:cNvCxnSpPr>
            <a:cxnSpLocks/>
            <a:stCxn id="37" idx="2"/>
            <a:endCxn id="50" idx="0"/>
          </p:cNvCxnSpPr>
          <p:nvPr/>
        </p:nvCxnSpPr>
        <p:spPr>
          <a:xfrm>
            <a:off x="6506740" y="3439479"/>
            <a:ext cx="118559" cy="330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515B7949-49F0-B681-4929-6A5A75478F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5624" y="3825810"/>
            <a:ext cx="2896004" cy="590632"/>
          </a:xfrm>
          <a:prstGeom prst="rect">
            <a:avLst/>
          </a:prstGeom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3941B129-529B-6CF1-D88A-EF10B1A96AE6}"/>
              </a:ext>
            </a:extLst>
          </p:cNvPr>
          <p:cNvSpPr/>
          <p:nvPr/>
        </p:nvSpPr>
        <p:spPr>
          <a:xfrm>
            <a:off x="1475624" y="3822264"/>
            <a:ext cx="2594725" cy="171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3" grpId="0" animBg="1"/>
      <p:bldP spid="35" grpId="0" animBg="1"/>
      <p:bldP spid="37" grpId="0" animBg="1"/>
      <p:bldP spid="39" grpId="0" animBg="1"/>
      <p:bldP spid="5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0724830-0218-DFB3-AD22-24D539AF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22CA726-3B40-8FC0-9DA0-332B50031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" panose="00000500000000000000" pitchFamily="2" charset="0"/>
                <a:ea typeface="페이퍼로지 8 ExtraBold" pitchFamily="2" charset="-127"/>
              </a:rPr>
              <a:t>reuse</a:t>
            </a:r>
            <a:endParaRPr dirty="0">
              <a:latin typeface="Montserrat" panose="00000500000000000000" pitchFamily="2" charset="0"/>
              <a:ea typeface="페이퍼로지 8 Extra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0BB5CC5-0EB8-0E74-5D90-DBD57AF657FF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1E72CC79-C6F3-74B9-1915-F973D9112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758" y="3017209"/>
            <a:ext cx="4696480" cy="1771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A724FED-FA21-27B6-BF76-C94437C13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497" y="989372"/>
            <a:ext cx="4277003" cy="8481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D8E2E2-EBCF-3578-38AF-DF6E1C992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0873" y="2126291"/>
            <a:ext cx="2953162" cy="49536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7BA5966-07C4-6F64-3EBD-059CDFCF56C8}"/>
              </a:ext>
            </a:extLst>
          </p:cNvPr>
          <p:cNvSpPr/>
          <p:nvPr/>
        </p:nvSpPr>
        <p:spPr>
          <a:xfrm>
            <a:off x="3597310" y="1673051"/>
            <a:ext cx="1366576" cy="164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75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C27A406-AF92-02D3-C696-D28F97F0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B6467C3-1F7C-E3F4-0E55-067A94B155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Advanced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B778913-FBDD-A4E3-F0DB-68058911908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FE0998D-1453-CF98-AD75-D4575FF48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75" y="924818"/>
            <a:ext cx="856806" cy="3744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613DFBE-9724-543D-B7D5-9D02AEE13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102" y="924817"/>
            <a:ext cx="1933897" cy="2001544"/>
          </a:xfrm>
          <a:prstGeom prst="rect">
            <a:avLst/>
          </a:prstGeom>
          <a:ln w="38100" cap="sq">
            <a:solidFill>
              <a:srgbClr val="92D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B753A2B-A456-135E-A0A7-C6DA16F0D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8102" y="3165156"/>
            <a:ext cx="3072129" cy="1732501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111D127-7C47-79CD-61B1-173086BB35F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815678" y="924817"/>
            <a:ext cx="1822424" cy="1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A1EE728-4C00-4B53-3319-CEF1A081E854}"/>
              </a:ext>
            </a:extLst>
          </p:cNvPr>
          <p:cNvCxnSpPr>
            <a:cxnSpLocks/>
          </p:cNvCxnSpPr>
          <p:nvPr/>
        </p:nvCxnSpPr>
        <p:spPr>
          <a:xfrm>
            <a:off x="788839" y="1822450"/>
            <a:ext cx="1822424" cy="1103911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F26B0E8-0526-7637-C7EB-C8A2393C0D6C}"/>
              </a:ext>
            </a:extLst>
          </p:cNvPr>
          <p:cNvCxnSpPr>
            <a:cxnSpLocks/>
          </p:cNvCxnSpPr>
          <p:nvPr/>
        </p:nvCxnSpPr>
        <p:spPr>
          <a:xfrm>
            <a:off x="788839" y="1822451"/>
            <a:ext cx="1876102" cy="134270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330EB98-EBCD-A13F-3E30-E55C04A72F70}"/>
              </a:ext>
            </a:extLst>
          </p:cNvPr>
          <p:cNvCxnSpPr>
            <a:cxnSpLocks/>
          </p:cNvCxnSpPr>
          <p:nvPr/>
        </p:nvCxnSpPr>
        <p:spPr>
          <a:xfrm>
            <a:off x="815678" y="2247900"/>
            <a:ext cx="1822424" cy="264975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282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47D8344-7071-A0C2-DCAA-5BFBB43D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7F550EE-5452-1419-8A93-16F1AF150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Advanced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6EDF8F1-6805-4285-93F8-4BC6E23994B3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0D197F5-CEFC-02DF-C811-B3154008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75" y="924818"/>
            <a:ext cx="856806" cy="374468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60564BF-00DD-7742-EAB3-E63D4469D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642" y="841109"/>
            <a:ext cx="2003740" cy="1466873"/>
          </a:xfrm>
          <a:prstGeom prst="rect">
            <a:avLst/>
          </a:prstGeom>
          <a:ln w="38100" cap="sq">
            <a:solidFill>
              <a:srgbClr val="92D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8447792-2A1B-DD3E-3D86-A73A95256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9642" y="2620755"/>
            <a:ext cx="1426335" cy="2103645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6F61A46-520E-4F40-58EC-50BEB614EB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703" y="2568819"/>
            <a:ext cx="1178441" cy="2194847"/>
          </a:xfrm>
          <a:prstGeom prst="rect">
            <a:avLst/>
          </a:prstGeom>
          <a:ln w="38100" cap="sq">
            <a:solidFill>
              <a:srgbClr val="3366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959EC4E-FC43-F487-28DA-BC2B1D06109B}"/>
              </a:ext>
            </a:extLst>
          </p:cNvPr>
          <p:cNvCxnSpPr>
            <a:cxnSpLocks/>
          </p:cNvCxnSpPr>
          <p:nvPr/>
        </p:nvCxnSpPr>
        <p:spPr>
          <a:xfrm flipV="1">
            <a:off x="730250" y="841109"/>
            <a:ext cx="1299392" cy="1466873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F6C3223-B4FA-6270-D091-6E4C02E52B82}"/>
              </a:ext>
            </a:extLst>
          </p:cNvPr>
          <p:cNvCxnSpPr>
            <a:cxnSpLocks/>
          </p:cNvCxnSpPr>
          <p:nvPr/>
        </p:nvCxnSpPr>
        <p:spPr>
          <a:xfrm flipV="1">
            <a:off x="654050" y="2307982"/>
            <a:ext cx="1375592" cy="527537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AD12F1-6CA9-8798-BC68-0F6309B14DFB}"/>
              </a:ext>
            </a:extLst>
          </p:cNvPr>
          <p:cNvCxnSpPr>
            <a:cxnSpLocks/>
          </p:cNvCxnSpPr>
          <p:nvPr/>
        </p:nvCxnSpPr>
        <p:spPr>
          <a:xfrm flipV="1">
            <a:off x="730250" y="2620755"/>
            <a:ext cx="1299392" cy="30659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C737AA9-9F4E-B44A-C058-B6115BA0CB1A}"/>
              </a:ext>
            </a:extLst>
          </p:cNvPr>
          <p:cNvCxnSpPr>
            <a:cxnSpLocks/>
          </p:cNvCxnSpPr>
          <p:nvPr/>
        </p:nvCxnSpPr>
        <p:spPr>
          <a:xfrm>
            <a:off x="692150" y="3774855"/>
            <a:ext cx="1337492" cy="94954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628B4D7-8304-F855-E74A-AA2313441EBB}"/>
              </a:ext>
            </a:extLst>
          </p:cNvPr>
          <p:cNvSpPr/>
          <p:nvPr/>
        </p:nvSpPr>
        <p:spPr>
          <a:xfrm>
            <a:off x="387275" y="3892550"/>
            <a:ext cx="444575" cy="776953"/>
          </a:xfrm>
          <a:prstGeom prst="rect">
            <a:avLst/>
          </a:prstGeom>
          <a:noFill/>
          <a:ln>
            <a:solidFill>
              <a:srgbClr val="33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60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02C6DBF-F24F-6FFB-94DD-F6A54B03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Man GIFs - Hole dir die besten GIFs auf GIFER">
            <a:extLst>
              <a:ext uri="{FF2B5EF4-FFF2-40B4-BE49-F238E27FC236}">
                <a16:creationId xmlns:a16="http://schemas.microsoft.com/office/drawing/2014/main" id="{F182DDA1-9126-6189-27F2-42FB2EE69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818" y="1385944"/>
            <a:ext cx="616581" cy="61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AC944B8-EF22-32E0-1B73-F150F783C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158" y="1336184"/>
            <a:ext cx="575776" cy="72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EEA8324-6359-A817-87CF-A70C597701FD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altLang="ko-KR" sz="1800" b="1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Summary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ko-KR" altLang="en-US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같은 크기의 </a:t>
            </a: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Human , Robot </a:t>
            </a:r>
            <a:r>
              <a:rPr lang="ko-KR" altLang="en-US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구조체가 정의되어 있다</a:t>
            </a: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en-US" altLang="ko-KR" sz="1200" i="0" u="none" strike="noStrike" cap="none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(Use After Free)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endParaRPr lang="en-US" altLang="ko-KR" sz="1200" i="0" u="none" strike="noStrike" cap="none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ko-KR" altLang="en-US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사용자는 원하는 크기의 청크를 할당하고</a:t>
            </a: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해제할 수 있다</a:t>
            </a: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en-US" altLang="ko-KR" sz="1200" i="0" u="none" strike="noStrike" cap="none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(unsorted bin </a:t>
            </a:r>
            <a:r>
              <a:rPr lang="ko-KR" altLang="en-US" sz="1200" i="0" u="none" strike="noStrike" cap="none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응용</a:t>
            </a:r>
            <a:r>
              <a:rPr lang="en-US" altLang="ko-KR" sz="1200" i="0" u="none" strike="noStrike" cap="none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0" indent="-342900">
              <a:buSzPts val="1600"/>
              <a:buAutoNum type="arabicPeriod"/>
            </a:pP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human_func , robot_func </a:t>
            </a:r>
            <a:r>
              <a:rPr lang="ko-KR" altLang="en-US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할당한 메모리 영역을 초기화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❌ 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0" indent="-342900">
              <a:buSzPts val="1600"/>
              <a:buAutoNum type="arabicPeriod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robot_func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Robot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변수의  </a:t>
            </a:r>
            <a:r>
              <a:rPr lang="en-US" altLang="ko-KR" sz="1800">
                <a:solidFill>
                  <a:srgbClr val="0099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fptr  </a:t>
            </a:r>
            <a:r>
              <a:rPr lang="en-US" altLang="ko-KR" sz="1800">
                <a:solidFill>
                  <a:srgbClr val="009900"/>
                </a:solidFill>
                <a:latin typeface="페이퍼로지 4 Regular" charset="-127"/>
                <a:ea typeface="페이퍼로지 4 Regular" charset="-127"/>
                <a:cs typeface="Cascadia Mono NF SemiLight" pitchFamily="50" charset="0"/>
                <a:sym typeface="Montserrat SemiBold"/>
              </a:rPr>
              <a:t>!= </a:t>
            </a:r>
            <a:r>
              <a:rPr lang="en-US" altLang="ko-KR" sz="1800">
                <a:solidFill>
                  <a:srgbClr val="0099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NULL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이면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fptr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custom_func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함수는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0x100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이상 청크를 할당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 가능 ➕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초기화 ❌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7CFE46A-206C-7138-5002-8B48BD70A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Advanced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791E951-9010-05B6-8E7E-38B5BA83B18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18" descr="Robot Dance PNG Transparent Images Free Download | Vector Files | Pngtree">
            <a:extLst>
              <a:ext uri="{FF2B5EF4-FFF2-40B4-BE49-F238E27FC236}">
                <a16:creationId xmlns:a16="http://schemas.microsoft.com/office/drawing/2014/main" id="{7B601D77-E9FF-41CF-2415-FD8D64A198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489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821F5DE-940A-E9F2-EED9-21C1C2C38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B4859CE-8611-A4B2-CAFF-0C28B16DE16E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b="1">
                <a:solidFill>
                  <a:srgbClr val="33CC33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Libc</a:t>
            </a:r>
            <a:r>
              <a:rPr lang="ko-KR" altLang="en-US" sz="1800" b="1">
                <a:solidFill>
                  <a:srgbClr val="33CC33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</a:t>
            </a:r>
            <a:r>
              <a:rPr lang="en-US" altLang="ko-KR" sz="1800" b="1">
                <a:solidFill>
                  <a:srgbClr val="33CC33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leak  </a:t>
            </a:r>
            <a:r>
              <a:rPr lang="en-US" altLang="ko-KR" sz="1800" b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for  using  one gadget</a:t>
            </a:r>
            <a:endParaRPr lang="en-US" altLang="ko-KR" sz="1800" b="1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Robot.fptr </a:t>
            </a:r>
            <a:r>
              <a:rPr lang="ko-KR" altLang="en-US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</a:t>
            </a:r>
            <a:r>
              <a:rPr lang="ko-KR" altLang="en-US" sz="1800">
                <a:solidFill>
                  <a:srgbClr val="33CC33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원 가젯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주소로 덮어 씌우기 위해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libc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매핑된 시작 주소가 필요하다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unsorted bin</a:t>
            </a: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응용 </a:t>
            </a:r>
            <a:r>
              <a:rPr lang="en-US" altLang="ko-KR" sz="1200" i="0" u="none" strike="noStrike" cap="none">
                <a:solidFill>
                  <a:srgbClr val="3366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(0x410 </a:t>
            </a:r>
            <a:r>
              <a:rPr lang="ko-KR" altLang="en-US" sz="1200">
                <a:solidFill>
                  <a:srgbClr val="3366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초과 사이즈 부터</a:t>
            </a:r>
            <a:r>
              <a:rPr lang="en-US" altLang="ko-KR" sz="1200">
                <a:solidFill>
                  <a:srgbClr val="3366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800" i="0" u="none" strike="noStrike" cap="none">
                <a:solidFill>
                  <a:srgbClr val="3366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unsorted bin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처음 연결되는 청크는 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libc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영역의 특정 주소와 이중 원형 연결리스트를 형성한다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           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Where?  </a:t>
            </a:r>
            <a:r>
              <a:rPr lang="en-US" altLang="ko-KR" sz="900">
                <a:solidFill>
                  <a:srgbClr val="0070C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Arena..</a:t>
            </a:r>
            <a:endParaRPr lang="en-US" altLang="ko-KR" sz="900" i="0" u="none" strike="noStrike" cap="none">
              <a:solidFill>
                <a:srgbClr val="0070C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53E7BEF-81E6-01A9-69E5-3F2D760AF5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Advanced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5DC3EA-EAA9-C0CC-9942-6F8FA2D13EEE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F9C0D46-F9FB-DD6D-AA35-1492B3046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07505"/>
              </p:ext>
            </p:extLst>
          </p:nvPr>
        </p:nvGraphicFramePr>
        <p:xfrm>
          <a:off x="807971" y="3387851"/>
          <a:ext cx="2093373" cy="73152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047815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420718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1744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solidFill>
                            <a:schemeClr val="bg1"/>
                          </a:solidFill>
                        </a:rPr>
                        <a:t>fd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chemeClr val="bg1"/>
                          </a:solidFill>
                        </a:rPr>
                        <a:t>bk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163974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sz="60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60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  <a:p>
                      <a:pPr algn="ctr" latinLnBrk="1"/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7908FCCD-8EBB-3476-FA42-7EAB43DA2DB6}"/>
              </a:ext>
            </a:extLst>
          </p:cNvPr>
          <p:cNvSpPr/>
          <p:nvPr/>
        </p:nvSpPr>
        <p:spPr>
          <a:xfrm>
            <a:off x="1520175" y="4261149"/>
            <a:ext cx="668964" cy="122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Freed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FFEA66-59E0-3CB7-62CE-B53C20F3C82F}"/>
              </a:ext>
            </a:extLst>
          </p:cNvPr>
          <p:cNvSpPr txBox="1"/>
          <p:nvPr/>
        </p:nvSpPr>
        <p:spPr>
          <a:xfrm>
            <a:off x="2144693" y="3018520"/>
            <a:ext cx="895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/>
              <a:t>A: Allocated Arena</a:t>
            </a:r>
          </a:p>
          <a:p>
            <a:r>
              <a:rPr lang="en-US" altLang="ko-KR" sz="600" dirty="0"/>
              <a:t>M: </a:t>
            </a:r>
            <a:r>
              <a:rPr lang="en-US" altLang="ko-KR" sz="600" dirty="0" err="1"/>
              <a:t>Mmap’d</a:t>
            </a:r>
            <a:endParaRPr lang="en-US" altLang="ko-KR" sz="600" dirty="0"/>
          </a:p>
          <a:p>
            <a:r>
              <a:rPr lang="en-US" altLang="ko-KR" sz="600" dirty="0"/>
              <a:t>P: Prev in use</a:t>
            </a:r>
            <a:endParaRPr lang="ko-KR" altLang="en-US" sz="6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3805C32-49DA-4423-A819-5C1B0A8B3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550963"/>
              </p:ext>
            </p:extLst>
          </p:nvPr>
        </p:nvGraphicFramePr>
        <p:xfrm>
          <a:off x="3546800" y="3384802"/>
          <a:ext cx="2093373" cy="73152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047815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420718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1744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>
                          <a:solidFill>
                            <a:schemeClr val="bg1"/>
                          </a:solidFill>
                        </a:rPr>
                        <a:t>0x7fff2b20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600">
                          <a:solidFill>
                            <a:schemeClr val="bg1"/>
                          </a:solidFill>
                        </a:rPr>
                        <a:t>0x7fff2b20</a:t>
                      </a:r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163974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sz="60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60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  <a:p>
                      <a:pPr algn="ctr" latinLnBrk="1"/>
                      <a:endParaRPr lang="ko-KR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AD1AE9D4-E2DB-6AA5-C8E9-F79E9F8E7DAF}"/>
              </a:ext>
            </a:extLst>
          </p:cNvPr>
          <p:cNvSpPr/>
          <p:nvPr/>
        </p:nvSpPr>
        <p:spPr>
          <a:xfrm>
            <a:off x="4237518" y="4257772"/>
            <a:ext cx="668964" cy="122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Freed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358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50E6EB2-0009-41A4-FBB0-5E57CEA92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327B198-B970-E8E7-DA5A-95EAF0BFCDB7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즉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unsorted bin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분류된 청크의 </a:t>
            </a:r>
            <a:r>
              <a:rPr lang="en-US" altLang="ko-KR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fd, bk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값 중 하나를 읽으면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libc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특정 주소를 알 수 있다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endParaRPr lang="en-US" altLang="ko-KR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0">
              <a:buSzPts val="1600"/>
            </a:pP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**Top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chunk**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프로세스에게 할당해준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heap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일반적으로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size: 0x21000.. </a:t>
            </a: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C163B64-C474-FD44-E3E4-67CB70274F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Advanced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A766A33-AFF6-AA9E-3F35-4B0BCD7D4CE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301AAE6-C155-C563-E1C1-F2917DA9E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111674"/>
              </p:ext>
            </p:extLst>
          </p:nvPr>
        </p:nvGraphicFramePr>
        <p:xfrm>
          <a:off x="2372050" y="1210524"/>
          <a:ext cx="2612698" cy="103632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307758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525090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59950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59950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59950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2314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2314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rgbClr val="009900"/>
                          </a:solidFill>
                        </a:rPr>
                        <a:t>fd:</a:t>
                      </a:r>
                      <a:r>
                        <a:rPr lang="ko-KR" altLang="en-US" sz="1000">
                          <a:solidFill>
                            <a:srgbClr val="009900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rgbClr val="009900"/>
                          </a:solidFill>
                        </a:rPr>
                        <a:t>0x7fff2b20</a:t>
                      </a:r>
                      <a:endParaRPr lang="ko-KR" altLang="en-US" sz="1000" dirty="0"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rgbClr val="009900"/>
                          </a:solidFill>
                        </a:rPr>
                        <a:t>bk: 0x7fff2b20</a:t>
                      </a:r>
                      <a:endParaRPr lang="ko-KR" altLang="en-US" sz="1000" dirty="0"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540160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sz="100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B192C90D-8453-5BF0-A8FD-E230B6F21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83" y="2571750"/>
            <a:ext cx="1426335" cy="2103645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8AA284-72DB-C82F-85D2-E49CC58A55ED}"/>
              </a:ext>
            </a:extLst>
          </p:cNvPr>
          <p:cNvSpPr txBox="1"/>
          <p:nvPr/>
        </p:nvSpPr>
        <p:spPr>
          <a:xfrm>
            <a:off x="2038350" y="2571750"/>
            <a:ext cx="6477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0x100 </a:t>
            </a:r>
            <a:r>
              <a:rPr lang="ko-KR" altLang="en-US"/>
              <a:t>이상의 크기를 갖는 청크를 할당하고</a:t>
            </a:r>
            <a:r>
              <a:rPr lang="en-US" altLang="ko-KR"/>
              <a:t>, </a:t>
            </a:r>
            <a:r>
              <a:rPr lang="ko-KR" altLang="en-US"/>
              <a:t>할당된 청크 중 원하는 청크를 해제할 수 있다</a:t>
            </a:r>
            <a:r>
              <a:rPr lang="en-US" altLang="ko-KR"/>
              <a:t>. </a:t>
            </a:r>
            <a:r>
              <a:rPr lang="en-US" altLang="ko-KR" sz="1200"/>
              <a:t>(</a:t>
            </a:r>
            <a:r>
              <a:rPr lang="ko-KR" altLang="en-US" sz="1200"/>
              <a:t>초기화 ❌</a:t>
            </a:r>
            <a:r>
              <a:rPr lang="en-US" altLang="ko-KR" sz="12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F0000"/>
                </a:solidFill>
              </a:rPr>
              <a:t>unsorted bin</a:t>
            </a:r>
            <a:br>
              <a:rPr lang="en-US" altLang="ko-KR"/>
            </a:br>
            <a:r>
              <a:rPr lang="en-US" altLang="ko-KR"/>
              <a:t>&gt; 0x410 </a:t>
            </a:r>
            <a:r>
              <a:rPr lang="ko-KR" altLang="en-US"/>
              <a:t>보다 큰 청크를 생성하고 해제하면 </a:t>
            </a:r>
            <a:r>
              <a:rPr lang="en-US" altLang="ko-KR">
                <a:solidFill>
                  <a:srgbClr val="009900"/>
                </a:solidFill>
              </a:rPr>
              <a:t>fd, bk</a:t>
            </a:r>
            <a:r>
              <a:rPr lang="ko-KR" altLang="en-US"/>
              <a:t>에 </a:t>
            </a:r>
            <a:r>
              <a:rPr lang="en-US" altLang="ko-KR"/>
              <a:t>libc</a:t>
            </a:r>
            <a:r>
              <a:rPr lang="ko-KR" altLang="en-US"/>
              <a:t>의 특정 주소가 저장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해제된 청크를 다시 재사용한다면 </a:t>
            </a:r>
            <a:r>
              <a:rPr lang="en-US" altLang="ko-KR">
                <a:solidFill>
                  <a:srgbClr val="009900"/>
                </a:solidFill>
              </a:rPr>
              <a:t>fd, bk </a:t>
            </a:r>
            <a:r>
              <a:rPr lang="ko-KR" altLang="en-US"/>
              <a:t>중 하나를 읽을 수 있을 것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⚠️ 해제할 청크가 </a:t>
            </a:r>
            <a:r>
              <a:rPr lang="en-US" altLang="ko-KR"/>
              <a:t>**Top chunk**</a:t>
            </a:r>
            <a:r>
              <a:rPr lang="ko-KR" altLang="en-US"/>
              <a:t>와 맞닿으면 안 된다</a:t>
            </a:r>
            <a:r>
              <a:rPr lang="en-US" altLang="ko-KR"/>
              <a:t>. </a:t>
            </a:r>
            <a:r>
              <a:rPr lang="en-US" altLang="ko-KR" sz="1200"/>
              <a:t>(</a:t>
            </a:r>
            <a:r>
              <a:rPr lang="ko-KR" altLang="en-US" sz="1200"/>
              <a:t>병합</a:t>
            </a:r>
            <a:r>
              <a:rPr lang="en-US" altLang="ko-KR" sz="1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19780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8479E48-37D8-BDEE-0DE9-85E3633A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4A62376-7554-D02B-25CD-272A2DFCC280}"/>
              </a:ext>
            </a:extLst>
          </p:cNvPr>
          <p:cNvSpPr txBox="1"/>
          <p:nvPr/>
        </p:nvSpPr>
        <p:spPr>
          <a:xfrm flipH="1">
            <a:off x="-190180" y="2922899"/>
            <a:ext cx="677419" cy="31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C2F2FE7-8B4F-5C52-2158-04D7C6F15A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Example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595FAAC-3349-AB71-4326-BABBDF216C4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EF221D62-3667-7098-8E7C-362860877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932" y="1902735"/>
            <a:ext cx="2461524" cy="177657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CA73977-9DC1-0BEB-1568-0766FE184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21" y="1201833"/>
            <a:ext cx="1087341" cy="317838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4080BB4-D4BB-FA14-F134-442A59DDD273}"/>
              </a:ext>
            </a:extLst>
          </p:cNvPr>
          <p:cNvSpPr/>
          <p:nvPr/>
        </p:nvSpPr>
        <p:spPr>
          <a:xfrm>
            <a:off x="488821" y="2000250"/>
            <a:ext cx="1087341" cy="6477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2471AD-2066-BDA6-1C01-AB5237AAA0CA}"/>
              </a:ext>
            </a:extLst>
          </p:cNvPr>
          <p:cNvSpPr/>
          <p:nvPr/>
        </p:nvSpPr>
        <p:spPr>
          <a:xfrm>
            <a:off x="488821" y="3190232"/>
            <a:ext cx="1087341" cy="6477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✔️ Check Mark on Skype Emoticons 1.2">
            <a:extLst>
              <a:ext uri="{FF2B5EF4-FFF2-40B4-BE49-F238E27FC236}">
                <a16:creationId xmlns:a16="http://schemas.microsoft.com/office/drawing/2014/main" id="{725C724C-CE18-3A65-EFA2-943A1C85B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859" y="2432844"/>
            <a:ext cx="176212" cy="17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✔️ Check Mark on Skype Emoticons 1.2">
            <a:extLst>
              <a:ext uri="{FF2B5EF4-FFF2-40B4-BE49-F238E27FC236}">
                <a16:creationId xmlns:a16="http://schemas.microsoft.com/office/drawing/2014/main" id="{981E81D7-21F4-A5E9-EA93-70B3EB01E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859" y="3619500"/>
            <a:ext cx="176212" cy="17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29383D-1B5C-A4EF-D693-03C30B1A83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3736" y="1201833"/>
            <a:ext cx="1087341" cy="194425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AE3AAF-72DC-5D4B-9B93-CBD9329EE456}"/>
              </a:ext>
            </a:extLst>
          </p:cNvPr>
          <p:cNvSpPr/>
          <p:nvPr/>
        </p:nvSpPr>
        <p:spPr>
          <a:xfrm>
            <a:off x="5403736" y="1902734"/>
            <a:ext cx="1087341" cy="66901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FFACC05-3797-D7C0-484E-51B8097648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8068" y="1620176"/>
            <a:ext cx="1889375" cy="1107564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8DBF06F-1CCE-721E-D057-0F8ECF31CA7E}"/>
              </a:ext>
            </a:extLst>
          </p:cNvPr>
          <p:cNvCxnSpPr>
            <a:endCxn id="4" idx="1"/>
          </p:cNvCxnSpPr>
          <p:nvPr/>
        </p:nvCxnSpPr>
        <p:spPr>
          <a:xfrm flipV="1">
            <a:off x="1168400" y="2791024"/>
            <a:ext cx="937532" cy="448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554CB33-28B5-CF9D-C3AD-F81E05FB3192}"/>
              </a:ext>
            </a:extLst>
          </p:cNvPr>
          <p:cNvCxnSpPr>
            <a:cxnSpLocks/>
          </p:cNvCxnSpPr>
          <p:nvPr/>
        </p:nvCxnSpPr>
        <p:spPr>
          <a:xfrm flipV="1">
            <a:off x="1168400" y="1971569"/>
            <a:ext cx="937532" cy="87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607B600-459F-3C58-B12A-5F13176EB55B}"/>
              </a:ext>
            </a:extLst>
          </p:cNvPr>
          <p:cNvCxnSpPr>
            <a:cxnSpLocks/>
          </p:cNvCxnSpPr>
          <p:nvPr/>
        </p:nvCxnSpPr>
        <p:spPr>
          <a:xfrm>
            <a:off x="3314700" y="2387600"/>
            <a:ext cx="819150" cy="1771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6589E3AD-D648-8729-6124-846BC02FDD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9655" y="4159250"/>
            <a:ext cx="3868095" cy="11010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CC5FD47-2D11-7FF9-EBAE-84248D26E0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9655" y="4448506"/>
            <a:ext cx="3868095" cy="19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37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5A5F8E38-312F-73DA-1AFB-B244AB201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CEA5093-E876-155E-ABB8-EEE37120C932}"/>
              </a:ext>
            </a:extLst>
          </p:cNvPr>
          <p:cNvSpPr txBox="1"/>
          <p:nvPr/>
        </p:nvSpPr>
        <p:spPr>
          <a:xfrm flipH="1">
            <a:off x="1244283" y="683704"/>
            <a:ext cx="7383350" cy="354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이제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offset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아니까 </a:t>
            </a:r>
            <a:r>
              <a:rPr lang="en-US" altLang="ko-KR">
                <a:solidFill>
                  <a:srgbClr val="33CC33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libc base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알 수 있다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rgbClr val="33CC33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libc base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+ </a:t>
            </a: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one_gadget offset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가능해졌다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endParaRPr lang="en-US" altLang="ko-KR" sz="1800" i="0" u="none" strike="noStrike" cap="none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7F4D351-7E29-3170-7D32-8036A245AF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Example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39336F5-6835-B9C6-D644-145DDFFFA7F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8914F6A-0D03-4716-2323-8FB778395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76" y="966286"/>
            <a:ext cx="5015474" cy="245728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548262E-0E9C-3F1F-9DD9-D70618DF06F4}"/>
              </a:ext>
            </a:extLst>
          </p:cNvPr>
          <p:cNvSpPr/>
          <p:nvPr/>
        </p:nvSpPr>
        <p:spPr>
          <a:xfrm>
            <a:off x="1860550" y="3314700"/>
            <a:ext cx="482600" cy="108871"/>
          </a:xfrm>
          <a:prstGeom prst="rect">
            <a:avLst/>
          </a:prstGeom>
          <a:noFill/>
          <a:ln>
            <a:solidFill>
              <a:srgbClr val="00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D51BA-750A-52F6-1240-29FFCDA82E61}"/>
              </a:ext>
            </a:extLst>
          </p:cNvPr>
          <p:cNvSpPr txBox="1"/>
          <p:nvPr/>
        </p:nvSpPr>
        <p:spPr>
          <a:xfrm>
            <a:off x="2343150" y="3261413"/>
            <a:ext cx="8572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/>
              <a:t>offset</a:t>
            </a:r>
            <a:endParaRPr lang="ko-KR" altLang="en-US" sz="8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9107B45-5807-EF14-7444-D2BB15B2E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89" y="676010"/>
            <a:ext cx="8040222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4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4CFA377-286C-01FB-A035-E52EEC2C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E803B26-FCAB-79BC-936C-6DD5877223C5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5EB9625-363C-FC58-EE0E-76FD8DCD2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Example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FD624A0-58A4-A307-2BCE-FE2F70D1951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486C365-E4DB-4D10-C3EB-4BA3FCEF3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76" y="966286"/>
            <a:ext cx="5015474" cy="245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64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26D9CB9-0C09-CDDD-5DBB-6418AD00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CA66B0F4-4CC4-53EE-F3E5-BAF0D30948A9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83644C1-1237-873B-3A2C-025A3B0EE1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Example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BDFE5AC-2934-FE16-608A-6BA590EEF1B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57AE509-BF7A-1376-25D3-A71819A09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76" y="966286"/>
            <a:ext cx="5015474" cy="245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85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4598304-E5E6-AF96-151F-A2077A5F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144F0E3-7EB9-B5C7-A440-DFC2E89F72AA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C5C704E-1F2C-2519-EE46-E6E8772CF3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Example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A40AB4-479B-7DA7-6FAC-948A7506DF6B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FFCB699-946D-B8F2-EA4F-091624817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76" y="966286"/>
            <a:ext cx="5015474" cy="245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66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D7FA403-E2EE-3631-28F7-8CEB82E9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742868C5-2A4F-5D72-812B-DBC85476175C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63E3F48-3D73-7862-3799-0556FF1A68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54265"/>
                </a:solidFill>
              </a:rPr>
              <a:t>bin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82CEAFF-2830-541D-2B0F-0BF09BD380E1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2F4E3F03-4A56-1EC8-BEA7-F7AC7C79C1A2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unsorted bin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분류되지 않은 </a:t>
            </a:r>
            <a:r>
              <a:rPr lang="ko-KR" altLang="en-US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청크를</a:t>
            </a: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보관하는 </a:t>
            </a: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 bin</a:t>
            </a:r>
            <a:r>
              <a:rPr lang="ko-KR" altLang="en-US" b="1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들어가지 </a:t>
            </a:r>
            <a:r>
              <a:rPr lang="ko-KR" altLang="en-US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않는 모든 </a:t>
            </a:r>
            <a:r>
              <a:rPr lang="ko-KR" altLang="en-US" b="1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청크는</a:t>
            </a:r>
            <a:b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크기를 구분하지 않고</a:t>
            </a: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en-US" altLang="ko-KR" b="1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unsortedbin</a:t>
            </a: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보관</a:t>
            </a:r>
            <a:endParaRPr lang="en-US" altLang="ko-KR" b="1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원형 이중 연결 리스트</a:t>
            </a:r>
            <a:endParaRPr lang="en-US" altLang="ko-KR" dirty="0">
              <a:solidFill>
                <a:srgbClr val="F54265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 정렬 </a:t>
            </a: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❌</a:t>
            </a:r>
            <a:endParaRPr lang="en-US" altLang="ko-KR" dirty="0">
              <a:solidFill>
                <a:srgbClr val="F54265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F54265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 bin 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크기에 해당하는 </a:t>
            </a:r>
            <a:r>
              <a:rPr lang="ko-KR" altLang="en-US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청크를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요청하면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</a:t>
            </a:r>
            <a:b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fastbin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or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smallbin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탐색한 뒤</a:t>
            </a:r>
            <a:b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unsorted bin 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탐색</a:t>
            </a: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적절한 </a:t>
            </a:r>
            <a:r>
              <a:rPr lang="ko-KR" altLang="en-US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발견 시 재사용</a:t>
            </a: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과정에서 탐색된 </a:t>
            </a:r>
            <a:r>
              <a:rPr lang="ko-KR" altLang="en-US" dirty="0" err="1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청크들이</a:t>
            </a: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크기에 따라</a:t>
            </a:r>
            <a:br>
              <a:rPr lang="en-US" altLang="ko-KR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적절한 </a:t>
            </a:r>
            <a:r>
              <a:rPr lang="en-US" altLang="ko-KR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</a:t>
            </a: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으로 분류된다</a:t>
            </a:r>
            <a:r>
              <a:rPr lang="en-US" altLang="ko-KR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F54265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30FEAA0-A061-D577-84F2-2B2EDCD07C9A}"/>
              </a:ext>
            </a:extLst>
          </p:cNvPr>
          <p:cNvGraphicFramePr>
            <a:graphicFrameLocks noGrp="1"/>
          </p:cNvGraphicFramePr>
          <p:nvPr/>
        </p:nvGraphicFramePr>
        <p:xfrm>
          <a:off x="4700016" y="966286"/>
          <a:ext cx="2167128" cy="3856061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2167128">
                  <a:extLst>
                    <a:ext uri="{9D8B030D-6E8A-4147-A177-3AD203B41FA5}">
                      <a16:colId xmlns:a16="http://schemas.microsoft.com/office/drawing/2014/main" val="1274221565"/>
                    </a:ext>
                  </a:extLst>
                </a:gridCol>
              </a:tblGrid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0</a:t>
                      </a: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54777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7971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2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415648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26778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45813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80651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64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2515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65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0776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69102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126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3814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127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22987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84128E0-6E77-BAD7-7347-913FB5F8E777}"/>
              </a:ext>
            </a:extLst>
          </p:cNvPr>
          <p:cNvSpPr txBox="1"/>
          <p:nvPr/>
        </p:nvSpPr>
        <p:spPr>
          <a:xfrm>
            <a:off x="6867144" y="966286"/>
            <a:ext cx="1106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116C0D-CB1E-D52F-7E56-ED8A348B2019}"/>
              </a:ext>
            </a:extLst>
          </p:cNvPr>
          <p:cNvSpPr txBox="1"/>
          <p:nvPr/>
        </p:nvSpPr>
        <p:spPr>
          <a:xfrm>
            <a:off x="6867144" y="1323174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unsorted bin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FE99C6-9B9C-5AB9-2CCA-4A38506882C9}"/>
              </a:ext>
            </a:extLst>
          </p:cNvPr>
          <p:cNvSpPr txBox="1"/>
          <p:nvPr/>
        </p:nvSpPr>
        <p:spPr>
          <a:xfrm>
            <a:off x="6873240" y="1685886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E16229-39CB-19E0-F554-51814A72923D}"/>
              </a:ext>
            </a:extLst>
          </p:cNvPr>
          <p:cNvSpPr txBox="1"/>
          <p:nvPr/>
        </p:nvSpPr>
        <p:spPr>
          <a:xfrm>
            <a:off x="6867144" y="27404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bin[61]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42B6F8-20C4-7386-EC95-029024ADE0BD}"/>
              </a:ext>
            </a:extLst>
          </p:cNvPr>
          <p:cNvSpPr txBox="1"/>
          <p:nvPr/>
        </p:nvSpPr>
        <p:spPr>
          <a:xfrm>
            <a:off x="6867144" y="30790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E4C22-7342-7711-A5D3-623C5741D937}"/>
              </a:ext>
            </a:extLst>
          </p:cNvPr>
          <p:cNvSpPr txBox="1"/>
          <p:nvPr/>
        </p:nvSpPr>
        <p:spPr>
          <a:xfrm>
            <a:off x="6867144" y="4139392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bin[62]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41B100-2CF4-F529-9490-13C399DA7F8A}"/>
              </a:ext>
            </a:extLst>
          </p:cNvPr>
          <p:cNvSpPr txBox="1"/>
          <p:nvPr/>
        </p:nvSpPr>
        <p:spPr>
          <a:xfrm>
            <a:off x="6867144" y="4474238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B49CD7D5-F59B-7E33-6938-9945082DFC78}"/>
              </a:ext>
            </a:extLst>
          </p:cNvPr>
          <p:cNvSpPr/>
          <p:nvPr/>
        </p:nvSpPr>
        <p:spPr>
          <a:xfrm>
            <a:off x="4567231" y="1671638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029C14BB-E64A-D99E-9D0B-95E2D5586674}"/>
              </a:ext>
            </a:extLst>
          </p:cNvPr>
          <p:cNvSpPr/>
          <p:nvPr/>
        </p:nvSpPr>
        <p:spPr>
          <a:xfrm>
            <a:off x="4567237" y="3071813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8F7E49-9192-434B-05D2-E620B3EF3636}"/>
              </a:ext>
            </a:extLst>
          </p:cNvPr>
          <p:cNvSpPr txBox="1"/>
          <p:nvPr/>
        </p:nvSpPr>
        <p:spPr>
          <a:xfrm>
            <a:off x="3867912" y="216346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bins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83BF0D-0161-20A0-6A59-9DD76CDFBDCB}"/>
              </a:ext>
            </a:extLst>
          </p:cNvPr>
          <p:cNvSpPr txBox="1"/>
          <p:nvPr/>
        </p:nvSpPr>
        <p:spPr>
          <a:xfrm>
            <a:off x="3867912" y="366841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bins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1218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A9BF075-2420-A6B4-8448-B45AC22F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40D590A-07BB-5348-FEA8-2CA18D88DDC4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4757ED4-8328-DD99-1E32-EA879D480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</a:rPr>
              <a:t>arena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3333804-4285-0055-1B01-B249C37E7EE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8C162A39-397E-9B69-335F-968C4F5391D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arena</a:t>
            </a:r>
            <a:r>
              <a:rPr lang="ko-KR" altLang="en-US" b="1" dirty="0"/>
              <a:t> 🪙</a:t>
            </a:r>
            <a:endParaRPr lang="en-US" altLang="ko-KR" b="1" dirty="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fast bin, small bin, large bin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의 정보를 모두 담고 있는 객체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b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여러 스레드가 동시에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malloc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을 호출할 때 서로 방해하지 않고 병렬적으로 작업할 수 있도록 만드는 공간</a:t>
            </a: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멀티 쓰레드 환경에서 </a:t>
            </a:r>
            <a:r>
              <a:rPr lang="en-US" altLang="ko-KR" dirty="0" err="1">
                <a:latin typeface="페이퍼로지 4 Regular" pitchFamily="2" charset="-127"/>
                <a:ea typeface="페이퍼로지 4 Regular" pitchFamily="2" charset="-127"/>
              </a:rPr>
              <a:t>ptmalloc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은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**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레이스 컨디션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**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을 막기 위해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arena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에 접근할 때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arena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에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락을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적용한다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b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그런데 이 방식은 레이스 컨디션은 막을 수 있지만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병목 현상을 일으킬 수 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페이퍼로지 4 Regular" pitchFamily="2" charset="-127"/>
                <a:ea typeface="페이퍼로지 4 Regular" pitchFamily="2" charset="-127"/>
              </a:rPr>
              <a:t>ptmalloc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은 이를 최대한 피하기 위해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64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개의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arena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를 생성할 수 있게 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arena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에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락이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걸려서 대기해야 하는 경우에 새로운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arena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를 생성해 병목을 피할 수 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다만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과도한 멀티 쓰레드 환경에서는 결국 병목 현상이 발생할 수 밖에 없기에 </a:t>
            </a:r>
            <a:r>
              <a:rPr lang="en-US" altLang="ko-KR" b="1" dirty="0" err="1">
                <a:latin typeface="페이퍼로지 4 Regular" pitchFamily="2" charset="-127"/>
                <a:ea typeface="페이퍼로지 4 Regular" pitchFamily="2" charset="-127"/>
              </a:rPr>
              <a:t>glibc</a:t>
            </a:r>
            <a:r>
              <a:rPr lang="en-US" altLang="ko-KR" b="1" dirty="0">
                <a:latin typeface="페이퍼로지 4 Regular" pitchFamily="2" charset="-127"/>
                <a:ea typeface="페이퍼로지 4 Regular" pitchFamily="2" charset="-127"/>
              </a:rPr>
              <a:t> 2.26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에서는 </a:t>
            </a:r>
            <a:r>
              <a:rPr lang="en-US" altLang="ko-KR" dirty="0" err="1">
                <a:latin typeface="페이퍼로지 4 Regular" pitchFamily="2" charset="-127"/>
                <a:ea typeface="페이퍼로지 4 Regular" pitchFamily="2" charset="-127"/>
              </a:rPr>
              <a:t>tcache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를 도입 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i="0" u="none" strike="noStrike" cap="none" dirty="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ECEBD4D-1504-A46E-2D88-F1FE481FA649}"/>
              </a:ext>
            </a:extLst>
          </p:cNvPr>
          <p:cNvSpPr/>
          <p:nvPr/>
        </p:nvSpPr>
        <p:spPr>
          <a:xfrm>
            <a:off x="1271016" y="4219714"/>
            <a:ext cx="6327648" cy="686798"/>
          </a:xfrm>
          <a:prstGeom prst="roundRect">
            <a:avLst/>
          </a:prstGeom>
          <a:solidFill>
            <a:schemeClr val="accent5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💡   </a:t>
            </a:r>
            <a:r>
              <a:rPr lang="ko-KR" altLang="en-US" sz="10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레이스 컨디션</a:t>
            </a:r>
            <a:r>
              <a:rPr lang="en-US" altLang="ko-KR" sz="10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( Race Condition )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         어떤 공유 자원을 여러 쓰레드나 프로세스에서 접근할 때 발생하는 오동작을 의미한다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8063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3CBA7BE-8CA7-EE67-35C2-2BCFC3A6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0BECD45-8EFC-D3FE-4EC7-02E9810FB284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F116B61-EB06-3667-D5FE-5A77890D37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 err="1">
                <a:solidFill>
                  <a:srgbClr val="9933FF"/>
                </a:solidFill>
              </a:rPr>
              <a:t>tcache</a:t>
            </a:r>
            <a:endParaRPr dirty="0">
              <a:solidFill>
                <a:srgbClr val="9933FF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7334C7D-EFBB-DF18-4321-E2AAB2C45C1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D1E3D769-916A-29AB-73BD-D372B84DC840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i="0" u="none" strike="noStrike" cap="none" dirty="0" err="1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en-US" altLang="ko-KR" b="1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b="1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en-US" altLang="ko-KR" b="1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thread local cache)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각 스레드에 독립적으로 할당되는 캐시 저장소</a:t>
            </a:r>
            <a:endParaRPr lang="en-US" altLang="ko-KR" i="0" u="none" strike="noStrike" cap="none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glibc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2.26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도입</a:t>
            </a: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각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threa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64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개의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가지고 있다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 bin</a:t>
            </a:r>
            <a:r>
              <a:rPr lang="ko-KR" altLang="en-US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 마찬가지로 </a:t>
            </a:r>
            <a:r>
              <a:rPr lang="en-US" altLang="ko-KR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LIFO, </a:t>
            </a:r>
            <a:r>
              <a:rPr lang="ko-KR" altLang="en-US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단일 연결 </a:t>
            </a:r>
            <a:r>
              <a:rPr lang="ko-KR" altLang="en-US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리스트</a:t>
            </a:r>
            <a:r>
              <a:rPr lang="en-US" altLang="ko-KR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병합 ❌</a:t>
            </a:r>
            <a:endParaRPr lang="en-US" altLang="ko-KR" i="0" u="none" strike="noStrike" cap="none" dirty="0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b="1" i="0" u="none" strike="noStrike" cap="none" dirty="0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하나의 </a:t>
            </a:r>
            <a:r>
              <a:rPr lang="en-US" altLang="ko-KR" b="1" i="0" u="none" strike="noStrike" cap="none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같은 크기의 </a:t>
            </a:r>
            <a:r>
              <a:rPr lang="ko-KR" altLang="en-US" b="1" i="0" u="none" strike="noStrike" cap="none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청크만</a:t>
            </a: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보관</a:t>
            </a:r>
            <a:br>
              <a:rPr lang="en-US" altLang="ko-KR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각 </a:t>
            </a:r>
            <a:r>
              <a:rPr lang="en-US" altLang="ko-KR" b="1" i="0" u="none" strike="noStrike" cap="none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보관할 수 있는 </a:t>
            </a:r>
            <a:r>
              <a:rPr lang="ko-KR" altLang="en-US" b="1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수 </a:t>
            </a:r>
            <a:r>
              <a:rPr lang="en-US" altLang="ko-KR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7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 </a:t>
            </a:r>
            <a:r>
              <a:rPr lang="en-US" altLang="ko-KR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 낭비 방지</a:t>
            </a:r>
            <a:r>
              <a:rPr lang="en-US" altLang="ko-KR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i="0" u="none" strike="noStrike" cap="none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  <a:t>32 &lt;= size &lt;= 1040 </a:t>
            </a:r>
            <a:br>
              <a:rPr lang="en-US" altLang="ko-KR" dirty="0">
                <a:solidFill>
                  <a:schemeClr val="tx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</a:b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이 범위에 속하는 </a:t>
            </a:r>
            <a:r>
              <a:rPr lang="ko-KR" altLang="en-US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청크는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할당 및 해제될 때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에서 가장 먼저 탐색</a:t>
            </a:r>
            <a:b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</a:br>
            <a:r>
              <a:rPr lang="en-US" altLang="ko-KR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가 가득 차면 적절한 </a:t>
            </a: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bin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으로 분류</a:t>
            </a: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Benefit: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각 스레드가 고유하게 갖는 캐시 </a:t>
            </a: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레이스 컨디션 고려할 필요 ❌</a:t>
            </a: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arena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bin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에 접근하기 전에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를 먼저 사용하므로 </a:t>
            </a:r>
            <a:b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</a:b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&gt; arena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에서 발생할 수 있는 병목 현상 완화 가능</a:t>
            </a: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D0FA11-3C44-995A-880F-F64BD5829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643" y="2311299"/>
            <a:ext cx="2610214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86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889640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Thank you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1293</Words>
  <Application>Microsoft Office PowerPoint</Application>
  <PresentationFormat>화면 슬라이드 쇼(16:9)</PresentationFormat>
  <Paragraphs>342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7" baseType="lpstr">
      <vt:lpstr>Montserrat</vt:lpstr>
      <vt:lpstr>페이퍼로지 5 Medium</vt:lpstr>
      <vt:lpstr>Montserrat SemiBold</vt:lpstr>
      <vt:lpstr>Cascadia Code SemiBold</vt:lpstr>
      <vt:lpstr>Cascadia Code Light</vt:lpstr>
      <vt:lpstr>Play</vt:lpstr>
      <vt:lpstr>Arial</vt:lpstr>
      <vt:lpstr>Montserrat Medium</vt:lpstr>
      <vt:lpstr>페이퍼로지 4 Regular</vt:lpstr>
      <vt:lpstr>Energy Infographics by Slidesgo</vt:lpstr>
      <vt:lpstr>Use After Free</vt:lpstr>
      <vt:lpstr>contents</vt:lpstr>
      <vt:lpstr>Introduction</vt:lpstr>
      <vt:lpstr>Introduction</vt:lpstr>
      <vt:lpstr>Dangling Pointer</vt:lpstr>
      <vt:lpstr>Dangling Pointer</vt:lpstr>
      <vt:lpstr>ptmalloc tcache</vt:lpstr>
      <vt:lpstr>ptmalloc tcache</vt:lpstr>
      <vt:lpstr>Use After Free</vt:lpstr>
      <vt:lpstr>Use After Free</vt:lpstr>
      <vt:lpstr>reuse</vt:lpstr>
      <vt:lpstr>reuse</vt:lpstr>
      <vt:lpstr>reuse</vt:lpstr>
      <vt:lpstr>Advanced</vt:lpstr>
      <vt:lpstr>Advanced</vt:lpstr>
      <vt:lpstr>Advanced</vt:lpstr>
      <vt:lpstr>Advanced</vt:lpstr>
      <vt:lpstr>Advanced</vt:lpstr>
      <vt:lpstr>Example</vt:lpstr>
      <vt:lpstr>Example</vt:lpstr>
      <vt:lpstr>Example</vt:lpstr>
      <vt:lpstr>Example</vt:lpstr>
      <vt:lpstr>Example</vt:lpstr>
      <vt:lpstr>ptmalloc bin</vt:lpstr>
      <vt:lpstr>ptmalloc arena</vt:lpstr>
      <vt:lpstr>ptmalloc tcache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박세원</dc:creator>
  <cp:lastModifiedBy>박세원</cp:lastModifiedBy>
  <cp:revision>422</cp:revision>
  <dcterms:modified xsi:type="dcterms:W3CDTF">2025-11-05T04:51:36Z</dcterms:modified>
</cp:coreProperties>
</file>