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1"/>
  </p:notesMasterIdLst>
  <p:sldIdLst>
    <p:sldId id="256" r:id="rId2"/>
    <p:sldId id="345" r:id="rId3"/>
    <p:sldId id="438" r:id="rId4"/>
    <p:sldId id="445" r:id="rId5"/>
    <p:sldId id="437" r:id="rId6"/>
    <p:sldId id="443" r:id="rId7"/>
    <p:sldId id="440" r:id="rId8"/>
    <p:sldId id="442" r:id="rId9"/>
    <p:sldId id="439" r:id="rId10"/>
    <p:sldId id="441" r:id="rId11"/>
    <p:sldId id="444" r:id="rId12"/>
    <p:sldId id="446" r:id="rId13"/>
    <p:sldId id="447" r:id="rId14"/>
    <p:sldId id="448" r:id="rId15"/>
    <p:sldId id="449" r:id="rId16"/>
    <p:sldId id="450" r:id="rId17"/>
    <p:sldId id="451" r:id="rId18"/>
    <p:sldId id="409" r:id="rId19"/>
    <p:sldId id="287" r:id="rId2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Medium" panose="00000600000000000000" pitchFamily="2" charset="0"/>
      <p:regular r:id="rId26"/>
      <p:bold r:id="rId27"/>
      <p:italic r:id="rId28"/>
      <p:boldItalic r:id="rId29"/>
    </p:embeddedFont>
    <p:embeddedFont>
      <p:font typeface="맑은 고딕" panose="020B0503020000020004" pitchFamily="50" charset="-127"/>
      <p:regular r:id="rId30"/>
      <p:bold r:id="rId31"/>
    </p:embeddedFont>
    <p:embeddedFont>
      <p:font typeface="페이퍼로지 1 Thin" pitchFamily="2" charset="-127"/>
      <p:regular r:id="rId32"/>
    </p:embeddedFont>
    <p:embeddedFont>
      <p:font typeface="페이퍼로지 2 ExtraLight" pitchFamily="2" charset="-127"/>
      <p:regular r:id="rId33"/>
    </p:embeddedFont>
    <p:embeddedFont>
      <p:font typeface="페이퍼로지 4 Regular" pitchFamily="2" charset="-127"/>
      <p:regular r:id="rId34"/>
    </p:embeddedFont>
    <p:embeddedFont>
      <p:font typeface="페이퍼로지 6 SemiBold" pitchFamily="2" charset="-127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FFFFFF"/>
    <a:srgbClr val="8DB6FA"/>
    <a:srgbClr val="33CC33"/>
    <a:srgbClr val="92D050"/>
    <a:srgbClr val="009900"/>
    <a:srgbClr val="00B0F0"/>
    <a:srgbClr val="336600"/>
    <a:srgbClr val="FAA4B5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25" autoAdjust="0"/>
    <p:restoredTop sz="94660"/>
  </p:normalViewPr>
  <p:slideViewPr>
    <p:cSldViewPr snapToGrid="0">
      <p:cViewPr varScale="1">
        <p:scale>
          <a:sx n="70" d="100"/>
          <a:sy n="70" d="100"/>
        </p:scale>
        <p:origin x="72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9" Type="http://schemas.openxmlformats.org/officeDocument/2006/relationships/tableStyles" Target="tableStyles.xml"/><Relationship Id="rId21" Type="http://schemas.openxmlformats.org/officeDocument/2006/relationships/notesMaster" Target="notesMasters/notesMaster1.xml"/><Relationship Id="rId34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font" Target="fonts/font1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4FC54FB-598E-E741-6ACF-CE4443EBD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18E2C6A-5AEE-924D-FF06-A9A505253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33B3BF8-DE1A-95F0-38F9-25E9512A7D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3886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EBD796F-D6AD-E394-861A-72EC13A0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48C5AEF-B308-74DC-E5CF-6E32F1FB3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DD06A9B-94DC-4F52-0F82-960E21542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https://learn.microsoft.com/en-us/previous-versions/ms995355(v=msdn.10)#using-dpapi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8817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5911177-43BF-65BD-F846-11FBCEA37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13D8F00-3B19-26FA-553C-B3C1C0115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A461115-A9C1-2BDF-BD1D-27DB7FE3C9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3364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4B2CC34-194E-1C4E-979E-C0282F0FE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E17A19C-9907-4388-2140-00B00FE35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96EBAB8-2EA0-B6D5-1123-52F67D72E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55681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44A91AF-8714-02AB-5522-DEC9DBC71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35013C21-05CC-8037-C9FA-648641256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CDC8DCF-1207-30A2-C884-40E3937220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6210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ACABF15-D22A-EB67-DF0F-8799DF21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7D90F61-F2FB-08B0-F135-AAC7E5516E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D6817F-959A-5502-C9C4-81AF7228E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6468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1399D8E-8E3E-27B8-2016-9242926E4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77D0865-491A-D50C-CB47-9D04F71A1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779D0E2-91B6-1975-51A9-AF2B2655D4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87138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AFBBC63-7E94-9754-C2B0-6572B470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0A366FA-944B-A603-D465-809315AD0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D6A8CF-50AD-5FF4-5092-1E0E6D468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5922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AD0B76E-EDAA-B8E8-75D2-520DDDED9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1B96340-6B49-912A-AEF5-E3109FCE39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239A0E5E-A6F4-5036-182D-BECFE0516C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4571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D9998B-E874-A2B9-4B7B-4E9A54E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DEFAF76-6E55-7C0C-D937-4009F4AF9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99DF8F-C38E-87DB-9900-4B56895C8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2882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debug/pe-format#the-attribute-certificate-table-image-onl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quora.com/Why-are-hash-functions-one-way-If-I-know-the-algorithm-why-cant-I-calculate-the-input-from-it" TargetMode="External"/><Relationship Id="rId5" Type="http://schemas.openxmlformats.org/officeDocument/2006/relationships/hyperlink" Target="https://m.blog.naver.com/jvioonpe/221384924295" TargetMode="External"/><Relationship Id="rId4" Type="http://schemas.openxmlformats.org/officeDocument/2006/relationships/hyperlink" Target="https://velog.io/@superkkj/AES-256-GCM-%EC%99%84%EC%A0%84-%EC%A0%95%EB%B3%B5-finger-basic-%EA%B0%9C%EC%9D%B8%EC%A0%95%EB%B3%B4-%EC%95%94%ED%98%B8%ED%99%94-%EC%A0%84%EC%B2%B4-%ED%9D%90%EB%A6%84-Encrypt-Decrypt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about.  </a:t>
            </a:r>
            <a:r>
              <a:rPr lang="en-US"/>
              <a:t>DPAPI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Concepts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Keys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Secrets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</a:t>
            </a: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Functions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Concepts</a:t>
            </a:r>
          </a:p>
          <a:p>
            <a:pPr lvl="2">
              <a:buSzPts val="1600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 Level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암호화를 쉽게 진행할 수 있도록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제공해주는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API. </a:t>
            </a:r>
          </a:p>
          <a:p>
            <a:pPr marL="806450" lvl="2" indent="-623888">
              <a:buSzPts val="1600"/>
            </a:pP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Windows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실행되는 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SW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만들 때 대칭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비대칭 암호화를 사용해야 하는 경우가 많음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806450" lvl="2" indent="-623888"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개발자들이 안전하고 편리하게 암호화를 진행할 수 있도록 도와주는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API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함수들의 집합이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DPAPI.</a:t>
            </a:r>
          </a:p>
          <a:p>
            <a:pPr marL="806450" lvl="2" indent="-623888"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3038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DPAPI Master 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Symmetric /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Asymmetric 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안전하게 암호화하거나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생성하고 보관할 수 있도록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 Management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사용되기도 한다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2" indent="-17303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303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68312" lvl="2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 입장에서 암호화는 난해하니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outsourcing..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8402781-A833-EAD4-EACE-25D4812EF8D6}"/>
              </a:ext>
            </a:extLst>
          </p:cNvPr>
          <p:cNvSpPr txBox="1"/>
          <p:nvPr/>
        </p:nvSpPr>
        <p:spPr>
          <a:xfrm>
            <a:off x="388734" y="4914760"/>
            <a:ext cx="82388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DPAPI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가 사용된 데이터는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DPAPI Secrets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라고도 불림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. 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34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A053C86-668A-7E87-0491-6FB354ABD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9E9616B-0EF6-9E1C-5668-25896E533D1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/ CNG-DPAPI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최신 버전의 </a:t>
            </a:r>
            <a:r>
              <a:rPr lang="en-US" altLang="ko-KR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여전히 </a:t>
            </a:r>
            <a:r>
              <a:rPr lang="en-US" altLang="ko-KR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Legacy DPAPI </a:t>
            </a:r>
            <a:r>
              <a:rPr lang="ko-KR" altLang="en-US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 </a:t>
            </a:r>
            <a:r>
              <a:rPr lang="en-US" altLang="ko-KR" sz="18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CNG-DPAPI: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여러 기기 간에 데이터를 공유하고 클라우드 환경에서 로밍하는데 목적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단일 컴퓨터 내에서만 정적 데이터 암호화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한계 극복을 위함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풀 수 있는 주체 집합 정의 가능 </a:t>
            </a:r>
            <a:endParaRPr lang="en-US" altLang="ko-KR" sz="1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714375" lvl="2" indent="-268288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Active Directory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 특정 사용자 그룹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714375" lvl="2" indent="-268288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웹 자격 증명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(Web Credentials)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함수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CryptProtectData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NCryptCreateProtectionDescriptor: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보호 대상 생성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NCryptProtectSecret: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데이터 암호화 수행</a:t>
            </a:r>
            <a:endParaRPr lang="en-US" altLang="ko-KR" sz="1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 of CNG-DPAPI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AD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환경이나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Cloud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환경을 통해 인증서를 안전하게 공유해야 하는 분산 환경에서 사용</a:t>
            </a:r>
            <a:endParaRPr lang="en-US" altLang="ko-KR" sz="1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BF28763-5992-6454-55FE-B1A050E2B8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037593D-C76A-8ABB-27A1-750175386BB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877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키 관리의 자동화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(CryptProtectData)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데이터를 넣으면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Windows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내부적으로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마스터 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생성하고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 키를 사용자의 로그인 비밀번호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(or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비밀번호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암호화하여 데이터와 함께 저장</a:t>
            </a:r>
            <a:b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(CryptUnprotectData)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주면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OS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현재 사용자의 정보를 확인해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마스터 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풀고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원본 데이터를 반환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LSASS.exe (Local Security Authority Subsystem Service)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함수 요청을 전달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- LSASS: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부팅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~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종료까지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권한으로 실행되는 보안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이점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격리된 메모리 영역 사용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유출 가능성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Min)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         &gt; En/Decrypt try logging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                  &gt; </a:t>
            </a:r>
            <a:r>
              <a:rPr lang="en-US" altLang="ko-KR" i="1">
                <a:latin typeface="페이퍼로지 2 ExtraLight" pitchFamily="2" charset="-127"/>
                <a:ea typeface="페이퍼로지 2 ExtraLight" pitchFamily="2" charset="-127"/>
              </a:rPr>
              <a:t>These local RPC calls never traverse the network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모든 실질적 </a:t>
            </a:r>
            <a:r>
              <a:rPr lang="en-US" altLang="ko-KR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 </a:t>
            </a:r>
            <a:r>
              <a:rPr lang="ko-KR" altLang="en-US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연산은 해당 </a:t>
            </a:r>
            <a:r>
              <a:rPr lang="en-US" altLang="ko-KR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i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수행</a:t>
            </a:r>
            <a:endParaRPr lang="en-US" altLang="ko-KR" i="1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346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F833383-2D0E-9DB0-7C29-3C56A778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1DA2490-1536-4774-846F-98C2F773E24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F5F9820-648F-0C54-2C8B-9B7B8A817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59697F-9E53-855E-D55F-67C42F5532B8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9118B4-D38A-F85A-F3BF-C08FB9143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759" y="966285"/>
            <a:ext cx="5420481" cy="3696216"/>
          </a:xfrm>
          <a:prstGeom prst="rect">
            <a:avLst/>
          </a:prstGeom>
          <a:solidFill>
            <a:srgbClr val="FFFFFF">
              <a:shade val="85000"/>
            </a:srgbClr>
          </a:solidFill>
          <a:ln w="952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82089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 Key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 구조와 키 파생 원리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Hierachical Key (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계층적 키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사용자의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logon pw 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기반으로 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MasterKey, SessionKey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차례로 파생된다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23888" lvl="2" indent="-266700">
              <a:buSzPts val="1600"/>
              <a:buAutoNum type="arabicPeriod"/>
            </a:pP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비밀번호 기반 키 파생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SHA-512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거친 후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PBKDF2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보호하기 위한 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(Key-encrypting Key)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변환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23888" lvl="2" indent="-266700">
              <a:buSzPts val="1600"/>
              <a:buAutoNum type="arabicPeriod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23888" lvl="2" indent="-266700">
              <a:buSzPts val="1600"/>
              <a:buAutoNum type="arabicPeriod"/>
            </a:pP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생성</a:t>
            </a:r>
            <a: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저장</a:t>
            </a:r>
            <a:br>
              <a:rPr lang="en-US" altLang="ko-KR" sz="16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512 bit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길이의 무작위 데이터를 생성해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MK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삼고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KeK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암호화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90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 만료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Path: %USERPROFILE%\AppData\Roaming\Microsoft\Protect\&lt;SID&gt;\&lt;GUID&gt; </a:t>
            </a:r>
          </a:p>
          <a:p>
            <a:pPr marL="623888" lvl="2" indent="-266700">
              <a:buSzPts val="1600"/>
              <a:buAutoNum type="arabicPeriod"/>
            </a:pP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23888" lvl="2" indent="-266700">
              <a:buSzPts val="1600"/>
              <a:buAutoNum type="arabicPeriod"/>
            </a:pP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유도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: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앱 데이터 암호화 키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Salt, Entropy(App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제공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같은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MK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여도 다른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SK.. 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암호학적 저항성↑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</a:p>
          <a:p>
            <a:pPr lvl="2">
              <a:buSzPts val="1600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4522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MasterKey, SessionKey ??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CryptProtectData,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CryptUnprotectData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호출 시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Data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것이 아니라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실질적인 데이터 암호화 키는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 !!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MasterKey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일회용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 요청마다 새로 동적 파생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 indent="-18415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Salt, Entropy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필요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??</a:t>
            </a:r>
          </a:p>
          <a:p>
            <a:pPr marL="358775" lvl="2" indent="-18415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31825" lvl="2" indent="-27305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Salt: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처음 암호화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때 내부적으로 무작위 생성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(Made in OS)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Salt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값은 결과물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(BLOB)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 내부에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함께 저장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631825" lvl="3" indent="-27305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631825" lvl="2" indent="-27305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Entropy: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(Offerred by App)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**pOptionalEntropy**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제공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  <a:endParaRPr lang="en-US" altLang="ko-KR" dirty="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940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Secrets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브라우저에 저장되는 계정 정보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or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쿠키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이메일 클라이언트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(Outlook, thunderbird)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등에서 사용되는 계정 정보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공유 폴더와 자원들을 접근할 때 사용되는 계정 정보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RDP,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원격 호스트들을 접근할 때 사용되는 계정 정보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자체내에서 제공하는 비밀 번호 금고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(Credential Vault)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사용되는 암호화 키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Encrypting File System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이메일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s-MIME, ADCS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유저 인증서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(Certificate)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암호화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3038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</a:t>
            </a:r>
          </a:p>
          <a:p>
            <a:pPr marL="182562" lvl="3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82562" lvl="3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80975" lvl="3" indent="-180975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OS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내에서 암호화된 데이터나 암호화에 사용되는 대칭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비대칭 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(private key)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암호화하는데 사용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6654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Data BLOB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64A2991-E90C-8782-8D21-3C551906D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170741"/>
              </p:ext>
            </p:extLst>
          </p:nvPr>
        </p:nvGraphicFramePr>
        <p:xfrm>
          <a:off x="678366" y="2233953"/>
          <a:ext cx="7787268" cy="266700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732156">
                  <a:extLst>
                    <a:ext uri="{9D8B030D-6E8A-4147-A177-3AD203B41FA5}">
                      <a16:colId xmlns:a16="http://schemas.microsoft.com/office/drawing/2014/main" val="1659226281"/>
                    </a:ext>
                  </a:extLst>
                </a:gridCol>
                <a:gridCol w="3122342">
                  <a:extLst>
                    <a:ext uri="{9D8B030D-6E8A-4147-A177-3AD203B41FA5}">
                      <a16:colId xmlns:a16="http://schemas.microsoft.com/office/drawing/2014/main" val="1204625873"/>
                    </a:ext>
                  </a:extLst>
                </a:gridCol>
                <a:gridCol w="2932770">
                  <a:extLst>
                    <a:ext uri="{9D8B030D-6E8A-4147-A177-3AD203B41FA5}">
                      <a16:colId xmlns:a16="http://schemas.microsoft.com/office/drawing/2014/main" val="3041999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Field Name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Description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Note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606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Version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DPAPI BLOB ver info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Normally 1 or 2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7908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Master Key GUID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MK Identifier used to encrypt data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Used to find the file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3053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Salt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Rand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byte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for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SessionKey derivation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Unique for each BLOB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106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Ciphertext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real_ciphertext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AES or 3DES encryption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53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HMAC / MAC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Message Authentication Code</a:t>
                      </a:r>
                      <a:b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(Data validate)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8762794"/>
                  </a:ext>
                </a:extLst>
              </a:tr>
            </a:tbl>
          </a:graphicData>
        </a:graphic>
      </p:graphicFrame>
      <p:pic>
        <p:nvPicPr>
          <p:cNvPr id="4" name="그림 3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C3B39B-FE5B-9BAE-F2C1-AACF0F4F5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981" y="966285"/>
            <a:ext cx="2345473" cy="10646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14353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91911FB-1AD4-C747-FEB6-D370DF034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972863-B6E2-A47F-67A9-47EA926E578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C209828-FFEA-6BE3-1970-7830CA9758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D9B2C43-EB3B-DA07-87BC-9926721891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30340A-2134-2729-5489-455AF9CEE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49" y="966285"/>
            <a:ext cx="3685526" cy="37841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CD13C6-CB23-BC8B-F7B6-76BBF18C1B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171" y="2906940"/>
            <a:ext cx="4161217" cy="18434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8C0CA3-AC30-F188-7900-829074E4D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171" y="966286"/>
            <a:ext cx="4161217" cy="17951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8738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D089A96-7035-3C71-D6B3-701531F0E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19C8532-95D6-2CA5-E45E-D00DA245D3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FAF0AFF-02AF-2F3C-546E-68C5C4BC6F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39302BB-96C6-E3E2-B3E8-183E1623BE3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897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12DE03F-43F1-7C0B-634C-4A712D8E6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3739612-6577-E1FD-257C-859A3345AA22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3179DE8-5071-A161-AC6F-3572276C78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C111B26-6FBC-8650-B6E0-177835FFE91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399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63F6094-FE7B-E822-C679-2C1EA7E94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CF85A44-8859-3226-8301-69C17CDC0BF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BF2DBB1-DB3C-9AEE-D28C-64D8A5D1E9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55C8530-8E40-A430-410C-25D50B334C3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9663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3F0B7B4-5EA1-DD79-96A2-D3E5867A0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10A30C8-20DB-DFA3-F5A8-679B10A6798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59E1A3E-762B-341C-F2FD-A9929FC7BC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89B0062-C5BA-A2CC-3CAA-F66DB2504FB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363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3FD8199-21C6-71B1-DCAF-CE8B56799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45E6DB8-8926-2284-467E-B140375B763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06E3F5D-5B43-16F6-ECC6-BA194E5570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7D9DB13-755E-26CB-7D31-FE9AB1CC112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004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15AD326-24EE-D676-3F5B-F4DAA6B12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80BFAFE-E584-351A-4A80-92BEB68F424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A44BD4-E9E7-DD38-B5B3-A7AC6FC27D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78A51AD-ADBC-CA8F-8308-CC2BA683C34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306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CE02993-F828-064D-FFE8-A314E391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D6DC-539B-4BB9-4813-9B52D9FA2A5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3"/>
              </a:rPr>
              <a:t>https://learn.microsoft.com/en-us/windows/win32/debug/pe-format#the-attribute-certificate-table-image-only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4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4"/>
              </a:rPr>
              <a:t>https://velog.io/@superkkj/AES-256-GCM-%EC%99%84%EC%A0%84-%EC%A0%95%EB%B3%B5-finger-basic-%EA%B0%9C%EC%9D%B8%EC%A0%95%EB%B3%B4-%EC%95%94%ED%98%B8%ED%99%94-%EC%A0%84%EC%B2%B4-%ED%9D%90%EB%A6%84-Encrypt-Decrypt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5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5"/>
              </a:rPr>
              <a:t>https://m.blog.naver.com/jvioonpe/221384924295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6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6"/>
              </a:rPr>
              <a:t>https://www.quora.com/Why-are-hash-functions-one-way-If-I-know-the-algorithm-why-cant-I-calculate-the-input-from-it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https://docs.oracle.com/cd/E19957-01/816-6167-10/jar.htm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7F089B1-BB41-3EF5-387B-4231DE78CA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REF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A32B314-F667-50CF-618F-D546F312BEA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6676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392</TotalTime>
  <Words>905</Words>
  <Application>Microsoft Office PowerPoint</Application>
  <PresentationFormat>화면 슬라이드 쇼(16:9)</PresentationFormat>
  <Paragraphs>121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페이퍼로지 1 Thin</vt:lpstr>
      <vt:lpstr>Montserrat Medium</vt:lpstr>
      <vt:lpstr>페이퍼로지 4 Regular</vt:lpstr>
      <vt:lpstr>Montserrat</vt:lpstr>
      <vt:lpstr>맑은 고딕</vt:lpstr>
      <vt:lpstr>Arial</vt:lpstr>
      <vt:lpstr>페이퍼로지 2 ExtraLight</vt:lpstr>
      <vt:lpstr>페이퍼로지 6 SemiBold</vt:lpstr>
      <vt:lpstr>Energy Infographics by Slidesgo</vt:lpstr>
      <vt:lpstr>about.  DPAPI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REF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74</cp:revision>
  <dcterms:created xsi:type="dcterms:W3CDTF">2026-02-25T09:00:40Z</dcterms:created>
  <dcterms:modified xsi:type="dcterms:W3CDTF">2026-03-02T09:34:43Z</dcterms:modified>
</cp:coreProperties>
</file>