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1"/>
  </p:notesMasterIdLst>
  <p:sldIdLst>
    <p:sldId id="256" r:id="rId2"/>
    <p:sldId id="345" r:id="rId3"/>
    <p:sldId id="438" r:id="rId4"/>
    <p:sldId id="452" r:id="rId5"/>
    <p:sldId id="445" r:id="rId6"/>
    <p:sldId id="437" r:id="rId7"/>
    <p:sldId id="443" r:id="rId8"/>
    <p:sldId id="448" r:id="rId9"/>
    <p:sldId id="440" r:id="rId10"/>
    <p:sldId id="442" r:id="rId11"/>
    <p:sldId id="447" r:id="rId12"/>
    <p:sldId id="441" r:id="rId13"/>
    <p:sldId id="453" r:id="rId14"/>
    <p:sldId id="446" r:id="rId15"/>
    <p:sldId id="444" r:id="rId16"/>
    <p:sldId id="455" r:id="rId17"/>
    <p:sldId id="449" r:id="rId18"/>
    <p:sldId id="450" r:id="rId19"/>
    <p:sldId id="287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Medium" panose="00000600000000000000" pitchFamily="2" charset="0"/>
      <p:regular r:id="rId26"/>
      <p:bold r:id="rId27"/>
      <p:italic r:id="rId28"/>
      <p:boldItalic r:id="rId29"/>
    </p:embeddedFont>
    <p:embeddedFont>
      <p:font typeface="맑은 고딕" panose="020B0503020000020004" pitchFamily="50" charset="-127"/>
      <p:regular r:id="rId30"/>
      <p:bold r:id="rId31"/>
    </p:embeddedFont>
    <p:embeddedFont>
      <p:font typeface="페이퍼로지 1 Thin" pitchFamily="2" charset="-127"/>
      <p:regular r:id="rId32"/>
    </p:embeddedFont>
    <p:embeddedFont>
      <p:font typeface="페이퍼로지 2 ExtraLight" pitchFamily="2" charset="-127"/>
      <p:regular r:id="rId33"/>
    </p:embeddedFont>
    <p:embeddedFont>
      <p:font typeface="페이퍼로지 3 Light" pitchFamily="2" charset="-127"/>
      <p:regular r:id="rId34"/>
    </p:embeddedFont>
    <p:embeddedFont>
      <p:font typeface="페이퍼로지 4 Regular" pitchFamily="2" charset="-127"/>
      <p:regular r:id="rId35"/>
    </p:embeddedFont>
    <p:embeddedFont>
      <p:font typeface="페이퍼로지 6 SemiBold" pitchFamily="2" charset="-127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E0D608"/>
    <a:srgbClr val="E7E200"/>
    <a:srgbClr val="FFFF66"/>
    <a:srgbClr val="92D050"/>
    <a:srgbClr val="8DB6FA"/>
    <a:srgbClr val="33CC33"/>
    <a:srgbClr val="FFFFFF"/>
    <a:srgbClr val="0099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6" autoAdjust="0"/>
    <p:restoredTop sz="93187" autoAdjust="0"/>
  </p:normalViewPr>
  <p:slideViewPr>
    <p:cSldViewPr snapToGrid="0">
      <p:cViewPr varScale="1">
        <p:scale>
          <a:sx n="105" d="100"/>
          <a:sy n="105" d="100"/>
        </p:scale>
        <p:origin x="11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DBE520-CDFC-E8C5-EEBD-C90BF4F0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5358D2-3B03-894F-00B1-0A5343485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84E2CFD-BA4C-F1A5-B72B-FFC3028F4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70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CAFA046-5A40-1FE9-7A08-5CFE53B0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0110484-20EE-A05B-FF69-A060A3F3B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03B1356-6620-5DD2-AA46-F80C97C7B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0" i="0" u="none" strike="noStrike" cap="none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  <a:cs typeface="Arial"/>
                <a:sym typeface="Arial"/>
              </a:rPr>
              <a:t>Windows</a:t>
            </a:r>
            <a:r>
              <a:rPr lang="ko-KR" altLang="en-US" sz="1100" b="0" i="0" u="none" strike="noStrike" cap="none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  <a:cs typeface="Arial"/>
                <a:sym typeface="Arial"/>
              </a:rPr>
              <a:t> 자격 증명 관리자</a:t>
            </a:r>
            <a:r>
              <a:rPr lang="en-US" altLang="ko-KR" sz="1100" b="0" i="0" u="none" strike="noStrike" cap="none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  <a:cs typeface="Arial"/>
                <a:sym typeface="Arial"/>
              </a:rPr>
              <a:t>: </a:t>
            </a:r>
            <a:r>
              <a:rPr lang="ko-KR" altLang="ko-KR" sz="1100" b="0" i="0" u="none" strike="noStrike" cap="none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  <a:cs typeface="Arial"/>
                <a:sym typeface="Arial"/>
              </a:rPr>
              <a:t>원격 데스크톱 세션 인증을 위해 사용되는 </a:t>
            </a:r>
            <a:r>
              <a:rPr lang="ko-KR" altLang="en-US" sz="1100" b="0" i="0" u="none" strike="noStrike" cap="none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  <a:cs typeface="Arial"/>
                <a:sym typeface="Arial"/>
              </a:rPr>
              <a:t>것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3479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4FC54FB-598E-E741-6ACF-CE4443EB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18E2C6A-5AEE-924D-FF06-A9A505253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33B3BF8-DE1A-95F0-38F9-25E9512A7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88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BD796F-D6AD-E394-861A-72EC13A0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48C5AEF-B308-74DC-E5CF-6E32F1FB3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DD06A9B-94DC-4F52-0F82-960E21542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https://learn.microsoft.com/en-us/previous-versions/ms995355(v=msdn.10)#using-dpapi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8177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ACABF15-D22A-EB67-DF0F-8799DF21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7D90F61-F2FB-08B0-F135-AAC7E5516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D6817F-959A-5502-C9C4-81AF7228E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https://learn.microsoft.com/en-us/windows/win32/api/ntsecapi/nf-ntsecapi-lsastoreprivatedata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cmd </a:t>
            </a:r>
            <a:r>
              <a:rPr lang="ko-KR" altLang="en-US"/>
              <a:t>관리자 권한 실행 </a:t>
            </a:r>
            <a:r>
              <a:rPr lang="en-US" altLang="ko-KR">
                <a:sym typeface="Wingdings" panose="05000000000000000000" pitchFamily="2" charset="2"/>
              </a:rPr>
              <a:t> SysInternalsSuite </a:t>
            </a:r>
            <a:r>
              <a:rPr lang="ko-KR" altLang="en-US">
                <a:sym typeface="Wingdings" panose="05000000000000000000" pitchFamily="2" charset="2"/>
              </a:rPr>
              <a:t>설치되어 있어야 함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해당 폴더에서 </a:t>
            </a:r>
            <a:r>
              <a:rPr lang="en-US" altLang="ko-KR">
                <a:sym typeface="Wingdings" panose="05000000000000000000" pitchFamily="2" charset="2"/>
              </a:rPr>
              <a:t> psexec –i –s regedit.exe </a:t>
            </a:r>
            <a:r>
              <a:rPr lang="ko-KR" altLang="en-US">
                <a:sym typeface="Wingdings" panose="05000000000000000000" pitchFamily="2" charset="2"/>
              </a:rPr>
              <a:t>수행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6468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**PBKDF2**: Password-Based Key Derivation Function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44A91AF-8714-02AB-5522-DEC9DBC71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5013C21-05CC-8037-C9FA-648641256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CDC8DCF-1207-30A2-C884-40E393722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**guidMasterKey**: MasterKey</a:t>
            </a:r>
            <a:r>
              <a:rPr lang="ko-KR" altLang="en-US"/>
              <a:t>의 고유 </a:t>
            </a:r>
            <a:r>
              <a:rPr lang="en-US" altLang="ko-KR"/>
              <a:t>ID 16</a:t>
            </a:r>
            <a:r>
              <a:rPr lang="ko-KR" altLang="en-US"/>
              <a:t>바이트 </a:t>
            </a:r>
            <a:r>
              <a:rPr lang="en-US" altLang="ko-KR"/>
              <a:t>(*&gt;?*blob header </a:t>
            </a:r>
            <a:r>
              <a:rPr lang="ko-KR" altLang="en-US"/>
              <a:t>내부</a:t>
            </a:r>
            <a:r>
              <a:rPr lang="en-US" altLang="ko-KR"/>
              <a:t>**</a:t>
            </a:r>
            <a:r>
              <a:rPr lang="ko-KR" altLang="en-US"/>
              <a:t>에 존재</a:t>
            </a:r>
            <a:r>
              <a:rPr lang="en-US" altLang="ko-KR"/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6210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_CRYPTOAPI_BLOB: https://learn.microsoft.com/ko-kr/windows/win32/api/dpapi/ns-dpapi-crypt_integer_blob</a:t>
            </a:r>
            <a:br>
              <a:rPr lang="en-US"/>
            </a:br>
            <a:r>
              <a:rPr lang="en-US"/>
              <a:t>_KULL_M_DPAPI_BLOB: https://www.synacktiv.com/publications/windows-secrets-extraction-a-summary#dpapi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위 사진</a:t>
            </a:r>
            <a:r>
              <a:rPr lang="en-US" altLang="ko-KR"/>
              <a:t>: MS </a:t>
            </a:r>
            <a:r>
              <a:rPr lang="ko-KR" altLang="en-US"/>
              <a:t>피셜</a:t>
            </a:r>
            <a:r>
              <a:rPr lang="en-US" altLang="ko-KR"/>
              <a:t>. </a:t>
            </a:r>
            <a:r>
              <a:rPr lang="ko-KR" altLang="en-US"/>
              <a:t>아래 사진</a:t>
            </a:r>
            <a:r>
              <a:rPr lang="en-US" altLang="ko-KR"/>
              <a:t>: mimikatz </a:t>
            </a:r>
            <a:r>
              <a:rPr lang="ko-KR" altLang="en-US"/>
              <a:t>피셜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A273229-A218-3BDF-0984-87DF351D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272383A-10E6-4099-301A-BDB26A356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67C1A37-25BE-F929-222B-556D3350D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https://learn.microsoft.com/ko-kr/windows/win32/api/dpapi/ns-dpapi-crypt_integer_blob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463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4B2CC34-194E-1C4E-979E-C0282F0F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E17A19C-9907-4388-2140-00B00FE35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96EBAB8-2EA0-B6D5-1123-52F67D72E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https://learn.microsoft.com/ko-kr/windows/win32/seccrypto/alg-id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5568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5911177-43BF-65BD-F846-11FBCEA3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13D8F00-3B19-26FA-553C-B3C1C0115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A461115-A9C1-2BDF-BD1D-27DB7FE3C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https://learn.microsoft.com/ko-kr/windows/win32/api/dpapi/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336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81DE992-4A4E-FE9C-D0F2-DCC9AE55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A6BA51D-570A-F0C7-A541-EFCE217C9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DD71A85-6233-16F2-CD04-0D6B8059A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273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1399D8E-8E3E-27B8-2016-9242926E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77D0865-491A-D50C-CB47-9D04F71A1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779D0E2-91B6-1975-51A9-AF2B2655D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**extract**: Prefix </a:t>
            </a:r>
            <a:r>
              <a:rPr lang="ko-KR" altLang="en-US"/>
              <a:t>및 </a:t>
            </a:r>
            <a:r>
              <a:rPr lang="en-US" altLang="ko-KR"/>
              <a:t>Nonce </a:t>
            </a:r>
            <a:r>
              <a:rPr lang="ko-KR" altLang="en-US"/>
              <a:t>분리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8713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AFBBC63-7E94-9754-C2B0-6572B470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0A366FA-944B-A603-D465-809315AD0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D6A8CF-50AD-5FF4-5092-1E0E6D468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592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1691371" y="1425547"/>
            <a:ext cx="5761256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about.  </a:t>
            </a:r>
            <a:r>
              <a:rPr lang="en-US"/>
              <a:t>DPAPI</a:t>
            </a:r>
            <a:endParaRPr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4ACEF20-67BF-C1EF-810A-AB2F4435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B6B331-BFD3-43AA-16E7-0F49E57F059F}"/>
              </a:ext>
            </a:extLst>
          </p:cNvPr>
          <p:cNvSpPr txBox="1"/>
          <p:nvPr/>
        </p:nvSpPr>
        <p:spPr>
          <a:xfrm flipH="1">
            <a:off x="452550" y="61556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Overview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Concepts</a:t>
            </a: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Coverage</a:t>
            </a:r>
          </a:p>
          <a:p>
            <a:pPr marL="360363" marR="0" lvl="0" indent="-185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Version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Operation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 ?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Keys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1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 구조와 키 파생 원리</a:t>
            </a: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1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Key, Session Key</a:t>
            </a:r>
          </a:p>
          <a:p>
            <a:pPr marL="177800" lvl="1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Layer / Flow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Functions</a:t>
            </a: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flow: Chrome Password Decrypt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AFE6C03-798D-CD87-1C91-C47CCD364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214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contents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9182BB-CE65-7A7F-D6FF-F08D370ACE56}"/>
              </a:ext>
            </a:extLst>
          </p:cNvPr>
          <p:cNvCxnSpPr/>
          <p:nvPr/>
        </p:nvCxnSpPr>
        <p:spPr>
          <a:xfrm>
            <a:off x="451092" y="573814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79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Concepts</a:t>
            </a:r>
          </a:p>
          <a:p>
            <a:pPr lvl="2">
              <a:buSzPts val="1600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 Level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복호화를 쉽게 진행할 수 있도록 제공해주는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API </a:t>
            </a:r>
          </a:p>
          <a:p>
            <a:pPr marL="806450" lvl="2" indent="-623888">
              <a:buSzPts val="1600"/>
            </a:pP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Windows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실행되는 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SW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만들 때 대칭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비대칭 암호화를 사용해야 하는 경우가 많음</a:t>
            </a:r>
            <a:r>
              <a:rPr lang="en-US" altLang="ko-KR" sz="1200" i="1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806450" lvl="2" indent="-623888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06450" lvl="2" indent="-623888">
              <a:buSzPts val="1600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개발자들이 안전하고 편리하게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</a:t>
            </a: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진행할 수 있도록 도와주는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API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함수들의 집합이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</a:p>
          <a:p>
            <a:pPr marL="806450" lvl="2" indent="-623888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303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+ DPAPI *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*Master Key**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통해 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Symmetric 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Asymmetric 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안전하게 암호화하거나 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생성하고 보관할 수 있도록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 Management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사용되기도 한다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5600" lvl="2" indent="-17303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brief.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개발자 입장에서 암호화는 난해하니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outsourcing..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402781-A833-EAD4-EACE-25D4812EF8D6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DPAPI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가 사용된 데이터는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DPAPI Secrets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라고도 불림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. </a:t>
            </a:r>
            <a:endParaRPr lang="ko-KR" altLang="en-US" sz="800">
              <a:latin typeface="페이퍼로지 1 Thin" pitchFamily="2" charset="-127"/>
              <a:ea typeface="페이퍼로지 1 Thin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5EC9AEA-6665-DC4F-1EDF-66E7A007ADC9}"/>
              </a:ext>
            </a:extLst>
          </p:cNvPr>
          <p:cNvCxnSpPr>
            <a:cxnSpLocks/>
          </p:cNvCxnSpPr>
          <p:nvPr/>
        </p:nvCxnSpPr>
        <p:spPr>
          <a:xfrm>
            <a:off x="664369" y="2321719"/>
            <a:ext cx="0" cy="9501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63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E84496E-832B-5F3C-6FDF-36A61FD2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31D1448-D6CB-65AD-155C-B0C9AA1944C1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Coverage (of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DPAPI)</a:t>
            </a:r>
          </a:p>
          <a:p>
            <a:pPr lvl="2">
              <a:buSzPts val="1600"/>
            </a:pPr>
            <a:endParaRPr lang="en-US" altLang="ko-KR" sz="4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운영체제의 근간을 이루는 다양한 매커니즘 또한 해당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API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의존하고 있다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 Application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Chromium based browsers: Chrome, Edge, Firefox, etc. 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로그인 자격 증명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(id/pw)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인증 쿠키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세션 유지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534988" lvl="2" indent="-174625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Data etc.</a:t>
            </a:r>
          </a:p>
          <a:p>
            <a:pPr marL="534988" lvl="2" indent="-174625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4625">
              <a:buSzPts val="1600"/>
            </a:pPr>
            <a:r>
              <a:rPr lang="ko-KR" altLang="en-US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로컬 스토리지에 저장할 때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반드시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호출해 데이터를 암호화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Outlook(pw), Skype(data), Azure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인프라 접근을 위한 영구 토큰 캐싱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역시 해당 암호화 엔진을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공유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**Windows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자격 증명 관리자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(Credential Manager)**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데이터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Windows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키 관리 체계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BitLocker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드라이브 암호화 복구 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etc. </a:t>
            </a:r>
          </a:p>
          <a:p>
            <a:pPr marL="360363" lvl="2" indent="-185738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역시 해당 암호화 엔진을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 Network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Wi-Fi pw, VPN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연결 자격 증명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etc.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많이들 쓰니까 마스터 키 유출되면 큰일이야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..!!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C5B9C5B-7235-7F7C-72F3-2C4F45A55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C1036B-DB88-7C93-0906-E3D9FE76FCF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BF7C4E2-0C95-99B4-F00F-1AC9FB7E66E3}"/>
              </a:ext>
            </a:extLst>
          </p:cNvPr>
          <p:cNvCxnSpPr>
            <a:cxnSpLocks/>
          </p:cNvCxnSpPr>
          <p:nvPr/>
        </p:nvCxnSpPr>
        <p:spPr>
          <a:xfrm>
            <a:off x="654641" y="1854791"/>
            <a:ext cx="0" cy="125806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0205A69-287A-72E6-897F-77CA1EED18E2}"/>
              </a:ext>
            </a:extLst>
          </p:cNvPr>
          <p:cNvCxnSpPr>
            <a:cxnSpLocks/>
          </p:cNvCxnSpPr>
          <p:nvPr/>
        </p:nvCxnSpPr>
        <p:spPr>
          <a:xfrm>
            <a:off x="654641" y="3466340"/>
            <a:ext cx="0" cy="483090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07CA852-8EFA-1C32-7DE9-BBA84F07D8D1}"/>
              </a:ext>
            </a:extLst>
          </p:cNvPr>
          <p:cNvCxnSpPr>
            <a:cxnSpLocks/>
          </p:cNvCxnSpPr>
          <p:nvPr/>
        </p:nvCxnSpPr>
        <p:spPr>
          <a:xfrm>
            <a:off x="654641" y="4309404"/>
            <a:ext cx="0" cy="15559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활짝 웃으며 땀 흘리는 얼굴(윤곽선) 단색으로 채워진">
            <a:extLst>
              <a:ext uri="{FF2B5EF4-FFF2-40B4-BE49-F238E27FC236}">
                <a16:creationId xmlns:a16="http://schemas.microsoft.com/office/drawing/2014/main" id="{18486C05-24DB-B682-C73B-5D43119DF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5380" y="4445591"/>
            <a:ext cx="492025" cy="4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A053C86-668A-7E87-0491-6FB354AB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9E9616B-0EF6-9E1C-5668-25896E533D1C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Version</a:t>
            </a:r>
          </a:p>
          <a:p>
            <a:pPr lvl="2" algn="ctr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최신 버전의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여전히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Legacy DPAPI 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CNG-DPAPI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여러 기기 간에 데이터를 공유하고 클라우드 환경에서 로밍하는데 목적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Legacy(All block dump in memory)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비해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대용량 처리를 위한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(Stream I/O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지원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Characteristics</a:t>
            </a: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컴퓨터 내에서만 정적 데이터 암호화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한계 극복을 위함</a:t>
            </a:r>
            <a:r>
              <a:rPr lang="en-US" altLang="ko-KR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풀 수 있는 주체 집합 정의 가능 </a:t>
            </a:r>
            <a:endParaRPr lang="en-US" altLang="ko-KR" sz="12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714375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**Active Directory**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 특정 사용자 그룹</a:t>
            </a:r>
            <a:endParaRPr lang="en-US" altLang="ko-KR" sz="12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714375" lvl="2" indent="-177800">
              <a:buSzPts val="1600"/>
              <a:buFont typeface="Wingdings" panose="05000000000000000000" pitchFamily="2" charset="2"/>
              <a:buChar char="ü"/>
            </a:pP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웹 자격 증명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(Web Credential)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한해서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주요 함수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CryptProtectData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NCryptCreateProtectionDescriptor: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보호 대상 생성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NCryptProtectSecret: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데이터 암호화 수행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7"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7"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SDDL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형태로 사용자의 권한을 지정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(e.g. A;;GA;;BA)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Allow;;GenericAll;;Built-inAdmin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46088" lvl="2" indent="-26828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Summary of CNG-DPAPI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나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Cloud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통해 인증서를 안전하게 공유해야 하는 분산 환경에서 사용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BF28763-5992-6454-55FE-B1A050E2B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037593D-C76A-8ABB-27A1-750175386BB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CEB2BEC-5FA9-C088-FE9B-560CAD2EAFEB}"/>
              </a:ext>
            </a:extLst>
          </p:cNvPr>
          <p:cNvCxnSpPr>
            <a:cxnSpLocks/>
          </p:cNvCxnSpPr>
          <p:nvPr/>
        </p:nvCxnSpPr>
        <p:spPr>
          <a:xfrm>
            <a:off x="758938" y="2272770"/>
            <a:ext cx="0" cy="1919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E2F21D-79B2-230F-31B6-343F242DCF04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AD: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Windows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기반 중앙 집중 관리 서비스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.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사용자 계정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컴퓨터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프린터 및 보안 정책과 같은 네트워크 상의 모든 정보를 계층형 디렉터리에 저장한 형태</a:t>
            </a:r>
          </a:p>
        </p:txBody>
      </p:sp>
    </p:spTree>
    <p:extLst>
      <p:ext uri="{BB962C8B-B14F-4D97-AF65-F5344CB8AC3E}">
        <p14:creationId xmlns:p14="http://schemas.microsoft.com/office/powerpoint/2010/main" val="317387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(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키 관리의 자동화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br>
              <a:rPr lang="en-US" altLang="ko-KR" sz="1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-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(CryptProtectData)</a:t>
            </a:r>
          </a:p>
          <a:p>
            <a:pPr lvl="2">
              <a:buSzPts val="1600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  <a:tabLst>
                <a:tab pos="5114925" algn="l"/>
              </a:tabLst>
            </a:pP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입력받아 마스터 키 기반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(*</a:t>
            </a:r>
            <a:r>
              <a:rPr lang="en-US" altLang="ko-KR" sz="8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세션 키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**)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암호화를 수행하고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결과적으로 암호화된 페이로드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사용된 알고리즘 정보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무결성 검증을 위한 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MAC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등이 포함된 </a:t>
            </a:r>
            <a:r>
              <a:rPr lang="ko-KR" altLang="en-US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복합적인 </a:t>
            </a:r>
            <a:r>
              <a:rPr lang="en-US" altLang="ko-KR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*blob**</a:t>
            </a:r>
            <a:r>
              <a:rPr lang="ko-KR" altLang="en-US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반환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한다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함수가 </a:t>
            </a:r>
            <a:r>
              <a:rPr lang="ko-KR" altLang="en-US" sz="1000" u="sng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호출되면 내부적으로는 해당 데이터 암호화를 위한 고유한 세션 키가 파생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된다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- 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(CryptUnprotectData)</a:t>
            </a:r>
          </a:p>
          <a:p>
            <a:pPr lvl="2">
              <a:buSzPts val="1600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시 생성되었던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분석해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MAC 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기반의 무결성 검증 절차를 거친 후에 데이터 위변조가 없음을 확정하면 세션 키를 재도출하여 원래의 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</a:t>
            </a:r>
            <a:r>
              <a:rPr lang="ko-KR" altLang="en-US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복호화한다</a:t>
            </a: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암호화를 수행했던 </a:t>
            </a:r>
            <a:r>
              <a:rPr lang="ko-KR" altLang="en-US" sz="1000" u="sng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당시 사용자 계정 자격 증명과 동일한 컨텍스트 내에서 실행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되어야만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허가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r>
              <a:rPr lang="en-US" altLang="ko-KR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물리적으로 동일한 컴퓨터에서 실행되어야 하지만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Roaming </a:t>
            </a:r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프로필이 구성된 환경의 경우 다른 컴퓨터에서도 가능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</a:t>
            </a:r>
            <a:endParaRPr lang="en-US" altLang="ko-KR" sz="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4625">
              <a:buSzPts val="1600"/>
            </a:pP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*LSASS.exe** (Local Security Authority Subsystem Service)</a:t>
            </a: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함수 요청을 전달</a:t>
            </a:r>
            <a:endParaRPr lang="en-US" altLang="ko-KR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</a:p>
          <a:p>
            <a:pPr marL="360363" lvl="2">
              <a:buSzPts val="1600"/>
            </a:pP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- 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모든 실질적 </a:t>
            </a: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 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연산은 해당 </a:t>
            </a:r>
            <a:r>
              <a:rPr lang="en-US" altLang="ko-KR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i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수행</a:t>
            </a:r>
            <a:endParaRPr lang="en-US" altLang="ko-KR" i="1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>
              <a:buSzPts val="1600"/>
            </a:pP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LSASS: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부팅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~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종료까지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권한으로 실행되는 보안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 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마스터 키 평문 캐싱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이점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격리된 메모리 영역 사용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유출 가능성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Min)</a:t>
            </a:r>
          </a:p>
          <a:p>
            <a:pPr marL="360363" lvl="2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En/Decrypt logging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</a:t>
            </a:r>
            <a:r>
              <a:rPr lang="en-US" altLang="ko-KR" sz="1000" i="1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These local RPC calls never traverse the network</a:t>
            </a:r>
            <a:endParaRPr lang="en-US" altLang="ko-KR" i="1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Operation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9FA7E78-1F69-5E90-2177-1AD915B75D34}"/>
              </a:ext>
            </a:extLst>
          </p:cNvPr>
          <p:cNvCxnSpPr>
            <a:cxnSpLocks/>
          </p:cNvCxnSpPr>
          <p:nvPr/>
        </p:nvCxnSpPr>
        <p:spPr>
          <a:xfrm>
            <a:off x="781793" y="3709721"/>
            <a:ext cx="0" cy="1225685"/>
          </a:xfrm>
          <a:prstGeom prst="line">
            <a:avLst/>
          </a:prstGeom>
          <a:ln w="1905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으로 구부러짐 3">
            <a:extLst>
              <a:ext uri="{FF2B5EF4-FFF2-40B4-BE49-F238E27FC236}">
                <a16:creationId xmlns:a16="http://schemas.microsoft.com/office/drawing/2014/main" id="{599B8013-E695-99A3-1DFA-BAE973A35327}"/>
              </a:ext>
            </a:extLst>
          </p:cNvPr>
          <p:cNvSpPr/>
          <p:nvPr/>
        </p:nvSpPr>
        <p:spPr>
          <a:xfrm>
            <a:off x="166257" y="1387589"/>
            <a:ext cx="556312" cy="2525788"/>
          </a:xfrm>
          <a:prstGeom prst="curvedRightArrow">
            <a:avLst/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오른쪽으로 구부러짐 4">
            <a:extLst>
              <a:ext uri="{FF2B5EF4-FFF2-40B4-BE49-F238E27FC236}">
                <a16:creationId xmlns:a16="http://schemas.microsoft.com/office/drawing/2014/main" id="{3C970748-7BA4-6CD7-044B-9C5CEBDBBC11}"/>
              </a:ext>
            </a:extLst>
          </p:cNvPr>
          <p:cNvSpPr/>
          <p:nvPr/>
        </p:nvSpPr>
        <p:spPr>
          <a:xfrm>
            <a:off x="166257" y="2409619"/>
            <a:ext cx="556312" cy="1503758"/>
          </a:xfrm>
          <a:prstGeom prst="curvedRightArrow">
            <a:avLst>
              <a:gd name="adj1" fmla="val 25000"/>
              <a:gd name="adj2" fmla="val 50000"/>
              <a:gd name="adj3" fmla="val 23461"/>
            </a:avLst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34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F833383-2D0E-9DB0-7C29-3C56A778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color style windows icon">
            <a:extLst>
              <a:ext uri="{FF2B5EF4-FFF2-40B4-BE49-F238E27FC236}">
                <a16:creationId xmlns:a16="http://schemas.microsoft.com/office/drawing/2014/main" id="{F20778E8-5CBE-E7E3-9A65-803328FE7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21" y="2241208"/>
            <a:ext cx="461683" cy="461683"/>
          </a:xfrm>
          <a:prstGeom prst="rect">
            <a:avLst/>
          </a:prstGeom>
        </p:spPr>
      </p:pic>
      <p:pic>
        <p:nvPicPr>
          <p:cNvPr id="7" name="그림 6" descr="pulsar color style line icon">
            <a:extLst>
              <a:ext uri="{FF2B5EF4-FFF2-40B4-BE49-F238E27FC236}">
                <a16:creationId xmlns:a16="http://schemas.microsoft.com/office/drawing/2014/main" id="{C00DC66C-80C0-BE8C-1C93-4E8BB287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4219137" y="2173165"/>
            <a:ext cx="616100" cy="616100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1DA2490-1536-4774-846F-98C2F773E24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F5F9820-648F-0C54-2C8B-9B7B8A817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Operation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59697F-9E53-855E-D55F-67C42F5532B8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3d fluency style application icon">
            <a:extLst>
              <a:ext uri="{FF2B5EF4-FFF2-40B4-BE49-F238E27FC236}">
                <a16:creationId xmlns:a16="http://schemas.microsoft.com/office/drawing/2014/main" id="{85181BFA-2482-2A36-D58B-958503AE17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9" t="12999" r="5483" b="16371"/>
          <a:stretch>
            <a:fillRect/>
          </a:stretch>
        </p:blipFill>
        <p:spPr>
          <a:xfrm>
            <a:off x="4121971" y="1009172"/>
            <a:ext cx="770966" cy="577450"/>
          </a:xfrm>
          <a:prstGeom prst="rect">
            <a:avLst/>
          </a:prstGeom>
        </p:spPr>
      </p:pic>
      <p:pic>
        <p:nvPicPr>
          <p:cNvPr id="5" name="그림 4" descr="color style api icon">
            <a:extLst>
              <a:ext uri="{FF2B5EF4-FFF2-40B4-BE49-F238E27FC236}">
                <a16:creationId xmlns:a16="http://schemas.microsoft.com/office/drawing/2014/main" id="{A543E423-774F-906B-C6BA-1A6183E2F7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00" t="14549" r="5633" b="15301"/>
          <a:stretch>
            <a:fillRect/>
          </a:stretch>
        </p:blipFill>
        <p:spPr>
          <a:xfrm>
            <a:off x="4161437" y="2679079"/>
            <a:ext cx="731500" cy="576796"/>
          </a:xfrm>
          <a:prstGeom prst="rect">
            <a:avLst/>
          </a:prstGeom>
        </p:spPr>
      </p:pic>
      <p:pic>
        <p:nvPicPr>
          <p:cNvPr id="8" name="그림 7" descr="pulsar color style line icon">
            <a:extLst>
              <a:ext uri="{FF2B5EF4-FFF2-40B4-BE49-F238E27FC236}">
                <a16:creationId xmlns:a16="http://schemas.microsoft.com/office/drawing/2014/main" id="{56FD3A60-1A7B-00F9-F7C1-34B9C243C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3500245" y="2173165"/>
            <a:ext cx="616100" cy="616100"/>
          </a:xfrm>
          <a:prstGeom prst="rect">
            <a:avLst/>
          </a:prstGeom>
        </p:spPr>
      </p:pic>
      <p:pic>
        <p:nvPicPr>
          <p:cNvPr id="9" name="그림 8" descr="pulsar color style line icon">
            <a:extLst>
              <a:ext uri="{FF2B5EF4-FFF2-40B4-BE49-F238E27FC236}">
                <a16:creationId xmlns:a16="http://schemas.microsoft.com/office/drawing/2014/main" id="{5690E241-CAF7-365E-8DD7-FC75B252F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4938030" y="2173165"/>
            <a:ext cx="616100" cy="616100"/>
          </a:xfrm>
          <a:prstGeom prst="rect">
            <a:avLst/>
          </a:prstGeom>
        </p:spPr>
      </p:pic>
      <p:pic>
        <p:nvPicPr>
          <p:cNvPr id="10" name="그림 9" descr="pulsar color style line icon">
            <a:extLst>
              <a:ext uri="{FF2B5EF4-FFF2-40B4-BE49-F238E27FC236}">
                <a16:creationId xmlns:a16="http://schemas.microsoft.com/office/drawing/2014/main" id="{1860FEA7-E756-BAF3-2DF8-B14F1F8A9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2759800" y="2177588"/>
            <a:ext cx="616100" cy="616100"/>
          </a:xfrm>
          <a:prstGeom prst="rect">
            <a:avLst/>
          </a:prstGeom>
        </p:spPr>
      </p:pic>
      <p:pic>
        <p:nvPicPr>
          <p:cNvPr id="11" name="그림 10" descr="pulsar color style line icon">
            <a:extLst>
              <a:ext uri="{FF2B5EF4-FFF2-40B4-BE49-F238E27FC236}">
                <a16:creationId xmlns:a16="http://schemas.microsoft.com/office/drawing/2014/main" id="{57704121-AABC-5B5E-71D1-8065027AF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5662273" y="2173165"/>
            <a:ext cx="616100" cy="616100"/>
          </a:xfrm>
          <a:prstGeom prst="rect">
            <a:avLst/>
          </a:prstGeom>
        </p:spPr>
      </p:pic>
      <p:pic>
        <p:nvPicPr>
          <p:cNvPr id="12" name="그림 11" descr="pulsar color style line icon">
            <a:extLst>
              <a:ext uri="{FF2B5EF4-FFF2-40B4-BE49-F238E27FC236}">
                <a16:creationId xmlns:a16="http://schemas.microsoft.com/office/drawing/2014/main" id="{1CD714FB-AAE9-938E-DDD6-E348781B1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6375814" y="2173165"/>
            <a:ext cx="616100" cy="616100"/>
          </a:xfrm>
          <a:prstGeom prst="rect">
            <a:avLst/>
          </a:prstGeom>
        </p:spPr>
      </p:pic>
      <p:pic>
        <p:nvPicPr>
          <p:cNvPr id="13" name="그림 12" descr="pulsar color style line icon">
            <a:extLst>
              <a:ext uri="{FF2B5EF4-FFF2-40B4-BE49-F238E27FC236}">
                <a16:creationId xmlns:a16="http://schemas.microsoft.com/office/drawing/2014/main" id="{6DA81924-16EB-60AA-5D83-43332B259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87555">
            <a:off x="2040908" y="2182011"/>
            <a:ext cx="616100" cy="616100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E0CC935-FBDE-ED8F-A9BD-C19056EFA369}"/>
              </a:ext>
            </a:extLst>
          </p:cNvPr>
          <p:cNvCxnSpPr/>
          <p:nvPr/>
        </p:nvCxnSpPr>
        <p:spPr>
          <a:xfrm>
            <a:off x="4679576" y="1655975"/>
            <a:ext cx="0" cy="95278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1251D3C-6A6E-F925-8D8F-CA6844CD0B1D}"/>
              </a:ext>
            </a:extLst>
          </p:cNvPr>
          <p:cNvCxnSpPr>
            <a:cxnSpLocks/>
          </p:cNvCxnSpPr>
          <p:nvPr/>
        </p:nvCxnSpPr>
        <p:spPr>
          <a:xfrm flipV="1">
            <a:off x="4382003" y="1655975"/>
            <a:ext cx="0" cy="95278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 descr="windows 11 color style cyber security icon">
            <a:extLst>
              <a:ext uri="{FF2B5EF4-FFF2-40B4-BE49-F238E27FC236}">
                <a16:creationId xmlns:a16="http://schemas.microsoft.com/office/drawing/2014/main" id="{1C4AF74B-F7B6-B0AD-F2AC-AE33BDD918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361" t="7988" r="6213" b="5586"/>
          <a:stretch>
            <a:fillRect/>
          </a:stretch>
        </p:blipFill>
        <p:spPr>
          <a:xfrm>
            <a:off x="4221254" y="3831897"/>
            <a:ext cx="611866" cy="604861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1CE3417-A833-2470-EB0D-889DD7766A54}"/>
              </a:ext>
            </a:extLst>
          </p:cNvPr>
          <p:cNvCxnSpPr>
            <a:cxnSpLocks/>
          </p:cNvCxnSpPr>
          <p:nvPr/>
        </p:nvCxnSpPr>
        <p:spPr>
          <a:xfrm>
            <a:off x="4679576" y="3355504"/>
            <a:ext cx="0" cy="4763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C7AAC5-FECE-FFAD-25E2-716027DF8DFB}"/>
              </a:ext>
            </a:extLst>
          </p:cNvPr>
          <p:cNvCxnSpPr>
            <a:cxnSpLocks/>
          </p:cNvCxnSpPr>
          <p:nvPr/>
        </p:nvCxnSpPr>
        <p:spPr>
          <a:xfrm flipV="1">
            <a:off x="4380264" y="3328726"/>
            <a:ext cx="0" cy="4621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9EBAF78-1F9A-2A7D-40DA-6A4327F82366}"/>
              </a:ext>
            </a:extLst>
          </p:cNvPr>
          <p:cNvSpPr txBox="1"/>
          <p:nvPr/>
        </p:nvSpPr>
        <p:spPr>
          <a:xfrm>
            <a:off x="4161437" y="3492883"/>
            <a:ext cx="8712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Local RPC Call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BA17C9-3633-EBD8-66DF-5407798BBC1E}"/>
              </a:ext>
            </a:extLst>
          </p:cNvPr>
          <p:cNvSpPr txBox="1"/>
          <p:nvPr/>
        </p:nvSpPr>
        <p:spPr>
          <a:xfrm>
            <a:off x="4243930" y="4436758"/>
            <a:ext cx="8712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LSASS.exe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4F8EF0-A8BB-8F65-F47C-30394E92613D}"/>
              </a:ext>
            </a:extLst>
          </p:cNvPr>
          <p:cNvSpPr txBox="1"/>
          <p:nvPr/>
        </p:nvSpPr>
        <p:spPr>
          <a:xfrm>
            <a:off x="4625433" y="1947200"/>
            <a:ext cx="1168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Data to protect 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24DE10-FEF8-E933-B7F8-F2BD10DD8496}"/>
              </a:ext>
            </a:extLst>
          </p:cNvPr>
          <p:cNvSpPr txBox="1"/>
          <p:nvPr/>
        </p:nvSpPr>
        <p:spPr>
          <a:xfrm>
            <a:off x="3452904" y="1947200"/>
            <a:ext cx="1168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Encrypted blob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208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63F6094-FE7B-E822-C679-2C1EA7E9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CF85A44-8859-3226-8301-69C17CDC0BFA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LSA: Local Security Authority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사용자의 로그인을 검증하고</a:t>
            </a: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보안 정책을 강제하며</a:t>
            </a: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자격 증명을 관리하는 시스템</a:t>
            </a:r>
            <a:endParaRPr lang="en-US" altLang="ko-KR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용도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3" indent="-179388">
              <a:buSzPct val="8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Machine Key Protection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SYSTEM, LocalService, NetworkService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내장 시스템 계정들은 사용자의 로그인 비밀번호가 없음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이 계정들의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마스터 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복호화할 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레지스트리에 저장된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DPAPI_SYSTEM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이라는 특정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시크릿 값을 열쇠로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3" indent="-179388">
              <a:buSzPct val="80000"/>
              <a:buAutoNum type="arabicPeriod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3" indent="-179388">
              <a:buSzPct val="80000"/>
              <a:buAutoNum type="arabicPeriod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자동 로그인 및 서비스 계정 암호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부팅 시 사용자 개입 없이 자동으로 로그인하도록 설정된 계정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비밀번호나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백그라운드에서 실행되는 서비스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(e.g. MSSQL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 계정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etc. 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비밀번호를 저장하는데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3" indent="-179388">
              <a:buSzPct val="80000"/>
              <a:buAutoNum type="arabicPeriod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3" indent="-179388">
              <a:buSzPct val="80000"/>
              <a:buAutoNum type="arabicPeriod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캐시된 도메인 자격 증명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(MsCache)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 domain controller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통신할 수 없는 오프라인 상태에서도 로그인 할 수 있도록 도메인 사용자의 최근 해시된 자격 증명을 암호화하는데 사용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9387" lvl="3">
              <a:buSzPct val="800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3" indent="-17145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생성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OS,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Client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LsaStorePrivateData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데이터 전달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후 저장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읽을 때는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LsaRetrievePrivateData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3" indent="-17145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재료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/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50" lvl="3" indent="-171450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8163" lvl="4" indent="-179388">
              <a:buSzPts val="1600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재료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BootKey (or SysKey): HKLM\SYSTEM\CurrentControlSet\Control\Lsa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경로에 있는 정보를 바탕으로    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8163" lvl="4" indent="-1793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 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계산되어 도출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(JD, Skew1, GBG, Data)</a:t>
            </a:r>
          </a:p>
          <a:p>
            <a:pPr marL="538163" lvl="4" indent="-179388">
              <a:buSzPts val="1600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LsaKey: BootKey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재료로 파생되는 중간 열쇠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8163" lvl="4" indent="-179388">
              <a:buSzPts val="1600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Lsa Secret Encryption:  LsaKey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사용해 데이터 암호화 뒤 </a:t>
            </a:r>
            <a:r>
              <a:rPr lang="ko-KR" altLang="en-US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레지스트리에 저장 </a:t>
            </a:r>
            <a:r>
              <a:rPr lang="en-US" altLang="ko-KR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데이터</a:t>
            </a:r>
            <a:r>
              <a:rPr lang="en-US" altLang="ko-KR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 이슈 해결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</a:t>
            </a:r>
          </a:p>
          <a:p>
            <a:pPr marL="538163" lvl="4" indent="-1793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RegistryPATH: HKLM\SECURITY\Policy\Secrets\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형태로 저장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3" indent="-342900">
              <a:buSzPts val="1600"/>
              <a:buAutoNum type="arabicPeriod"/>
            </a:pP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BF2DBB1-DB3C-9AEE-D28C-64D8A5D1E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LSA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55C8530-8E40-A430-410C-25D50B334C3E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DE0406D-A2C8-04B6-9360-521308FB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550" y="1776000"/>
            <a:ext cx="780166" cy="3154588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6C82086-45A1-565D-F563-B4648FF5D29E}"/>
              </a:ext>
            </a:extLst>
          </p:cNvPr>
          <p:cNvCxnSpPr>
            <a:cxnSpLocks/>
          </p:cNvCxnSpPr>
          <p:nvPr/>
        </p:nvCxnSpPr>
        <p:spPr>
          <a:xfrm>
            <a:off x="579644" y="1768228"/>
            <a:ext cx="0" cy="1479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DB71F26-51A6-2C23-3C31-9B4406B34A8B}"/>
              </a:ext>
            </a:extLst>
          </p:cNvPr>
          <p:cNvCxnSpPr>
            <a:cxnSpLocks/>
          </p:cNvCxnSpPr>
          <p:nvPr/>
        </p:nvCxnSpPr>
        <p:spPr>
          <a:xfrm>
            <a:off x="579644" y="4137622"/>
            <a:ext cx="0" cy="792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66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 구조와 키 파생 원리</a:t>
            </a: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Hierachical Key (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계층적 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lvl="2" algn="ctr">
              <a:buSzPts val="1600"/>
            </a:pPr>
            <a:br>
              <a:rPr lang="en-US" altLang="ko-KR" sz="4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사용자의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logon pw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기반으로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 Protect Key, MasterKey, SessionKey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차례로 파생된다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 Protect Key (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마스터 키를 암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복호화하는 키 파생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 평문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logon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비밀번호가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SHA512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거친 후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Salt, SID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**PBKDF2**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**Iterantion count**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만큼 반복해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보호하기 위한 키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(Key-Protecting Key)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변환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KpK: LSASS Proc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메모리 내부에서 </a:t>
            </a:r>
            <a:r>
              <a:rPr lang="ko-KR" altLang="en-US" sz="10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필요할 때마다 즉석 계산되어 저장되지 않고 사용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됨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endParaRPr lang="en-US" altLang="ko-KR" sz="6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 Key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생성 및 저장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512bit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길이의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순수 무작위 데이터를 생성해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MK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삼고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KpK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90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 만료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%USERPROFILE%\AppData\Roaming\Microsoft\Protect\&lt;SID&gt;\&lt;GUID&gt;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</a:t>
            </a:r>
            <a:br>
              <a:rPr lang="en-US" altLang="ko-KR" sz="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&gt;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조회해보니까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 정도 파일이 있음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만료된 마스터 키 포함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Preferred file: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가장 최신으로 사용되는 키에 대한 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GUID </a:t>
            </a: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endParaRPr lang="en-US" altLang="ko-KR" sz="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600" lvl="2" indent="-177800">
              <a:buSzPct val="100000"/>
              <a:buAutoNum type="arabicPeriod"/>
              <a:tabLst>
                <a:tab pos="355600" algn="l"/>
              </a:tabLst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 Key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유도</a:t>
            </a: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: </a:t>
            </a:r>
            <a:r>
              <a:rPr lang="ko-KR" altLang="en-US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앱 데이터 암호화 키 </a:t>
            </a:r>
            <a:r>
              <a:rPr lang="en-US" altLang="ko-KR" sz="900" u="sng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(KpK</a:t>
            </a:r>
            <a:r>
              <a:rPr lang="ko-KR" altLang="en-US" sz="900" u="sng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같이 일회성 동적 생성</a:t>
            </a:r>
            <a:r>
              <a:rPr lang="en-US" altLang="ko-KR" sz="900" u="sng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1. plaintext Master Key</a:t>
            </a:r>
            <a:b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Salt/Nonce (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후 복호화할 수 있도록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*BLOB**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 같이 저장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조합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Entropy (App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제공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b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같은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MK</a:t>
            </a:r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여도 다른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SK..  </a:t>
            </a:r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암호학적 저항성🆙</a:t>
            </a:r>
            <a:endParaRPr lang="en-US" altLang="ko-KR" sz="11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Keys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3E2CCF9-0E3B-E5A8-02A9-BDA806E1E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23594" y="2571750"/>
            <a:ext cx="1367856" cy="1704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CD13F1-0EAD-A471-FE60-C56ED2A01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614" y="3704352"/>
            <a:ext cx="441082" cy="571911"/>
          </a:xfrm>
          <a:prstGeom prst="rect">
            <a:avLst/>
          </a:prstGeom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7BBB7A9C-F213-F44A-CBFD-4DB2ED6634EF}"/>
              </a:ext>
            </a:extLst>
          </p:cNvPr>
          <p:cNvSpPr/>
          <p:nvPr/>
        </p:nvSpPr>
        <p:spPr>
          <a:xfrm>
            <a:off x="6491586" y="3667797"/>
            <a:ext cx="533400" cy="608884"/>
          </a:xfrm>
          <a:prstGeom prst="borderCallout1">
            <a:avLst>
              <a:gd name="adj1" fmla="val 18750"/>
              <a:gd name="adj2" fmla="val -8333"/>
              <a:gd name="adj3" fmla="val -70082"/>
              <a:gd name="adj4" fmla="val -126440"/>
            </a:avLst>
          </a:prstGeom>
          <a:noFill/>
          <a:ln w="9525">
            <a:solidFill>
              <a:srgbClr val="FF0000"/>
            </a:solidFill>
            <a:head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51DB250-9B92-B54A-2CC4-F7323B3CB6A5}"/>
              </a:ext>
            </a:extLst>
          </p:cNvPr>
          <p:cNvCxnSpPr>
            <a:cxnSpLocks/>
          </p:cNvCxnSpPr>
          <p:nvPr/>
        </p:nvCxnSpPr>
        <p:spPr>
          <a:xfrm>
            <a:off x="3906982" y="3574473"/>
            <a:ext cx="2629632" cy="606910"/>
          </a:xfrm>
          <a:prstGeom prst="straightConnector1">
            <a:avLst/>
          </a:prstGeom>
          <a:ln>
            <a:solidFill>
              <a:srgbClr val="33CC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6198B6-6FC3-68B8-DA72-38D023A52DB0}"/>
              </a:ext>
            </a:extLst>
          </p:cNvPr>
          <p:cNvSpPr txBox="1"/>
          <p:nvPr/>
        </p:nvSpPr>
        <p:spPr>
          <a:xfrm>
            <a:off x="388734" y="4914760"/>
            <a:ext cx="8238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Iteration count: HKLM\Software\Microsoft\Cryptography\Protect\Providers\%GUID%</a:t>
            </a:r>
            <a:r>
              <a:rPr lang="ko-KR" altLang="ko-KR" sz="800">
                <a:latin typeface="페이퍼로지 1 Thin" pitchFamily="2" charset="-127"/>
                <a:ea typeface="페이퍼로지 1 Thin" pitchFamily="2" charset="-127"/>
              </a:rPr>
              <a:t>에 명시된 값</a:t>
            </a:r>
            <a:endParaRPr lang="ko-KR" altLang="en-US" sz="800">
              <a:latin typeface="페이퍼로지 1 Thin" pitchFamily="2" charset="-127"/>
              <a:ea typeface="페이퍼로지 1 Thin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FC1BF8B-DDD9-48A6-43E1-CE4426A170D2}"/>
              </a:ext>
            </a:extLst>
          </p:cNvPr>
          <p:cNvCxnSpPr>
            <a:cxnSpLocks/>
          </p:cNvCxnSpPr>
          <p:nvPr/>
        </p:nvCxnSpPr>
        <p:spPr>
          <a:xfrm flipV="1">
            <a:off x="6977696" y="2571750"/>
            <a:ext cx="345898" cy="1152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559429-FA48-20EE-203E-D9D8C316D5E6}"/>
              </a:ext>
            </a:extLst>
          </p:cNvPr>
          <p:cNvCxnSpPr/>
          <p:nvPr/>
        </p:nvCxnSpPr>
        <p:spPr>
          <a:xfrm>
            <a:off x="6977696" y="3795713"/>
            <a:ext cx="345898" cy="480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6F378C-B257-406C-10A4-342D22581889}"/>
              </a:ext>
            </a:extLst>
          </p:cNvPr>
          <p:cNvSpPr/>
          <p:nvPr/>
        </p:nvSpPr>
        <p:spPr>
          <a:xfrm>
            <a:off x="6610350" y="3709262"/>
            <a:ext cx="367346" cy="9820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8F5FA51-1A02-EFF2-3FB2-3E9C3CC3E596}"/>
              </a:ext>
            </a:extLst>
          </p:cNvPr>
          <p:cNvCxnSpPr>
            <a:cxnSpLocks/>
          </p:cNvCxnSpPr>
          <p:nvPr/>
        </p:nvCxnSpPr>
        <p:spPr>
          <a:xfrm>
            <a:off x="590263" y="1878595"/>
            <a:ext cx="0" cy="27893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52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MasterKey, SessionKey ??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CryptProtectData,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CryptUnprotectData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호출 시</a:t>
            </a:r>
            <a:b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Data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하는 것이 아니라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실질적인 데이터 암호화 키는 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SessionKey !!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Master 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 Key(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일회용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매 요청마다 새로 동적 파생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SessionKey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Salt, Entropy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필요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??</a:t>
            </a:r>
          </a:p>
          <a:p>
            <a:pPr marL="174625"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>
              <a:buSzPts val="1600"/>
            </a:pP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Salt: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처음 암호화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 때 내부적으로 무작위 생성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(Made in OS)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" Salt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값은 결과물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(BLOB)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구조체 내부에 함께 저장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marL="631825" lvl="3" indent="-27305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>
              <a:buSzPts val="1600"/>
            </a:pP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Entropy: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추가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Salt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(Offerred by App)</a:t>
            </a:r>
            <a:b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" pOptionalEntropy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함수 인자 형태 제공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marL="358775" lvl="2">
              <a:buSzPts val="1600"/>
            </a:pPr>
            <a:br>
              <a:rPr lang="en-US" altLang="ko-KR" sz="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&gt;&gt; Chrome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NULL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제공하지 않음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Keys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63D0022-7E1B-4446-4890-EC26A13BB082}"/>
              </a:ext>
            </a:extLst>
          </p:cNvPr>
          <p:cNvCxnSpPr>
            <a:cxnSpLocks/>
          </p:cNvCxnSpPr>
          <p:nvPr/>
        </p:nvCxnSpPr>
        <p:spPr>
          <a:xfrm>
            <a:off x="577474" y="2172546"/>
            <a:ext cx="0" cy="13635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940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12DE03F-43F1-7C0B-634C-4A712D8E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3179DE8-5071-A161-AC6F-3572276C7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Layer / Flow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C111B26-6FBC-8650-B6E0-177835FFE91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3d fluency style application icon">
            <a:extLst>
              <a:ext uri="{FF2B5EF4-FFF2-40B4-BE49-F238E27FC236}">
                <a16:creationId xmlns:a16="http://schemas.microsoft.com/office/drawing/2014/main" id="{3E9A44A7-4D5C-5DFE-C876-904689BB3E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" t="12999" r="5483" b="16371"/>
          <a:stretch>
            <a:fillRect/>
          </a:stretch>
        </p:blipFill>
        <p:spPr>
          <a:xfrm>
            <a:off x="452550" y="1061578"/>
            <a:ext cx="770966" cy="57745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83E8B20-60F9-DA3A-BC8A-6D61A1EAD3A8}"/>
              </a:ext>
            </a:extLst>
          </p:cNvPr>
          <p:cNvSpPr/>
          <p:nvPr/>
        </p:nvSpPr>
        <p:spPr>
          <a:xfrm>
            <a:off x="1727863" y="1076880"/>
            <a:ext cx="1335741" cy="546847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ysClr val="windowText" lastClr="000000"/>
                </a:solidFill>
                <a:latin typeface="페이퍼로지 3 Light" pitchFamily="2" charset="-127"/>
                <a:ea typeface="페이퍼로지 3 Light" pitchFamily="2" charset="-127"/>
              </a:rPr>
              <a:t>User logon context</a:t>
            </a:r>
            <a:endParaRPr lang="ko-KR" altLang="en-US" sz="1000">
              <a:solidFill>
                <a:sysClr val="windowText" lastClr="00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2E089299-C086-7A7E-084D-DB0CF8C66F50}"/>
              </a:ext>
            </a:extLst>
          </p:cNvPr>
          <p:cNvSpPr/>
          <p:nvPr/>
        </p:nvSpPr>
        <p:spPr>
          <a:xfrm>
            <a:off x="2723862" y="2429436"/>
            <a:ext cx="288567" cy="932329"/>
          </a:xfrm>
          <a:prstGeom prst="curved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332A56-18F9-8363-2360-86AA85A436CA}"/>
              </a:ext>
            </a:extLst>
          </p:cNvPr>
          <p:cNvSpPr txBox="1"/>
          <p:nvPr/>
        </p:nvSpPr>
        <p:spPr>
          <a:xfrm>
            <a:off x="3012429" y="2683819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PBKDF2</a:t>
            </a:r>
            <a:b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</a:br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(Hash + SID + Salt)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9791F03-3CA5-7BE3-5BF0-C04627439611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223516" y="1350303"/>
            <a:ext cx="5043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67B1573-92F3-1154-56C3-8194EA81304B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395733" y="1623727"/>
            <a:ext cx="1" cy="553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office m style hash icon">
            <a:extLst>
              <a:ext uri="{FF2B5EF4-FFF2-40B4-BE49-F238E27FC236}">
                <a16:creationId xmlns:a16="http://schemas.microsoft.com/office/drawing/2014/main" id="{AB889A6F-2328-EEE4-B41F-D84C90857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18" y="2256862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5FE575C-6FA3-531D-ADD3-29FAA83679A8}"/>
              </a:ext>
            </a:extLst>
          </p:cNvPr>
          <p:cNvSpPr txBox="1"/>
          <p:nvPr/>
        </p:nvSpPr>
        <p:spPr>
          <a:xfrm>
            <a:off x="2050125" y="255338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User hash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1032" name="Picture 8" descr="ios 17 outlined style password key icon">
            <a:extLst>
              <a:ext uri="{FF2B5EF4-FFF2-40B4-BE49-F238E27FC236}">
                <a16:creationId xmlns:a16="http://schemas.microsoft.com/office/drawing/2014/main" id="{3D7290BF-6B57-06C9-29B8-E7D4D94C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18" y="3022373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672BE3-0238-C61F-136B-679194E18C2F}"/>
              </a:ext>
            </a:extLst>
          </p:cNvPr>
          <p:cNvSpPr txBox="1"/>
          <p:nvPr/>
        </p:nvSpPr>
        <p:spPr>
          <a:xfrm>
            <a:off x="2195998" y="3420870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KpK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1034" name="Picture 10" descr="color style lock icon">
            <a:extLst>
              <a:ext uri="{FF2B5EF4-FFF2-40B4-BE49-F238E27FC236}">
                <a16:creationId xmlns:a16="http://schemas.microsoft.com/office/drawing/2014/main" id="{1126FEFC-665D-351A-42C5-B1783683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584" y="4288356"/>
            <a:ext cx="594293" cy="59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3BE21F3-AEAE-12B1-D328-38274A20AA18}"/>
              </a:ext>
            </a:extLst>
          </p:cNvPr>
          <p:cNvSpPr txBox="1"/>
          <p:nvPr/>
        </p:nvSpPr>
        <p:spPr>
          <a:xfrm>
            <a:off x="1747606" y="4833987"/>
            <a:ext cx="1305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Encrypted Master Key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2C04F3B-8D85-6231-43BC-2B04B8561AFE}"/>
              </a:ext>
            </a:extLst>
          </p:cNvPr>
          <p:cNvCxnSpPr>
            <a:cxnSpLocks/>
            <a:stCxn id="1034" idx="3"/>
            <a:endCxn id="1036" idx="1"/>
          </p:cNvCxnSpPr>
          <p:nvPr/>
        </p:nvCxnSpPr>
        <p:spPr>
          <a:xfrm flipV="1">
            <a:off x="2692877" y="4585502"/>
            <a:ext cx="12803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color style key icon">
            <a:extLst>
              <a:ext uri="{FF2B5EF4-FFF2-40B4-BE49-F238E27FC236}">
                <a16:creationId xmlns:a16="http://schemas.microsoft.com/office/drawing/2014/main" id="{529A9334-918A-171D-20B7-79B618F5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192" y="435690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5C9B3FC-595B-5487-F6C1-28939B6AF37C}"/>
              </a:ext>
            </a:extLst>
          </p:cNvPr>
          <p:cNvSpPr txBox="1"/>
          <p:nvPr/>
        </p:nvSpPr>
        <p:spPr>
          <a:xfrm>
            <a:off x="3543599" y="4833987"/>
            <a:ext cx="13163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Decrypted Master Key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34BDEF2-4039-CA19-467E-74C9152EED42}"/>
              </a:ext>
            </a:extLst>
          </p:cNvPr>
          <p:cNvCxnSpPr/>
          <p:nvPr/>
        </p:nvCxnSpPr>
        <p:spPr>
          <a:xfrm>
            <a:off x="452550" y="1900515"/>
            <a:ext cx="3294697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 descr="color style windows icon">
            <a:extLst>
              <a:ext uri="{FF2B5EF4-FFF2-40B4-BE49-F238E27FC236}">
                <a16:creationId xmlns:a16="http://schemas.microsoft.com/office/drawing/2014/main" id="{F6A60477-67DE-6004-CE47-D0B442E917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433" y="1958397"/>
            <a:ext cx="461683" cy="461683"/>
          </a:xfrm>
          <a:prstGeom prst="rect">
            <a:avLst/>
          </a:prstGeom>
        </p:spPr>
      </p:pic>
      <p:sp>
        <p:nvSpPr>
          <p:cNvPr id="50" name="더하기 기호 49">
            <a:extLst>
              <a:ext uri="{FF2B5EF4-FFF2-40B4-BE49-F238E27FC236}">
                <a16:creationId xmlns:a16="http://schemas.microsoft.com/office/drawing/2014/main" id="{1826AE88-9A36-A711-ACBF-C86DE5DDBBF1}"/>
              </a:ext>
            </a:extLst>
          </p:cNvPr>
          <p:cNvSpPr/>
          <p:nvPr/>
        </p:nvSpPr>
        <p:spPr>
          <a:xfrm>
            <a:off x="4430392" y="4422492"/>
            <a:ext cx="295830" cy="326020"/>
          </a:xfrm>
          <a:prstGeom prst="mathPlus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8" name="Picture 14" descr="color style id icon">
            <a:extLst>
              <a:ext uri="{FF2B5EF4-FFF2-40B4-BE49-F238E27FC236}">
                <a16:creationId xmlns:a16="http://schemas.microsoft.com/office/drawing/2014/main" id="{9CB61D3F-4FCE-C20A-22FF-F7E5CEACB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307" y="435690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1578B37-2291-EEAC-1AAA-B4C0A44E556A}"/>
              </a:ext>
            </a:extLst>
          </p:cNvPr>
          <p:cNvSpPr txBox="1"/>
          <p:nvPr/>
        </p:nvSpPr>
        <p:spPr>
          <a:xfrm>
            <a:off x="5183422" y="4477780"/>
            <a:ext cx="1136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**guidMasterKey**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62CC701B-F140-B0F9-6714-830CE978B67D}"/>
              </a:ext>
            </a:extLst>
          </p:cNvPr>
          <p:cNvSpPr/>
          <p:nvPr/>
        </p:nvSpPr>
        <p:spPr>
          <a:xfrm>
            <a:off x="2335301" y="3688886"/>
            <a:ext cx="120857" cy="594291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5FCE65-58DE-66A6-73C6-7BADFCD61F81}"/>
              </a:ext>
            </a:extLst>
          </p:cNvPr>
          <p:cNvSpPr txBox="1"/>
          <p:nvPr/>
        </p:nvSpPr>
        <p:spPr>
          <a:xfrm>
            <a:off x="2395168" y="3882392"/>
            <a:ext cx="7617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Decrypting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8C8C173-7669-2417-D98E-E4C898FDC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193455"/>
              </p:ext>
            </p:extLst>
          </p:nvPr>
        </p:nvGraphicFramePr>
        <p:xfrm>
          <a:off x="4109204" y="3171529"/>
          <a:ext cx="3741650" cy="23234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738115">
                  <a:extLst>
                    <a:ext uri="{9D8B030D-6E8A-4147-A177-3AD203B41FA5}">
                      <a16:colId xmlns:a16="http://schemas.microsoft.com/office/drawing/2014/main" val="160959667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084687839"/>
                    </a:ext>
                  </a:extLst>
                </a:gridCol>
                <a:gridCol w="963168">
                  <a:extLst>
                    <a:ext uri="{9D8B030D-6E8A-4147-A177-3AD203B41FA5}">
                      <a16:colId xmlns:a16="http://schemas.microsoft.com/office/drawing/2014/main" val="2046468384"/>
                    </a:ext>
                  </a:extLst>
                </a:gridCol>
                <a:gridCol w="280416">
                  <a:extLst>
                    <a:ext uri="{9D8B030D-6E8A-4147-A177-3AD203B41FA5}">
                      <a16:colId xmlns:a16="http://schemas.microsoft.com/office/drawing/2014/main" val="4178926671"/>
                    </a:ext>
                  </a:extLst>
                </a:gridCol>
                <a:gridCol w="1485631">
                  <a:extLst>
                    <a:ext uri="{9D8B030D-6E8A-4147-A177-3AD203B41FA5}">
                      <a16:colId xmlns:a16="http://schemas.microsoft.com/office/drawing/2014/main" val="3987840277"/>
                    </a:ext>
                  </a:extLst>
                </a:gridCol>
              </a:tblGrid>
              <a:tr h="23234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dwVersion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800" b="1">
                          <a:latin typeface="페이퍼로지 3 Light" pitchFamily="2" charset="-127"/>
                          <a:ea typeface="페이퍼로지 3 Light" pitchFamily="2" charset="-127"/>
                        </a:rPr>
                        <a:t>. . .</a:t>
                      </a:r>
                      <a:endParaRPr lang="ko-KR" altLang="en-US" sz="8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guidMasterKey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800" b="1">
                          <a:latin typeface="페이퍼로지 3 Light" pitchFamily="2" charset="-127"/>
                          <a:ea typeface="페이퍼로지 3 Light" pitchFamily="2" charset="-127"/>
                        </a:rPr>
                        <a:t>. . .</a:t>
                      </a:r>
                      <a:endParaRPr lang="ko-KR" altLang="en-US" sz="800" b="1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pbData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857533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EEB901CE-06E1-B847-BD24-AE265F9337E2}"/>
              </a:ext>
            </a:extLst>
          </p:cNvPr>
          <p:cNvSpPr txBox="1"/>
          <p:nvPr/>
        </p:nvSpPr>
        <p:spPr>
          <a:xfrm>
            <a:off x="7152628" y="3369635"/>
            <a:ext cx="8018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struct BLOB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E046E13-47B5-661C-669B-3FFD678CFFE6}"/>
              </a:ext>
            </a:extLst>
          </p:cNvPr>
          <p:cNvCxnSpPr>
            <a:cxnSpLocks/>
            <a:stCxn id="1038" idx="0"/>
          </p:cNvCxnSpPr>
          <p:nvPr/>
        </p:nvCxnSpPr>
        <p:spPr>
          <a:xfrm flipV="1">
            <a:off x="5024907" y="3378579"/>
            <a:ext cx="228600" cy="9783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84D8FA1-9113-FCB1-79FA-56F2A625FDFA}"/>
              </a:ext>
            </a:extLst>
          </p:cNvPr>
          <p:cNvCxnSpPr>
            <a:cxnSpLocks/>
            <a:stCxn id="1036" idx="0"/>
          </p:cNvCxnSpPr>
          <p:nvPr/>
        </p:nvCxnSpPr>
        <p:spPr>
          <a:xfrm flipV="1">
            <a:off x="4201792" y="3378579"/>
            <a:ext cx="2671448" cy="9783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7B60D34D-4F28-3918-90CE-5706A8214103}"/>
              </a:ext>
            </a:extLst>
          </p:cNvPr>
          <p:cNvSpPr txBox="1"/>
          <p:nvPr/>
        </p:nvSpPr>
        <p:spPr>
          <a:xfrm rot="16993594">
            <a:off x="4984843" y="3524748"/>
            <a:ext cx="5373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1. cmp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A95E44F-8341-EF62-FCCA-B29078681AA5}"/>
              </a:ext>
            </a:extLst>
          </p:cNvPr>
          <p:cNvSpPr txBox="1"/>
          <p:nvPr/>
        </p:nvSpPr>
        <p:spPr>
          <a:xfrm rot="20310173">
            <a:off x="5804095" y="3559303"/>
            <a:ext cx="8755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2. Decrypting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96461FFF-C80D-B72B-2DDF-F52140CAFC8A}"/>
              </a:ext>
            </a:extLst>
          </p:cNvPr>
          <p:cNvCxnSpPr>
            <a:cxnSpLocks/>
            <a:endCxn id="138" idx="2"/>
          </p:cNvCxnSpPr>
          <p:nvPr/>
        </p:nvCxnSpPr>
        <p:spPr>
          <a:xfrm flipV="1">
            <a:off x="7091668" y="2324828"/>
            <a:ext cx="45657" cy="839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6E462050-C4AB-94D2-0A3E-971B33D27DD1}"/>
              </a:ext>
            </a:extLst>
          </p:cNvPr>
          <p:cNvSpPr/>
          <p:nvPr/>
        </p:nvSpPr>
        <p:spPr>
          <a:xfrm>
            <a:off x="6423797" y="1777981"/>
            <a:ext cx="1427056" cy="5468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ysClr val="windowText" lastClr="000000"/>
                </a:solidFill>
                <a:latin typeface="페이퍼로지 3 Light" pitchFamily="2" charset="-127"/>
                <a:ea typeface="페이퍼로지 3 Light" pitchFamily="2" charset="-127"/>
              </a:rPr>
              <a:t>password: SuperMegaBBongJJakSecretPW</a:t>
            </a:r>
            <a:endParaRPr lang="ko-KR" altLang="en-US" sz="800">
              <a:solidFill>
                <a:sysClr val="windowText" lastClr="00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39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blob: binary large object </a:t>
            </a: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 DPAPI</a:t>
            </a:r>
            <a:r>
              <a:rPr lang="ko-KR" altLang="en-US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 내뱉는 반환 데이터 덩어리</a:t>
            </a:r>
            <a:endParaRPr lang="en-US" altLang="ko-KR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blob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64A2991-E90C-8782-8D21-3C551906D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337514"/>
              </p:ext>
            </p:extLst>
          </p:nvPr>
        </p:nvGraphicFramePr>
        <p:xfrm>
          <a:off x="2838297" y="1317167"/>
          <a:ext cx="5694468" cy="345880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261263">
                  <a:extLst>
                    <a:ext uri="{9D8B030D-6E8A-4147-A177-3AD203B41FA5}">
                      <a16:colId xmlns:a16="http://schemas.microsoft.com/office/drawing/2014/main" val="165922628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116892428"/>
                    </a:ext>
                  </a:extLst>
                </a:gridCol>
                <a:gridCol w="3849005">
                  <a:extLst>
                    <a:ext uri="{9D8B030D-6E8A-4147-A177-3AD203B41FA5}">
                      <a16:colId xmlns:a16="http://schemas.microsoft.com/office/drawing/2014/main" val="1204625873"/>
                    </a:ext>
                  </a:extLst>
                </a:gridCol>
              </a:tblGrid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Field Name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Length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Description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06678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dwVersion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DPAPI BLOB ver info. Always 1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908710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guidProvider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16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DPAPI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암호화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Provider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식별자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고정 값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: </a:t>
                      </a:r>
                      <a:r>
                        <a:rPr lang="en-US" altLang="ko-KR" sz="600" b="0" i="0" u="none" strike="noStrike" cap="none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Arial"/>
                          <a:sym typeface="Arial"/>
                        </a:rPr>
                        <a:t>DF9D8CD0-1501-11D1-8C7A-00C04FC297EB</a:t>
                      </a:r>
                      <a:endParaRPr lang="ko-KR" altLang="en-US" sz="6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93989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dwMasterKeyVersion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암호화에 사용된 마스터 키 아키텍처 버전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info. Maybe 1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791862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guidMasterKey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16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 특정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blob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를 복호화하는데 필요한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*MasterKey GUID*</a:t>
                      </a:r>
                      <a:b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%AppData%\Microsoft\Protect\&lt;SID&gt;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내부 파일 중 어떤 놈을 써야하냐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053846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dwFlags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993025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dwDescriptionLen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뒤이어 오는 평문 데이터 설명 문자열의 바이트 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106464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szDescription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CryptProtectData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호출 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szDataDescr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파라미터로 전달된 와이드 문자열 데이터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b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 필드는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blob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내부에서도 평문 상태로 노출된다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600742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ALG_ID algCrypt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데이터 페이로드 암호화에 사용된 대칭키 암호화 알고리즘 식별자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(CALG_AES_256, etc. 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320664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dwAlgCryptLen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암호화 알고리즘으로 생성된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"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길이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"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(AES-256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  <a:sym typeface="Wingdings" panose="05000000000000000000" pitchFamily="2" charset="2"/>
                        </a:rPr>
                        <a:t> 0x100)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62794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dwSaltLen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뒤이어 오는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Salt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데이터 버퍼의 바이트 길이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73266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pbSalt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암호화 과정에서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*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세션 키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*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를 파생시킬 때 혼합된 난수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Salt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바이트 배열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통상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32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바이트 난수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55683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dwHmacKeyLen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무결성 검증에 사용되는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HMAC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데이터의 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459560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pbHmackKey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첫 번째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HMAC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데이터의 실제 바이트 배열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519960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C3B39B-FE5B-9BAE-F2C1-AACF0F4F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29" y="1317167"/>
            <a:ext cx="1431531" cy="6498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09990F4-589C-5735-9B03-053909F15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94" y="1905487"/>
            <a:ext cx="1789065" cy="3073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D0268-9FAD-8591-450B-5A97C39EDA5E}"/>
              </a:ext>
            </a:extLst>
          </p:cNvPr>
          <p:cNvSpPr txBox="1"/>
          <p:nvPr/>
        </p:nvSpPr>
        <p:spPr>
          <a:xfrm>
            <a:off x="787126" y="4804946"/>
            <a:ext cx="136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DPAPI</a:t>
            </a:r>
            <a:r>
              <a:rPr lang="ko-KR" altLang="en-US" sz="800">
                <a:solidFill>
                  <a:srgbClr val="FF0000"/>
                </a:solidFill>
              </a:rPr>
              <a:t>로 암호화된 </a:t>
            </a:r>
            <a:br>
              <a:rPr lang="en-US" altLang="ko-KR" sz="800">
                <a:solidFill>
                  <a:srgbClr val="FF0000"/>
                </a:solidFill>
              </a:rPr>
            </a:br>
            <a:r>
              <a:rPr lang="en-US" altLang="ko-KR" sz="800">
                <a:solidFill>
                  <a:srgbClr val="FF0000"/>
                </a:solidFill>
              </a:rPr>
              <a:t>BLOB </a:t>
            </a:r>
            <a:r>
              <a:rPr lang="ko-KR" altLang="en-US" sz="800">
                <a:solidFill>
                  <a:srgbClr val="FF0000"/>
                </a:solidFill>
              </a:rPr>
              <a:t>구조체 리버싱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8C319-B1C2-0249-A373-D864FA8BEC6D}"/>
              </a:ext>
            </a:extLst>
          </p:cNvPr>
          <p:cNvSpPr txBox="1"/>
          <p:nvPr/>
        </p:nvSpPr>
        <p:spPr>
          <a:xfrm>
            <a:off x="948797" y="1147890"/>
            <a:ext cx="1287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DPAPI</a:t>
            </a:r>
            <a:r>
              <a:rPr lang="ko-KR" altLang="en-US" sz="800">
                <a:solidFill>
                  <a:srgbClr val="FF0000"/>
                </a:solidFill>
              </a:rPr>
              <a:t>로 복호화된 </a:t>
            </a:r>
            <a:r>
              <a:rPr lang="en-US" altLang="ko-KR" sz="800">
                <a:solidFill>
                  <a:srgbClr val="FF0000"/>
                </a:solidFill>
              </a:rPr>
              <a:t>BLOB </a:t>
            </a:r>
            <a:r>
              <a:rPr lang="ko-KR" altLang="en-US" sz="800">
                <a:solidFill>
                  <a:srgbClr val="FF0000"/>
                </a:solidFill>
              </a:rPr>
              <a:t>구조체</a:t>
            </a:r>
          </a:p>
        </p:txBody>
      </p:sp>
    </p:spTree>
    <p:extLst>
      <p:ext uri="{BB962C8B-B14F-4D97-AF65-F5344CB8AC3E}">
        <p14:creationId xmlns:p14="http://schemas.microsoft.com/office/powerpoint/2010/main" val="421435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43A264B-F2A8-78E0-DB38-6D696003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F92FF1C-1E25-FA70-06B0-C52FAF92C72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blob: binary large object </a:t>
            </a: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 DPAPI</a:t>
            </a:r>
            <a:r>
              <a:rPr lang="ko-KR" altLang="en-US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 내뱉는 반환 데이터 덩어리</a:t>
            </a:r>
            <a:endParaRPr lang="en-US" altLang="ko-KR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2491C0C-CFB2-5CF6-AD53-EF24D6564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extra:</a:t>
            </a:r>
            <a:r>
              <a:rPr lang="ko-KR" altLang="en-US"/>
              <a:t> </a:t>
            </a:r>
            <a:r>
              <a:rPr lang="en-US"/>
              <a:t>blob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86BC13-1A6F-B0A4-EAE4-089326F2B2F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2987445-344E-B1B7-DD4B-A98B79184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45589"/>
              </p:ext>
            </p:extLst>
          </p:nvPr>
        </p:nvGraphicFramePr>
        <p:xfrm>
          <a:off x="2838297" y="1317167"/>
          <a:ext cx="5694468" cy="23460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261263">
                  <a:extLst>
                    <a:ext uri="{9D8B030D-6E8A-4147-A177-3AD203B41FA5}">
                      <a16:colId xmlns:a16="http://schemas.microsoft.com/office/drawing/2014/main" val="165922628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116892428"/>
                    </a:ext>
                  </a:extLst>
                </a:gridCol>
                <a:gridCol w="3849005">
                  <a:extLst>
                    <a:ext uri="{9D8B030D-6E8A-4147-A177-3AD203B41FA5}">
                      <a16:colId xmlns:a16="http://schemas.microsoft.com/office/drawing/2014/main" val="1204625873"/>
                    </a:ext>
                  </a:extLst>
                </a:gridCol>
              </a:tblGrid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Field Name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Length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Description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06678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algHash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무결성 검증용 서명 및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PBKDF2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파생에 사용된 해시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alg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식별자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(CALG_SHA_512)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908710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dwAlgHashLen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해시 알고리즘 속성 길이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893989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dwHmac2KeyLen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두 번째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HMAC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데이터 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791862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pbHmack2Key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두 번째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HMAC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키 데이터 실제 바이트 배열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053846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dwDataLen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뒤이어 오는 실제 암호화된 페이로드 데이터의 길이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93025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pbData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실제 암호화된 평문 데이터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(ciphertext)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바이트 배열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106464"/>
                  </a:ext>
                </a:extLst>
              </a:tr>
              <a:tr h="28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dwSignLen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 byte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blob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의 디지털 서명 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600742"/>
                  </a:ext>
                </a:extLst>
              </a:tr>
              <a:tr h="136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pbSign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악의적 변조를 방지하기 위해 생성된 무결성 검증용 디지털 서명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(Signature)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바이트 배열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통상적으로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64 byte)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320664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C0E7B4-7D52-9970-0DD2-8F4EB67C8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29" y="1317167"/>
            <a:ext cx="1431531" cy="6498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5D6FB1-18F5-9261-647C-D7E6F235B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94" y="1905487"/>
            <a:ext cx="1789065" cy="3073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9C6F8-FDB6-0F9E-D9DD-97AAF1364EBE}"/>
              </a:ext>
            </a:extLst>
          </p:cNvPr>
          <p:cNvSpPr txBox="1"/>
          <p:nvPr/>
        </p:nvSpPr>
        <p:spPr>
          <a:xfrm>
            <a:off x="948797" y="1147890"/>
            <a:ext cx="1287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DPAPI</a:t>
            </a:r>
            <a:r>
              <a:rPr lang="ko-KR" altLang="en-US" sz="800">
                <a:solidFill>
                  <a:srgbClr val="FF0000"/>
                </a:solidFill>
              </a:rPr>
              <a:t>로 복호화된 </a:t>
            </a:r>
            <a:r>
              <a:rPr lang="en-US" altLang="ko-KR" sz="800">
                <a:solidFill>
                  <a:srgbClr val="FF0000"/>
                </a:solidFill>
              </a:rPr>
              <a:t>BLOB </a:t>
            </a:r>
            <a:r>
              <a:rPr lang="ko-KR" altLang="en-US" sz="800">
                <a:solidFill>
                  <a:srgbClr val="FF0000"/>
                </a:solidFill>
              </a:rPr>
              <a:t>구조체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BDE54-C8D5-E25C-CE5C-4FB8BEA27D79}"/>
              </a:ext>
            </a:extLst>
          </p:cNvPr>
          <p:cNvSpPr txBox="1"/>
          <p:nvPr/>
        </p:nvSpPr>
        <p:spPr>
          <a:xfrm>
            <a:off x="787126" y="4804946"/>
            <a:ext cx="136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DPAPI</a:t>
            </a:r>
            <a:r>
              <a:rPr lang="ko-KR" altLang="en-US" sz="800">
                <a:solidFill>
                  <a:srgbClr val="FF0000"/>
                </a:solidFill>
              </a:rPr>
              <a:t>로 암호화된 </a:t>
            </a:r>
            <a:br>
              <a:rPr lang="en-US" altLang="ko-KR" sz="800">
                <a:solidFill>
                  <a:srgbClr val="FF0000"/>
                </a:solidFill>
              </a:rPr>
            </a:br>
            <a:r>
              <a:rPr lang="en-US" altLang="ko-KR" sz="800">
                <a:solidFill>
                  <a:srgbClr val="FF0000"/>
                </a:solidFill>
              </a:rPr>
              <a:t>BLOB </a:t>
            </a:r>
            <a:r>
              <a:rPr lang="ko-KR" altLang="en-US" sz="800">
                <a:solidFill>
                  <a:srgbClr val="FF0000"/>
                </a:solidFill>
              </a:rPr>
              <a:t>구조체 리버싱 결과</a:t>
            </a:r>
          </a:p>
        </p:txBody>
      </p:sp>
    </p:spTree>
    <p:extLst>
      <p:ext uri="{BB962C8B-B14F-4D97-AF65-F5344CB8AC3E}">
        <p14:creationId xmlns:p14="http://schemas.microsoft.com/office/powerpoint/2010/main" val="87411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089A96-7035-3C71-D6B3-701531F0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19C8532-95D6-2CA5-E45E-D00DA245D35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C:\ProgramData\Microsoft\Wlansvc\Profiles\Interfaces\*.xml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 DPAPI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 암호화된 블롭이 저장되어 있음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FAF0AFF-02AF-2F3C-546E-68C5C4BC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blob example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39302BB-96C6-E3E2-B3E8-183E1623BE39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FCE9FD0-2F37-DBBA-55BF-1D2D9E02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9" y="1146107"/>
            <a:ext cx="2597621" cy="3742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3DB141-44AA-BFCE-7F3E-CC7AF130A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50" y="1386991"/>
            <a:ext cx="8000658" cy="238231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EEAFBF8-86F0-F680-56AC-914C9231F74D}"/>
              </a:ext>
            </a:extLst>
          </p:cNvPr>
          <p:cNvCxnSpPr/>
          <p:nvPr/>
        </p:nvCxnSpPr>
        <p:spPr>
          <a:xfrm>
            <a:off x="196532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2876D1-CB3E-CF87-2C21-A11C7B34958D}"/>
              </a:ext>
            </a:extLst>
          </p:cNvPr>
          <p:cNvCxnSpPr/>
          <p:nvPr/>
        </p:nvCxnSpPr>
        <p:spPr>
          <a:xfrm>
            <a:off x="349567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84D6799-F2DD-3265-C97F-0BC4A71BA688}"/>
              </a:ext>
            </a:extLst>
          </p:cNvPr>
          <p:cNvCxnSpPr/>
          <p:nvPr/>
        </p:nvCxnSpPr>
        <p:spPr>
          <a:xfrm>
            <a:off x="388302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B628571-265F-2011-C9E7-486BCC378794}"/>
              </a:ext>
            </a:extLst>
          </p:cNvPr>
          <p:cNvCxnSpPr/>
          <p:nvPr/>
        </p:nvCxnSpPr>
        <p:spPr>
          <a:xfrm>
            <a:off x="540067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1780CF7-1353-F40D-4D24-C600D1397902}"/>
              </a:ext>
            </a:extLst>
          </p:cNvPr>
          <p:cNvCxnSpPr/>
          <p:nvPr/>
        </p:nvCxnSpPr>
        <p:spPr>
          <a:xfrm>
            <a:off x="578802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B91E96D-B5C7-01B3-47A8-8BF5128C5F08}"/>
              </a:ext>
            </a:extLst>
          </p:cNvPr>
          <p:cNvCxnSpPr/>
          <p:nvPr/>
        </p:nvCxnSpPr>
        <p:spPr>
          <a:xfrm>
            <a:off x="6169025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21F56AA-4F50-542F-5C82-F57055044EE7}"/>
              </a:ext>
            </a:extLst>
          </p:cNvPr>
          <p:cNvCxnSpPr/>
          <p:nvPr/>
        </p:nvCxnSpPr>
        <p:spPr>
          <a:xfrm>
            <a:off x="6357348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62CE840-A9DD-E21E-8FB7-407E63131483}"/>
              </a:ext>
            </a:extLst>
          </p:cNvPr>
          <p:cNvCxnSpPr/>
          <p:nvPr/>
        </p:nvCxnSpPr>
        <p:spPr>
          <a:xfrm>
            <a:off x="6735300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B4F126-E3A3-6DDF-D84B-900079924CDC}"/>
              </a:ext>
            </a:extLst>
          </p:cNvPr>
          <p:cNvCxnSpPr/>
          <p:nvPr/>
        </p:nvCxnSpPr>
        <p:spPr>
          <a:xfrm>
            <a:off x="7113252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4A3050A-7175-2820-85AB-28258E95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7371"/>
              </p:ext>
            </p:extLst>
          </p:nvPr>
        </p:nvGraphicFramePr>
        <p:xfrm>
          <a:off x="1722177" y="3743952"/>
          <a:ext cx="6393123" cy="45669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581193">
                  <a:extLst>
                    <a:ext uri="{9D8B030D-6E8A-4147-A177-3AD203B41FA5}">
                      <a16:colId xmlns:a16="http://schemas.microsoft.com/office/drawing/2014/main" val="2733757392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2000655783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3204770189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2645493398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4175064705"/>
                    </a:ext>
                  </a:extLst>
                </a:gridCol>
                <a:gridCol w="623127">
                  <a:extLst>
                    <a:ext uri="{9D8B030D-6E8A-4147-A177-3AD203B41FA5}">
                      <a16:colId xmlns:a16="http://schemas.microsoft.com/office/drawing/2014/main" val="3247909790"/>
                    </a:ext>
                  </a:extLst>
                </a:gridCol>
                <a:gridCol w="539259">
                  <a:extLst>
                    <a:ext uri="{9D8B030D-6E8A-4147-A177-3AD203B41FA5}">
                      <a16:colId xmlns:a16="http://schemas.microsoft.com/office/drawing/2014/main" val="1057040018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2392367561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2399993688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1841221246"/>
                    </a:ext>
                  </a:extLst>
                </a:gridCol>
                <a:gridCol w="581193">
                  <a:extLst>
                    <a:ext uri="{9D8B030D-6E8A-4147-A177-3AD203B41FA5}">
                      <a16:colId xmlns:a16="http://schemas.microsoft.com/office/drawing/2014/main" val="1704153576"/>
                    </a:ext>
                  </a:extLst>
                </a:gridCol>
              </a:tblGrid>
              <a:tr h="4566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ver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guidPv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MKver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guidMK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flag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DescLen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Desc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algCrypt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AlgCryptLen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SaltLen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Salt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579045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EE5EA5D-F81C-5BA8-FF75-4065612A0AE9}"/>
              </a:ext>
            </a:extLst>
          </p:cNvPr>
          <p:cNvCxnSpPr/>
          <p:nvPr/>
        </p:nvCxnSpPr>
        <p:spPr>
          <a:xfrm>
            <a:off x="7504412" y="2692400"/>
            <a:ext cx="0" cy="298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B59BD2B-1086-A84C-B52F-1BA65A04AF5C}"/>
              </a:ext>
            </a:extLst>
          </p:cNvPr>
          <p:cNvCxnSpPr/>
          <p:nvPr/>
        </p:nvCxnSpPr>
        <p:spPr>
          <a:xfrm>
            <a:off x="7504412" y="2990850"/>
            <a:ext cx="610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C2799ADD-D9E9-21B4-E342-B33176D36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823" y="4380215"/>
            <a:ext cx="3680033" cy="45669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CE6209D-226F-6358-C44A-CE342A635757}"/>
              </a:ext>
            </a:extLst>
          </p:cNvPr>
          <p:cNvCxnSpPr/>
          <p:nvPr/>
        </p:nvCxnSpPr>
        <p:spPr>
          <a:xfrm flipV="1">
            <a:off x="6108062" y="4101737"/>
            <a:ext cx="0" cy="278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6A25741-EC64-A3D6-47E3-D1D5976F2527}"/>
              </a:ext>
            </a:extLst>
          </p:cNvPr>
          <p:cNvCxnSpPr>
            <a:cxnSpLocks/>
          </p:cNvCxnSpPr>
          <p:nvPr/>
        </p:nvCxnSpPr>
        <p:spPr>
          <a:xfrm flipV="1">
            <a:off x="6098353" y="2908663"/>
            <a:ext cx="415658" cy="860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7E153B9-EAF1-1E7A-9975-C14C9E447CB3}"/>
              </a:ext>
            </a:extLst>
          </p:cNvPr>
          <p:cNvCxnSpPr>
            <a:cxnSpLocks/>
          </p:cNvCxnSpPr>
          <p:nvPr/>
        </p:nvCxnSpPr>
        <p:spPr>
          <a:xfrm flipV="1">
            <a:off x="6643639" y="2908663"/>
            <a:ext cx="288384" cy="860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3D3E5A4-07F8-DA57-9F2C-421541443661}"/>
              </a:ext>
            </a:extLst>
          </p:cNvPr>
          <p:cNvSpPr/>
          <p:nvPr/>
        </p:nvSpPr>
        <p:spPr>
          <a:xfrm>
            <a:off x="6547467" y="2376636"/>
            <a:ext cx="769112" cy="23166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0x100 = 256</a:t>
            </a:r>
            <a:endParaRPr lang="ko-KR" altLang="en-US" sz="80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CDFF005-44EF-B4C7-BEDC-9854B89406D4}"/>
              </a:ext>
            </a:extLst>
          </p:cNvPr>
          <p:cNvCxnSpPr>
            <a:cxnSpLocks/>
          </p:cNvCxnSpPr>
          <p:nvPr/>
        </p:nvCxnSpPr>
        <p:spPr>
          <a:xfrm flipV="1">
            <a:off x="2611570" y="4101737"/>
            <a:ext cx="0" cy="377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26D3762-4992-BE8D-D83B-1B5B8F22074A}"/>
              </a:ext>
            </a:extLst>
          </p:cNvPr>
          <p:cNvSpPr txBox="1"/>
          <p:nvPr/>
        </p:nvSpPr>
        <p:spPr>
          <a:xfrm>
            <a:off x="1114268" y="4466680"/>
            <a:ext cx="29946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>
                <a:latin typeface="페이퍼로지 3 Light" pitchFamily="2" charset="-127"/>
                <a:ea typeface="페이퍼로지 3 Light" pitchFamily="2" charset="-127"/>
              </a:rPr>
              <a:t>고정</a:t>
            </a:r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: </a:t>
            </a:r>
            <a:r>
              <a:rPr lang="en-US" altLang="ko-KR" sz="800" b="0" i="0" u="none" strike="noStrike" cap="none">
                <a:solidFill>
                  <a:srgbClr val="000000"/>
                </a:solidFill>
                <a:effectLst/>
                <a:latin typeface="페이퍼로지 3 Light" pitchFamily="2" charset="-127"/>
                <a:ea typeface="페이퍼로지 3 Light" pitchFamily="2" charset="-127"/>
                <a:cs typeface="Arial"/>
                <a:sym typeface="Arial"/>
              </a:rPr>
              <a:t>DF9D8CD0-1501-11D1-8C7A-00C04FC297EB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89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91911FB-1AD4-C747-FEB6-D370DF03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E972863-B6E2-A47F-67A9-47EA926E578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C209828-FFEA-6BE3-1970-7830CA975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Functions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D9B2C43-EB3B-DA07-87BC-99267218915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30340A-2134-2729-5489-455AF9CEE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49" y="966285"/>
            <a:ext cx="3685526" cy="3784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CD13C6-CB23-BC8B-F7B6-76BBF18C1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171" y="2906940"/>
            <a:ext cx="4161217" cy="1843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8C0CA3-AC30-F188-7900-829074E4D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171" y="966286"/>
            <a:ext cx="4161217" cy="1795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7381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22F780B-08B3-5E19-812F-7B029BAF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A313A24-4E24-6444-66A2-424E9799F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flow: Chrome Password Decrypt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0B382F8-DB36-9BC3-3F88-9A5B021042F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C72B8C-4026-1DC8-3B38-2C779181B56A}"/>
              </a:ext>
            </a:extLst>
          </p:cNvPr>
          <p:cNvSpPr/>
          <p:nvPr/>
        </p:nvSpPr>
        <p:spPr>
          <a:xfrm>
            <a:off x="4968925" y="2071470"/>
            <a:ext cx="1788460" cy="128132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15F874-A248-050B-9DB4-F8D640DCE989}"/>
              </a:ext>
            </a:extLst>
          </p:cNvPr>
          <p:cNvSpPr/>
          <p:nvPr/>
        </p:nvSpPr>
        <p:spPr>
          <a:xfrm>
            <a:off x="5103907" y="2313843"/>
            <a:ext cx="1531941" cy="91703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30CFF3-2606-E98E-889B-E7AE161DEA72}"/>
              </a:ext>
            </a:extLst>
          </p:cNvPr>
          <p:cNvSpPr/>
          <p:nvPr/>
        </p:nvSpPr>
        <p:spPr>
          <a:xfrm>
            <a:off x="5199318" y="2571750"/>
            <a:ext cx="1341120" cy="545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Encrypted </a:t>
            </a:r>
            <a:br>
              <a:rPr lang="en-US" altLang="ko-KR" sz="1000">
                <a:solidFill>
                  <a:schemeClr val="tx1"/>
                </a:solidFill>
              </a:rPr>
            </a:br>
            <a:r>
              <a:rPr lang="en-US" altLang="ko-KR" sz="1000">
                <a:solidFill>
                  <a:schemeClr val="tx1"/>
                </a:solidFill>
              </a:rPr>
              <a:t>AES MasterKey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A8CF6-25FD-2CA4-D724-E14CA98B48D0}"/>
              </a:ext>
            </a:extLst>
          </p:cNvPr>
          <p:cNvSpPr txBox="1"/>
          <p:nvPr/>
        </p:nvSpPr>
        <p:spPr>
          <a:xfrm>
            <a:off x="5420716" y="2313843"/>
            <a:ext cx="1158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User DPAPI</a:t>
            </a:r>
            <a:endParaRPr lang="ko-KR" altLang="en-US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20BE36-93D7-10B2-07E9-B6E7873EB7EA}"/>
              </a:ext>
            </a:extLst>
          </p:cNvPr>
          <p:cNvSpPr txBox="1"/>
          <p:nvPr/>
        </p:nvSpPr>
        <p:spPr>
          <a:xfrm>
            <a:off x="5320856" y="2077521"/>
            <a:ext cx="1436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System DPAPI</a:t>
            </a:r>
            <a:endParaRPr lang="ko-KR" altLang="en-US" sz="1000"/>
          </a:p>
        </p:txBody>
      </p:sp>
      <p:pic>
        <p:nvPicPr>
          <p:cNvPr id="16" name="그림 15" descr="3d fluency style application icon">
            <a:extLst>
              <a:ext uri="{FF2B5EF4-FFF2-40B4-BE49-F238E27FC236}">
                <a16:creationId xmlns:a16="http://schemas.microsoft.com/office/drawing/2014/main" id="{7A82AF99-817E-B38F-3F9E-6DAA186897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" t="12999" r="5483" b="16371"/>
          <a:stretch>
            <a:fillRect/>
          </a:stretch>
        </p:blipFill>
        <p:spPr>
          <a:xfrm>
            <a:off x="1209162" y="2807281"/>
            <a:ext cx="770966" cy="577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DE77DA-5D6D-662E-6AA7-D68F0A33785F}"/>
              </a:ext>
            </a:extLst>
          </p:cNvPr>
          <p:cNvSpPr txBox="1"/>
          <p:nvPr/>
        </p:nvSpPr>
        <p:spPr>
          <a:xfrm>
            <a:off x="1210844" y="3349532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chrome.exe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18" name="그림 17" descr="3d fluency style application icon">
            <a:extLst>
              <a:ext uri="{FF2B5EF4-FFF2-40B4-BE49-F238E27FC236}">
                <a16:creationId xmlns:a16="http://schemas.microsoft.com/office/drawing/2014/main" id="{D4B02729-A030-0277-8153-DBBA72BF0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47" t="12999" r="5484" b="16371"/>
          <a:stretch>
            <a:fillRect/>
          </a:stretch>
        </p:blipFill>
        <p:spPr>
          <a:xfrm>
            <a:off x="3050186" y="1631526"/>
            <a:ext cx="715138" cy="577450"/>
          </a:xfrm>
          <a:prstGeom prst="rect">
            <a:avLst/>
          </a:prstGeom>
        </p:spPr>
      </p:pic>
      <p:pic>
        <p:nvPicPr>
          <p:cNvPr id="1026" name="Picture 2" descr="pulsar gradient style service icon">
            <a:extLst>
              <a:ext uri="{FF2B5EF4-FFF2-40B4-BE49-F238E27FC236}">
                <a16:creationId xmlns:a16="http://schemas.microsoft.com/office/drawing/2014/main" id="{80927FA8-20AD-3A70-D9D6-42A1820B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281" y="1388393"/>
            <a:ext cx="241578" cy="24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75710E-6654-BC57-046D-43A033B53A96}"/>
              </a:ext>
            </a:extLst>
          </p:cNvPr>
          <p:cNvSpPr txBox="1"/>
          <p:nvPr/>
        </p:nvSpPr>
        <p:spPr>
          <a:xfrm>
            <a:off x="2789685" y="2134958"/>
            <a:ext cx="1265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elevation_service.exe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A3DE367-C41F-D6C6-2055-DEBDC2D3DE93}"/>
              </a:ext>
            </a:extLst>
          </p:cNvPr>
          <p:cNvCxnSpPr>
            <a:stCxn id="16" idx="0"/>
            <a:endCxn id="18" idx="1"/>
          </p:cNvCxnSpPr>
          <p:nvPr/>
        </p:nvCxnSpPr>
        <p:spPr>
          <a:xfrm flipV="1">
            <a:off x="1594645" y="1920251"/>
            <a:ext cx="1455541" cy="887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3F4C32-000B-0E61-D0FC-DF229DF7B1B3}"/>
              </a:ext>
            </a:extLst>
          </p:cNvPr>
          <p:cNvCxnSpPr>
            <a:cxnSpLocks/>
          </p:cNvCxnSpPr>
          <p:nvPr/>
        </p:nvCxnSpPr>
        <p:spPr>
          <a:xfrm>
            <a:off x="3765324" y="1702423"/>
            <a:ext cx="1433994" cy="332189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D86026C-A160-DC95-7499-55C526AF40A7}"/>
              </a:ext>
            </a:extLst>
          </p:cNvPr>
          <p:cNvCxnSpPr>
            <a:cxnSpLocks/>
          </p:cNvCxnSpPr>
          <p:nvPr/>
        </p:nvCxnSpPr>
        <p:spPr>
          <a:xfrm flipH="1" flipV="1">
            <a:off x="3761988" y="1807161"/>
            <a:ext cx="1206937" cy="26671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3202CCE-13F5-9F19-6DA4-683E8C9AC15A}"/>
              </a:ext>
            </a:extLst>
          </p:cNvPr>
          <p:cNvCxnSpPr>
            <a:cxnSpLocks/>
          </p:cNvCxnSpPr>
          <p:nvPr/>
        </p:nvCxnSpPr>
        <p:spPr>
          <a:xfrm>
            <a:off x="3754523" y="2066579"/>
            <a:ext cx="1328468" cy="24713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916C741-2B10-9A1B-42D7-EAC13FA8DFB3}"/>
              </a:ext>
            </a:extLst>
          </p:cNvPr>
          <p:cNvCxnSpPr>
            <a:cxnSpLocks/>
          </p:cNvCxnSpPr>
          <p:nvPr/>
        </p:nvCxnSpPr>
        <p:spPr>
          <a:xfrm flipH="1" flipV="1">
            <a:off x="3735762" y="2141195"/>
            <a:ext cx="1368145" cy="26023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B9DB022-BE1F-3D90-6581-8638FA8E5350}"/>
              </a:ext>
            </a:extLst>
          </p:cNvPr>
          <p:cNvCxnSpPr>
            <a:cxnSpLocks/>
          </p:cNvCxnSpPr>
          <p:nvPr/>
        </p:nvCxnSpPr>
        <p:spPr>
          <a:xfrm flipH="1" flipV="1">
            <a:off x="1959778" y="3243583"/>
            <a:ext cx="613997" cy="7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bubbles style lock icon">
            <a:extLst>
              <a:ext uri="{FF2B5EF4-FFF2-40B4-BE49-F238E27FC236}">
                <a16:creationId xmlns:a16="http://schemas.microsoft.com/office/drawing/2014/main" id="{BF7DDF4A-B499-5FBE-C678-2F42C3775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191" y="271285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58E9700-362C-5EDA-B8D4-F60D0A539A29}"/>
              </a:ext>
            </a:extLst>
          </p:cNvPr>
          <p:cNvSpPr txBox="1"/>
          <p:nvPr/>
        </p:nvSpPr>
        <p:spPr>
          <a:xfrm>
            <a:off x="2079976" y="3327362"/>
            <a:ext cx="16385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app_bound_encryption_key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7C0CAF2-C19A-FEFA-6EE9-21353CA3ACE0}"/>
              </a:ext>
            </a:extLst>
          </p:cNvPr>
          <p:cNvCxnSpPr>
            <a:cxnSpLocks/>
          </p:cNvCxnSpPr>
          <p:nvPr/>
        </p:nvCxnSpPr>
        <p:spPr>
          <a:xfrm>
            <a:off x="1980128" y="2994169"/>
            <a:ext cx="5416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F0D85E5-7FD5-4AAB-65D4-EA894B0BBD3B}"/>
              </a:ext>
            </a:extLst>
          </p:cNvPr>
          <p:cNvSpPr txBox="1"/>
          <p:nvPr/>
        </p:nvSpPr>
        <p:spPr>
          <a:xfrm>
            <a:off x="1747716" y="3031431"/>
            <a:ext cx="10326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Local State File Access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68CBCC-CAF2-BC42-F8CD-4AFD1291F624}"/>
              </a:ext>
            </a:extLst>
          </p:cNvPr>
          <p:cNvSpPr txBox="1"/>
          <p:nvPr/>
        </p:nvSpPr>
        <p:spPr>
          <a:xfrm rot="19615029">
            <a:off x="1839551" y="2174308"/>
            <a:ext cx="109837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IElevator2</a:t>
            </a:r>
            <a:r>
              <a:rPr lang="en-US" altLang="ko-KR" sz="600" b="1">
                <a:latin typeface="페이퍼로지 3 Light" pitchFamily="2" charset="-127"/>
                <a:ea typeface="페이퍼로지 3 Light" pitchFamily="2" charset="-127"/>
              </a:rPr>
              <a:t>::</a:t>
            </a:r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DecryptData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26790B-49DD-9E88-5775-7183C11A9F64}"/>
              </a:ext>
            </a:extLst>
          </p:cNvPr>
          <p:cNvSpPr txBox="1"/>
          <p:nvPr/>
        </p:nvSpPr>
        <p:spPr>
          <a:xfrm rot="694429">
            <a:off x="3697251" y="1700457"/>
            <a:ext cx="1443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crypt32.dll ! CryptUnprotectData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C56D7A9F-BFFE-8789-DD58-77EFE5866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384" y="879220"/>
            <a:ext cx="3055397" cy="5168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9A87191-A9FC-A8A9-5454-AA45F58EB71C}"/>
              </a:ext>
            </a:extLst>
          </p:cNvPr>
          <p:cNvSpPr txBox="1"/>
          <p:nvPr/>
        </p:nvSpPr>
        <p:spPr>
          <a:xfrm rot="694429">
            <a:off x="4014750" y="1901859"/>
            <a:ext cx="7633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[out]</a:t>
            </a:r>
            <a:r>
              <a:rPr lang="ko-KR" altLang="en-US" sz="600"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pDataOut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D3FF40-2216-AC3D-88F7-AA0030FBF912}"/>
              </a:ext>
            </a:extLst>
          </p:cNvPr>
          <p:cNvSpPr txBox="1"/>
          <p:nvPr/>
        </p:nvSpPr>
        <p:spPr>
          <a:xfrm rot="694429">
            <a:off x="3653384" y="2027398"/>
            <a:ext cx="1443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crypt32.dll ! CryptUnprotectData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934D2A-A47E-37B0-1199-B61FB006BD82}"/>
              </a:ext>
            </a:extLst>
          </p:cNvPr>
          <p:cNvSpPr txBox="1"/>
          <p:nvPr/>
        </p:nvSpPr>
        <p:spPr>
          <a:xfrm rot="694429">
            <a:off x="3979392" y="2211233"/>
            <a:ext cx="7633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[out]</a:t>
            </a:r>
            <a:r>
              <a:rPr lang="ko-KR" altLang="en-US" sz="600"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pDataOut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26314F9-1C55-D55C-1AA0-EEFBBF6FF212}"/>
              </a:ext>
            </a:extLst>
          </p:cNvPr>
          <p:cNvSpPr txBox="1"/>
          <p:nvPr/>
        </p:nvSpPr>
        <p:spPr>
          <a:xfrm>
            <a:off x="4672214" y="4873948"/>
            <a:ext cx="38138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validate_data() // Validate the paths of the previous &amp; current processes.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1030" name="Picture 6" descr="color style visa stamp icon">
            <a:extLst>
              <a:ext uri="{FF2B5EF4-FFF2-40B4-BE49-F238E27FC236}">
                <a16:creationId xmlns:a16="http://schemas.microsoft.com/office/drawing/2014/main" id="{459DDABD-8CC5-601C-16EC-DFBA1E91E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856" y="4440066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B0356808-37E3-028B-C678-A3EEF63CBD3A}"/>
              </a:ext>
            </a:extLst>
          </p:cNvPr>
          <p:cNvCxnSpPr>
            <a:cxnSpLocks/>
          </p:cNvCxnSpPr>
          <p:nvPr/>
        </p:nvCxnSpPr>
        <p:spPr>
          <a:xfrm flipH="1">
            <a:off x="4982370" y="3115642"/>
            <a:ext cx="216948" cy="898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F32E2168-5E23-EBBF-437D-E375F79A6FF4}"/>
              </a:ext>
            </a:extLst>
          </p:cNvPr>
          <p:cNvCxnSpPr>
            <a:cxnSpLocks/>
          </p:cNvCxnSpPr>
          <p:nvPr/>
        </p:nvCxnSpPr>
        <p:spPr>
          <a:xfrm>
            <a:off x="6540438" y="3115642"/>
            <a:ext cx="265993" cy="898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표 139">
            <a:extLst>
              <a:ext uri="{FF2B5EF4-FFF2-40B4-BE49-F238E27FC236}">
                <a16:creationId xmlns:a16="http://schemas.microsoft.com/office/drawing/2014/main" id="{5DFAFA17-5C23-37E7-66B9-18971376A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426217"/>
              </p:ext>
            </p:extLst>
          </p:nvPr>
        </p:nvGraphicFramePr>
        <p:xfrm>
          <a:off x="4982370" y="4014310"/>
          <a:ext cx="1824060" cy="19812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266010">
                  <a:extLst>
                    <a:ext uri="{9D8B030D-6E8A-4147-A177-3AD203B41FA5}">
                      <a16:colId xmlns:a16="http://schemas.microsoft.com/office/drawing/2014/main" val="4259030267"/>
                    </a:ext>
                  </a:extLst>
                </a:gridCol>
                <a:gridCol w="611618">
                  <a:extLst>
                    <a:ext uri="{9D8B030D-6E8A-4147-A177-3AD203B41FA5}">
                      <a16:colId xmlns:a16="http://schemas.microsoft.com/office/drawing/2014/main" val="3615227361"/>
                    </a:ext>
                  </a:extLst>
                </a:gridCol>
                <a:gridCol w="260392">
                  <a:extLst>
                    <a:ext uri="{9D8B030D-6E8A-4147-A177-3AD203B41FA5}">
                      <a16:colId xmlns:a16="http://schemas.microsoft.com/office/drawing/2014/main" val="2983277946"/>
                    </a:ext>
                  </a:extLst>
                </a:gridCol>
                <a:gridCol w="411783">
                  <a:extLst>
                    <a:ext uri="{9D8B030D-6E8A-4147-A177-3AD203B41FA5}">
                      <a16:colId xmlns:a16="http://schemas.microsoft.com/office/drawing/2014/main" val="61038091"/>
                    </a:ext>
                  </a:extLst>
                </a:gridCol>
                <a:gridCol w="274257">
                  <a:extLst>
                    <a:ext uri="{9D8B030D-6E8A-4147-A177-3AD203B41FA5}">
                      <a16:colId xmlns:a16="http://schemas.microsoft.com/office/drawing/2014/main" val="1888226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...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prev path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...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*MK*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...</a:t>
                      </a:r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097059"/>
                  </a:ext>
                </a:extLst>
              </a:tr>
            </a:tbl>
          </a:graphicData>
        </a:graphic>
      </p:graphicFrame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05E5C953-9300-F9FD-912C-7555CB35C98A}"/>
              </a:ext>
            </a:extLst>
          </p:cNvPr>
          <p:cNvCxnSpPr>
            <a:cxnSpLocks/>
          </p:cNvCxnSpPr>
          <p:nvPr/>
        </p:nvCxnSpPr>
        <p:spPr>
          <a:xfrm flipH="1">
            <a:off x="5144130" y="4212430"/>
            <a:ext cx="176726" cy="683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D31BC4AB-D5F9-5856-130E-2E135F939139}"/>
              </a:ext>
            </a:extLst>
          </p:cNvPr>
          <p:cNvCxnSpPr>
            <a:cxnSpLocks/>
            <a:stCxn id="17" idx="2"/>
            <a:endCxn id="132" idx="1"/>
          </p:cNvCxnSpPr>
          <p:nvPr/>
        </p:nvCxnSpPr>
        <p:spPr>
          <a:xfrm>
            <a:off x="1607748" y="3564976"/>
            <a:ext cx="3064466" cy="1416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7FC6E58-68C8-3862-40F3-109E21EFD947}"/>
              </a:ext>
            </a:extLst>
          </p:cNvPr>
          <p:cNvSpPr txBox="1"/>
          <p:nvPr/>
        </p:nvSpPr>
        <p:spPr>
          <a:xfrm rot="1578270">
            <a:off x="2415551" y="4008819"/>
            <a:ext cx="9813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current process path</a:t>
            </a:r>
            <a:endParaRPr lang="ko-KR" altLang="en-US" sz="1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9ADCD1A5-BCD3-1642-9782-570786116F0A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4734982" y="2380142"/>
            <a:ext cx="464336" cy="194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설명선: 굽은 선 22">
            <a:extLst>
              <a:ext uri="{FF2B5EF4-FFF2-40B4-BE49-F238E27FC236}">
                <a16:creationId xmlns:a16="http://schemas.microsoft.com/office/drawing/2014/main" id="{D4C4A36C-4F89-2F25-52ED-B602766B28B0}"/>
              </a:ext>
            </a:extLst>
          </p:cNvPr>
          <p:cNvSpPr/>
          <p:nvPr/>
        </p:nvSpPr>
        <p:spPr>
          <a:xfrm>
            <a:off x="3088998" y="924753"/>
            <a:ext cx="684747" cy="315555"/>
          </a:xfrm>
          <a:prstGeom prst="borderCallout2">
            <a:avLst>
              <a:gd name="adj1" fmla="val 47179"/>
              <a:gd name="adj2" fmla="val -1190"/>
              <a:gd name="adj3" fmla="val 179112"/>
              <a:gd name="adj4" fmla="val -33944"/>
              <a:gd name="adj5" fmla="val 359558"/>
              <a:gd name="adj6" fmla="val 84754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8B8AB-C36F-E87C-61AF-D0B34E681A2C}"/>
              </a:ext>
            </a:extLst>
          </p:cNvPr>
          <p:cNvSpPr txBox="1"/>
          <p:nvPr/>
        </p:nvSpPr>
        <p:spPr>
          <a:xfrm>
            <a:off x="3056909" y="987430"/>
            <a:ext cx="7489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impersonation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E6F6FB-E362-7946-CDC0-A8F1781B0523}"/>
              </a:ext>
            </a:extLst>
          </p:cNvPr>
          <p:cNvSpPr txBox="1"/>
          <p:nvPr/>
        </p:nvSpPr>
        <p:spPr>
          <a:xfrm rot="19692155">
            <a:off x="1535228" y="2142462"/>
            <a:ext cx="147989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solidFill>
                  <a:schemeClr val="accent3">
                    <a:lumMod val="7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with. app_bound_encryption_key</a:t>
            </a:r>
            <a:endParaRPr lang="ko-KR" altLang="en-US" sz="600">
              <a:solidFill>
                <a:schemeClr val="accent3">
                  <a:lumMod val="75000"/>
                </a:schemeClr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91577EC-A212-AADB-3C63-CF91FBE4E7A6}"/>
              </a:ext>
            </a:extLst>
          </p:cNvPr>
          <p:cNvCxnSpPr>
            <a:cxnSpLocks/>
          </p:cNvCxnSpPr>
          <p:nvPr/>
        </p:nvCxnSpPr>
        <p:spPr>
          <a:xfrm flipH="1">
            <a:off x="1780926" y="2073876"/>
            <a:ext cx="1223593" cy="746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D29EABE-E11B-9C03-0005-7B746D604852}"/>
              </a:ext>
            </a:extLst>
          </p:cNvPr>
          <p:cNvSpPr txBox="1"/>
          <p:nvPr/>
        </p:nvSpPr>
        <p:spPr>
          <a:xfrm rot="19658769">
            <a:off x="2300135" y="2369843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blob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EE6B0-7D6E-D41B-8E5A-8D360AB45FB8}"/>
              </a:ext>
            </a:extLst>
          </p:cNvPr>
          <p:cNvSpPr txBox="1"/>
          <p:nvPr/>
        </p:nvSpPr>
        <p:spPr>
          <a:xfrm rot="19652731">
            <a:off x="2089857" y="2413724"/>
            <a:ext cx="8835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[out]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== pure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*MK*</a:t>
            </a:r>
            <a:endParaRPr lang="ko-KR" altLang="en-US" sz="6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EAE6E4-EDE6-5D75-08EB-8FB588B518F8}"/>
              </a:ext>
            </a:extLst>
          </p:cNvPr>
          <p:cNvSpPr txBox="1"/>
          <p:nvPr/>
        </p:nvSpPr>
        <p:spPr>
          <a:xfrm rot="726329">
            <a:off x="3870077" y="2286356"/>
            <a:ext cx="8659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[out]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==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*pureMK*</a:t>
            </a:r>
            <a:endParaRPr lang="ko-KR" altLang="en-US" sz="6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3779E20-7F12-F505-A51F-21AED2F9058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99070" y="3096006"/>
            <a:ext cx="41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5F52F1-0308-74A2-EFF8-5454CDB6EBFC}"/>
              </a:ext>
            </a:extLst>
          </p:cNvPr>
          <p:cNvSpPr txBox="1"/>
          <p:nvPr/>
        </p:nvSpPr>
        <p:spPr>
          <a:xfrm>
            <a:off x="23586" y="2994169"/>
            <a:ext cx="8579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페이퍼로지 3 Light" pitchFamily="2" charset="-127"/>
                <a:ea typeface="페이퍼로지 3 Light" pitchFamily="2" charset="-127"/>
              </a:rPr>
              <a:t>자동 채우기 요청</a:t>
            </a:r>
          </a:p>
        </p:txBody>
      </p:sp>
    </p:spTree>
    <p:extLst>
      <p:ext uri="{BB962C8B-B14F-4D97-AF65-F5344CB8AC3E}">
        <p14:creationId xmlns:p14="http://schemas.microsoft.com/office/powerpoint/2010/main" val="273925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/>
      <p:bldP spid="14" grpId="0"/>
      <p:bldP spid="19" grpId="0"/>
      <p:bldP spid="42" grpId="0"/>
      <p:bldP spid="48" grpId="0"/>
      <p:bldP spid="49" grpId="0"/>
      <p:bldP spid="50" grpId="0"/>
      <p:bldP spid="53" grpId="0"/>
      <p:bldP spid="54" grpId="0"/>
      <p:bldP spid="55" grpId="0"/>
      <p:bldP spid="132" grpId="0"/>
      <p:bldP spid="150" grpId="0"/>
      <p:bldP spid="23" grpId="0" animBg="1"/>
      <p:bldP spid="24" grpId="0"/>
      <p:bldP spid="37" grpId="0"/>
      <p:bldP spid="45" grpId="0"/>
      <p:bldP spid="5" grpId="0"/>
      <p:bldP spid="20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3F0B7B4-5EA1-DD79-96A2-D3E5867A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59E1A3E-762B-341C-F2FD-A9929FC7B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flow: Chrome Password Decrypt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89B0062-C5BA-A2CC-3CAA-F66DB2504FB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9C03C3-8428-0A52-B41F-816613589FCC}"/>
              </a:ext>
            </a:extLst>
          </p:cNvPr>
          <p:cNvSpPr/>
          <p:nvPr/>
        </p:nvSpPr>
        <p:spPr>
          <a:xfrm>
            <a:off x="5086189" y="1524417"/>
            <a:ext cx="1341120" cy="545919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password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326503-F750-E6DC-5730-7E03BE8794B4}"/>
              </a:ext>
            </a:extLst>
          </p:cNvPr>
          <p:cNvSpPr/>
          <p:nvPr/>
        </p:nvSpPr>
        <p:spPr>
          <a:xfrm>
            <a:off x="4684331" y="1207488"/>
            <a:ext cx="2144837" cy="91703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F15F0-3FB4-7D78-7C33-C8C71E807F13}"/>
              </a:ext>
            </a:extLst>
          </p:cNvPr>
          <p:cNvSpPr txBox="1"/>
          <p:nvPr/>
        </p:nvSpPr>
        <p:spPr>
          <a:xfrm>
            <a:off x="4739873" y="1209798"/>
            <a:ext cx="1980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AES-256-GCM Encrypted blob </a:t>
            </a:r>
            <a:br>
              <a:rPr lang="en-US" altLang="ko-KR" sz="800"/>
            </a:br>
            <a:r>
              <a:rPr lang="en-US" altLang="ko-KR" sz="800"/>
              <a:t>(not equal DPAPI_BLOB)</a:t>
            </a:r>
            <a:endParaRPr lang="ko-KR" altLang="en-US" sz="800"/>
          </a:p>
        </p:txBody>
      </p:sp>
      <p:pic>
        <p:nvPicPr>
          <p:cNvPr id="16" name="그림 15" descr="3d fluency style application icon">
            <a:extLst>
              <a:ext uri="{FF2B5EF4-FFF2-40B4-BE49-F238E27FC236}">
                <a16:creationId xmlns:a16="http://schemas.microsoft.com/office/drawing/2014/main" id="{4E5381CF-FAF0-B9A8-616C-6803E6397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" t="12999" r="5483" b="16371"/>
          <a:stretch>
            <a:fillRect/>
          </a:stretch>
        </p:blipFill>
        <p:spPr>
          <a:xfrm>
            <a:off x="1974232" y="1955331"/>
            <a:ext cx="770966" cy="577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B575A1-E6B9-146B-ED9B-A64D9305F3ED}"/>
              </a:ext>
            </a:extLst>
          </p:cNvPr>
          <p:cNvSpPr txBox="1"/>
          <p:nvPr/>
        </p:nvSpPr>
        <p:spPr>
          <a:xfrm>
            <a:off x="1992941" y="2476262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chrome.exe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F104286-FE16-F829-37AC-69199F98A0E5}"/>
              </a:ext>
            </a:extLst>
          </p:cNvPr>
          <p:cNvCxnSpPr>
            <a:cxnSpLocks/>
            <a:stCxn id="172" idx="3"/>
            <a:endCxn id="161" idx="1"/>
          </p:cNvCxnSpPr>
          <p:nvPr/>
        </p:nvCxnSpPr>
        <p:spPr>
          <a:xfrm>
            <a:off x="1466095" y="1541485"/>
            <a:ext cx="399642" cy="3908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44E7B6E-28B0-3D93-4473-A7510DA97F9C}"/>
              </a:ext>
            </a:extLst>
          </p:cNvPr>
          <p:cNvSpPr txBox="1"/>
          <p:nvPr/>
        </p:nvSpPr>
        <p:spPr>
          <a:xfrm>
            <a:off x="924969" y="1389258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blob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57D3149-E57E-A72B-DC8D-52460AB424C7}"/>
              </a:ext>
            </a:extLst>
          </p:cNvPr>
          <p:cNvCxnSpPr>
            <a:cxnSpLocks/>
          </p:cNvCxnSpPr>
          <p:nvPr/>
        </p:nvCxnSpPr>
        <p:spPr>
          <a:xfrm flipH="1">
            <a:off x="3418702" y="2124526"/>
            <a:ext cx="1265629" cy="72582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36605A6-0231-3CC9-463D-3EB5B3C753AA}"/>
              </a:ext>
            </a:extLst>
          </p:cNvPr>
          <p:cNvCxnSpPr>
            <a:cxnSpLocks/>
          </p:cNvCxnSpPr>
          <p:nvPr/>
        </p:nvCxnSpPr>
        <p:spPr>
          <a:xfrm>
            <a:off x="6216272" y="2143967"/>
            <a:ext cx="1825502" cy="70638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B36F883-E6D6-E331-E421-ACBA106A2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62374"/>
              </p:ext>
            </p:extLst>
          </p:nvPr>
        </p:nvGraphicFramePr>
        <p:xfrm>
          <a:off x="3418702" y="2850353"/>
          <a:ext cx="4623072" cy="2133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56736">
                  <a:extLst>
                    <a:ext uri="{9D8B030D-6E8A-4147-A177-3AD203B41FA5}">
                      <a16:colId xmlns:a16="http://schemas.microsoft.com/office/drawing/2014/main" val="3993535162"/>
                    </a:ext>
                  </a:extLst>
                </a:gridCol>
                <a:gridCol w="1202724">
                  <a:extLst>
                    <a:ext uri="{9D8B030D-6E8A-4147-A177-3AD203B41FA5}">
                      <a16:colId xmlns:a16="http://schemas.microsoft.com/office/drawing/2014/main" val="3507992241"/>
                    </a:ext>
                  </a:extLst>
                </a:gridCol>
                <a:gridCol w="1614616">
                  <a:extLst>
                    <a:ext uri="{9D8B030D-6E8A-4147-A177-3AD203B41FA5}">
                      <a16:colId xmlns:a16="http://schemas.microsoft.com/office/drawing/2014/main" val="1794147129"/>
                    </a:ext>
                  </a:extLst>
                </a:gridCol>
                <a:gridCol w="948996">
                  <a:extLst>
                    <a:ext uri="{9D8B030D-6E8A-4147-A177-3AD203B41FA5}">
                      <a16:colId xmlns:a16="http://schemas.microsoft.com/office/drawing/2014/main" val="2616451321"/>
                    </a:ext>
                  </a:extLst>
                </a:gridCol>
              </a:tblGrid>
              <a:tr h="1341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4 Regular" pitchFamily="2" charset="-127"/>
                          <a:ea typeface="페이퍼로지 4 Regular" pitchFamily="2" charset="-127"/>
                        </a:rPr>
                        <a:t>Prefix (3 byte)</a:t>
                      </a:r>
                      <a:endParaRPr lang="ko-KR" altLang="en-US" sz="8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4 Regular" pitchFamily="2" charset="-127"/>
                          <a:ea typeface="페이퍼로지 4 Regular" pitchFamily="2" charset="-127"/>
                        </a:rPr>
                        <a:t>Nonce (IV) (12 byte)</a:t>
                      </a:r>
                      <a:endParaRPr lang="ko-KR" altLang="en-US" sz="8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4 Regular" pitchFamily="2" charset="-127"/>
                          <a:ea typeface="페이퍼로지 4 Regular" pitchFamily="2" charset="-127"/>
                        </a:rPr>
                        <a:t>Ciphertext (var)</a:t>
                      </a:r>
                      <a:endParaRPr lang="ko-KR" altLang="en-US" sz="8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페이퍼로지 4 Regular" pitchFamily="2" charset="-127"/>
                          <a:ea typeface="페이퍼로지 4 Regular" pitchFamily="2" charset="-127"/>
                        </a:rPr>
                        <a:t>MAC (16 byte)</a:t>
                      </a:r>
                      <a:endParaRPr lang="ko-KR" altLang="en-US" sz="8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244907"/>
                  </a:ext>
                </a:extLst>
              </a:tr>
            </a:tbl>
          </a:graphicData>
        </a:graphic>
      </p:graphicFrame>
      <p:pic>
        <p:nvPicPr>
          <p:cNvPr id="128" name="그림 127">
            <a:extLst>
              <a:ext uri="{FF2B5EF4-FFF2-40B4-BE49-F238E27FC236}">
                <a16:creationId xmlns:a16="http://schemas.microsoft.com/office/drawing/2014/main" id="{92D60758-9CB1-189F-03C5-1CE6C5586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702" y="3402360"/>
            <a:ext cx="4623072" cy="108778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81E3439-DD4E-E610-3FA4-4F0507FD3238}"/>
              </a:ext>
            </a:extLst>
          </p:cNvPr>
          <p:cNvCxnSpPr>
            <a:cxnSpLocks/>
          </p:cNvCxnSpPr>
          <p:nvPr/>
        </p:nvCxnSpPr>
        <p:spPr>
          <a:xfrm>
            <a:off x="5749925" y="3526960"/>
            <a:ext cx="0" cy="83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9339A590-15FD-2C7E-7154-E3E4420A6EF5}"/>
              </a:ext>
            </a:extLst>
          </p:cNvPr>
          <p:cNvCxnSpPr>
            <a:cxnSpLocks/>
          </p:cNvCxnSpPr>
          <p:nvPr/>
        </p:nvCxnSpPr>
        <p:spPr>
          <a:xfrm>
            <a:off x="7204075" y="3526960"/>
            <a:ext cx="0" cy="83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1A08BB71-16EF-5020-D3C6-2DD86801C93E}"/>
              </a:ext>
            </a:extLst>
          </p:cNvPr>
          <p:cNvCxnSpPr>
            <a:cxnSpLocks/>
          </p:cNvCxnSpPr>
          <p:nvPr/>
        </p:nvCxnSpPr>
        <p:spPr>
          <a:xfrm>
            <a:off x="7083425" y="3604430"/>
            <a:ext cx="0" cy="83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334F3FD8-9BEF-0453-CDAF-2B703A5E12ED}"/>
              </a:ext>
            </a:extLst>
          </p:cNvPr>
          <p:cNvCxnSpPr>
            <a:cxnSpLocks/>
            <a:stCxn id="161" idx="3"/>
            <a:endCxn id="62" idx="1"/>
          </p:cNvCxnSpPr>
          <p:nvPr/>
        </p:nvCxnSpPr>
        <p:spPr>
          <a:xfrm>
            <a:off x="2885568" y="1932369"/>
            <a:ext cx="533134" cy="1024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B8FE6C0E-AFA4-C227-453E-243A4268C58F}"/>
              </a:ext>
            </a:extLst>
          </p:cNvPr>
          <p:cNvSpPr txBox="1"/>
          <p:nvPr/>
        </p:nvSpPr>
        <p:spPr>
          <a:xfrm rot="3846576">
            <a:off x="2923738" y="2306568"/>
            <a:ext cx="5806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latin typeface="페이퍼로지 3 Light" pitchFamily="2" charset="-127"/>
                <a:ea typeface="페이퍼로지 3 Light" pitchFamily="2" charset="-127"/>
              </a:rPr>
              <a:t>**extract**</a:t>
            </a:r>
            <a:endParaRPr lang="ko-KR" altLang="en-US" sz="600">
              <a:latin typeface="페이퍼로지 3 Light" pitchFamily="2" charset="-127"/>
              <a:ea typeface="페이퍼로지 3 Light" pitchFamily="2" charset="-127"/>
            </a:endParaRPr>
          </a:p>
        </p:txBody>
      </p:sp>
      <p:pic>
        <p:nvPicPr>
          <p:cNvPr id="153" name="그림 152" descr="3d fluency style application icon">
            <a:extLst>
              <a:ext uri="{FF2B5EF4-FFF2-40B4-BE49-F238E27FC236}">
                <a16:creationId xmlns:a16="http://schemas.microsoft.com/office/drawing/2014/main" id="{01A4041C-864A-091E-BFFC-1E654108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" t="12999" r="5483" b="16371"/>
          <a:stretch>
            <a:fillRect/>
          </a:stretch>
        </p:blipFill>
        <p:spPr>
          <a:xfrm>
            <a:off x="716742" y="3245339"/>
            <a:ext cx="2278755" cy="1706777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495BA654-D5DC-DF89-2F51-68D5C0947644}"/>
              </a:ext>
            </a:extLst>
          </p:cNvPr>
          <p:cNvSpPr txBox="1"/>
          <p:nvPr/>
        </p:nvSpPr>
        <p:spPr>
          <a:xfrm>
            <a:off x="1856119" y="3553729"/>
            <a:ext cx="10294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Browser</a:t>
            </a:r>
            <a:r>
              <a:rPr lang="ko-KR" altLang="en-US" sz="800"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Process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3FEB880-0CBC-684E-FA0D-29958960E6F7}"/>
              </a:ext>
            </a:extLst>
          </p:cNvPr>
          <p:cNvSpPr txBox="1"/>
          <p:nvPr/>
        </p:nvSpPr>
        <p:spPr>
          <a:xfrm>
            <a:off x="2050883" y="4080860"/>
            <a:ext cx="6399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Mojo IPC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341E9EC-7DE7-58BE-1331-EF379AE74F09}"/>
              </a:ext>
            </a:extLst>
          </p:cNvPr>
          <p:cNvSpPr txBox="1"/>
          <p:nvPr/>
        </p:nvSpPr>
        <p:spPr>
          <a:xfrm>
            <a:off x="1844990" y="4573418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Renderer Process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C67607E-43AD-EF43-139D-4603D311B2B2}"/>
              </a:ext>
            </a:extLst>
          </p:cNvPr>
          <p:cNvSpPr txBox="1"/>
          <p:nvPr/>
        </p:nvSpPr>
        <p:spPr>
          <a:xfrm>
            <a:off x="1865737" y="1840036"/>
            <a:ext cx="10198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&gt; Processing / Parsing</a:t>
            </a:r>
            <a:endParaRPr lang="ko-KR" altLang="en-US" sz="6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62" name="화살표: 아래쪽 161">
            <a:extLst>
              <a:ext uri="{FF2B5EF4-FFF2-40B4-BE49-F238E27FC236}">
                <a16:creationId xmlns:a16="http://schemas.microsoft.com/office/drawing/2014/main" id="{9067DB13-4A87-2875-9164-5C55CB6A6D88}"/>
              </a:ext>
            </a:extLst>
          </p:cNvPr>
          <p:cNvSpPr/>
          <p:nvPr/>
        </p:nvSpPr>
        <p:spPr>
          <a:xfrm>
            <a:off x="2304586" y="3816197"/>
            <a:ext cx="123567" cy="26891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화살표: 아래쪽 162">
            <a:extLst>
              <a:ext uri="{FF2B5EF4-FFF2-40B4-BE49-F238E27FC236}">
                <a16:creationId xmlns:a16="http://schemas.microsoft.com/office/drawing/2014/main" id="{1C71D605-E54F-5499-D08F-33DC2D5F58F1}"/>
              </a:ext>
            </a:extLst>
          </p:cNvPr>
          <p:cNvSpPr/>
          <p:nvPr/>
        </p:nvSpPr>
        <p:spPr>
          <a:xfrm>
            <a:off x="2297931" y="4304506"/>
            <a:ext cx="123567" cy="26891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5D2EC60D-5B70-7F3D-4AF4-62701ABBFE7A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2745198" y="2244056"/>
            <a:ext cx="673504" cy="819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EB4B884F-0D70-E8E4-7291-C0BE43761DD0}"/>
              </a:ext>
            </a:extLst>
          </p:cNvPr>
          <p:cNvCxnSpPr>
            <a:stCxn id="17" idx="2"/>
            <a:endCxn id="153" idx="0"/>
          </p:cNvCxnSpPr>
          <p:nvPr/>
        </p:nvCxnSpPr>
        <p:spPr>
          <a:xfrm flipH="1">
            <a:off x="1856120" y="2691706"/>
            <a:ext cx="533725" cy="5536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B824872E-1334-8EAD-CD5E-BF57D4590FF7}"/>
              </a:ext>
            </a:extLst>
          </p:cNvPr>
          <p:cNvSpPr txBox="1"/>
          <p:nvPr/>
        </p:nvSpPr>
        <p:spPr>
          <a:xfrm>
            <a:off x="2101848" y="2101893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*MK*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54E6D58-D5A3-8D13-16D2-97634341A9E5}"/>
              </a:ext>
            </a:extLst>
          </p:cNvPr>
          <p:cNvSpPr txBox="1"/>
          <p:nvPr/>
        </p:nvSpPr>
        <p:spPr>
          <a:xfrm>
            <a:off x="781292" y="1449152"/>
            <a:ext cx="6848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[out]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==</a:t>
            </a:r>
            <a:r>
              <a:rPr lang="ko-KR" altLang="en-US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en-US" altLang="ko-KR" sz="6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*MK*</a:t>
            </a:r>
            <a:endParaRPr lang="ko-KR" altLang="en-US" sz="6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36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3FD8199-21C6-71B1-DCAF-CE8B5679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45E6DB8-8926-2284-467E-B140375B763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800"/>
              <a:t>machine masterkeys in C:\Windows\System32\Microsoft\Protect\S-1-5-18\User</a:t>
            </a:r>
            <a:endParaRPr lang="en-US" altLang="ko-KR" sz="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암호화 대상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: Credentials , Vault , DPAPI blob , RSA / NGC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Credentials 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대부분의 시스템에는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Windows Live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응용 프로그램에 대한 정보를 저장하는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didlogical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이라는 자격 증명도 존재함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.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 Windows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는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One Drive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및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 Skype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토큰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, RDP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자격 증명과 같은 사용자별 자격 증명도 여기에 저장한다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. 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머신 자격 증명도 존재함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. e.g.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비대화형 로그온을 사용하는 예약 작업을 생성할 때 사용자 자격 증명은 이러한 형식으로 암호화됨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. 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&gt;&gt;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사용자 자격 증명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 PATH: C:\Users\user\AppData\Local\Microsoft\Credentials\(system files)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Wingdings" panose="05000000000000000000" pitchFamily="2" charset="2"/>
              </a:rPr>
              <a:t>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Wingdings" panose="05000000000000000000" pitchFamily="2" charset="2"/>
              </a:rPr>
              <a:t>지우면 다시 로그인 해야 함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&gt;&gt; 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시스템 자격 증명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PATH: C:\Windows\System32\config\systemprofile\AppData\Local\Microsoft\Credentials\(system files)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Vault</a:t>
            </a: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&gt; </a:t>
            </a:r>
            <a:endParaRPr lang="en-US" altLang="ko-KR" sz="800"/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06E3F5D-5B43-16F6-ECC6-BA194E557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Note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D9DB13-755E-26CB-7D31-FE9AB1CC112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04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1328</TotalTime>
  <Words>2314</Words>
  <Application>Microsoft Office PowerPoint</Application>
  <PresentationFormat>화면 슬라이드 쇼(16:9)</PresentationFormat>
  <Paragraphs>331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페이퍼로지 2 ExtraLight</vt:lpstr>
      <vt:lpstr>Arial</vt:lpstr>
      <vt:lpstr>맑은 고딕</vt:lpstr>
      <vt:lpstr>Montserrat Medium</vt:lpstr>
      <vt:lpstr>페이퍼로지 4 Regular</vt:lpstr>
      <vt:lpstr>페이퍼로지 6 SemiBold</vt:lpstr>
      <vt:lpstr>페이퍼로지 3 Light</vt:lpstr>
      <vt:lpstr>페이퍼로지 1 Thin</vt:lpstr>
      <vt:lpstr>Montserrat</vt:lpstr>
      <vt:lpstr>Wingdings</vt:lpstr>
      <vt:lpstr>Energy Infographics by Slidesgo</vt:lpstr>
      <vt:lpstr>about.  DPAPI</vt:lpstr>
      <vt:lpstr>contents</vt:lpstr>
      <vt:lpstr>Overview</vt:lpstr>
      <vt:lpstr>Overview</vt:lpstr>
      <vt:lpstr>Overview</vt:lpstr>
      <vt:lpstr>Operation</vt:lpstr>
      <vt:lpstr>Operation</vt:lpstr>
      <vt:lpstr>LSA</vt:lpstr>
      <vt:lpstr>Keys</vt:lpstr>
      <vt:lpstr>Keys</vt:lpstr>
      <vt:lpstr>Layer / Flow</vt:lpstr>
      <vt:lpstr>blob</vt:lpstr>
      <vt:lpstr>extra: blob</vt:lpstr>
      <vt:lpstr>blob example</vt:lpstr>
      <vt:lpstr>Functions</vt:lpstr>
      <vt:lpstr>flow: Chrome Password Decrypt</vt:lpstr>
      <vt:lpstr>flow: Chrome Password Decrypt</vt:lpstr>
      <vt:lpstr>Note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613</cp:revision>
  <dcterms:created xsi:type="dcterms:W3CDTF">2026-02-25T09:00:40Z</dcterms:created>
  <dcterms:modified xsi:type="dcterms:W3CDTF">2026-05-19T14:33:42Z</dcterms:modified>
</cp:coreProperties>
</file>