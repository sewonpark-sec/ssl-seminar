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2" r:id="rId1"/>
  </p:sldMasterIdLst>
  <p:notesMasterIdLst>
    <p:notesMasterId r:id="rId28"/>
  </p:notesMasterIdLst>
  <p:sldIdLst>
    <p:sldId id="256" r:id="rId2"/>
    <p:sldId id="422" r:id="rId3"/>
    <p:sldId id="345" r:id="rId4"/>
    <p:sldId id="410" r:id="rId5"/>
    <p:sldId id="423" r:id="rId6"/>
    <p:sldId id="446" r:id="rId7"/>
    <p:sldId id="456" r:id="rId8"/>
    <p:sldId id="439" r:id="rId9"/>
    <p:sldId id="454" r:id="rId10"/>
    <p:sldId id="421" r:id="rId11"/>
    <p:sldId id="437" r:id="rId12"/>
    <p:sldId id="411" r:id="rId13"/>
    <p:sldId id="440" r:id="rId14"/>
    <p:sldId id="441" r:id="rId15"/>
    <p:sldId id="442" r:id="rId16"/>
    <p:sldId id="443" r:id="rId17"/>
    <p:sldId id="444" r:id="rId18"/>
    <p:sldId id="415" r:id="rId19"/>
    <p:sldId id="455" r:id="rId20"/>
    <p:sldId id="452" r:id="rId21"/>
    <p:sldId id="424" r:id="rId22"/>
    <p:sldId id="453" r:id="rId23"/>
    <p:sldId id="412" r:id="rId24"/>
    <p:sldId id="438" r:id="rId25"/>
    <p:sldId id="435" r:id="rId26"/>
    <p:sldId id="287" r:id="rId27"/>
  </p:sldIdLst>
  <p:sldSz cx="9144000" cy="5143500" type="screen16x9"/>
  <p:notesSz cx="6858000" cy="9144000"/>
  <p:embeddedFontLst>
    <p:embeddedFont>
      <p:font typeface="D2Coding" panose="020B0609020101020101" pitchFamily="49" charset="-127"/>
      <p:regular r:id="rId29"/>
      <p:bold r:id="rId30"/>
    </p:embeddedFont>
    <p:embeddedFont>
      <p:font typeface="Montserrat" panose="00000500000000000000" pitchFamily="2" charset="0"/>
      <p:regular r:id="rId31"/>
      <p:bold r:id="rId32"/>
      <p:italic r:id="rId33"/>
      <p:boldItalic r:id="rId34"/>
    </p:embeddedFont>
    <p:embeddedFont>
      <p:font typeface="Montserrat Medium" panose="00000600000000000000" pitchFamily="2" charset="0"/>
      <p:regular r:id="rId35"/>
      <p:bold r:id="rId36"/>
      <p:italic r:id="rId37"/>
      <p:boldItalic r:id="rId38"/>
    </p:embeddedFont>
    <p:embeddedFont>
      <p:font typeface="맑은 고딕" panose="020B0503020000020004" pitchFamily="50" charset="-127"/>
      <p:regular r:id="rId39"/>
      <p:bold r:id="rId40"/>
    </p:embeddedFont>
    <p:embeddedFont>
      <p:font typeface="페이퍼로지 1 Thin" pitchFamily="2" charset="-127"/>
      <p:regular r:id="rId41"/>
    </p:embeddedFont>
    <p:embeddedFont>
      <p:font typeface="페이퍼로지 2 ExtraLight" pitchFamily="2" charset="-127"/>
      <p:regular r:id="rId42"/>
    </p:embeddedFont>
    <p:embeddedFont>
      <p:font typeface="페이퍼로지 3 Light" pitchFamily="2" charset="-127"/>
      <p:regular r:id="rId43"/>
    </p:embeddedFont>
    <p:embeddedFont>
      <p:font typeface="페이퍼로지 4 Regular" pitchFamily="2" charset="-127"/>
      <p:regular r:id="rId44"/>
    </p:embeddedFont>
    <p:embeddedFont>
      <p:font typeface="페이퍼로지 6 SemiBold" pitchFamily="2" charset="-127"/>
      <p:bold r:id="rId45"/>
    </p:embeddedFont>
    <p:embeddedFont>
      <p:font typeface="페이퍼로지 7 Bold" pitchFamily="2" charset="-127"/>
      <p:bold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7202"/>
    <a:srgbClr val="8F981A"/>
    <a:srgbClr val="9933FF"/>
    <a:srgbClr val="009900"/>
    <a:srgbClr val="FFFFFF"/>
    <a:srgbClr val="8DB6FA"/>
    <a:srgbClr val="33CC33"/>
    <a:srgbClr val="92D050"/>
    <a:srgbClr val="00B0F0"/>
    <a:srgbClr val="33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D96753-9D45-4FE6-9178-F3E63956B4D6}">
  <a:tblStyle styleId="{08D96753-9D45-4FE6-9178-F3E63956B4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3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9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페이퍼로지 4 Regular" pitchFamily="2" charset="-127"/>
        <a:ea typeface="페이퍼로지 4 Regular" pitchFamily="2" charset="-127"/>
        <a:cs typeface="Arial"/>
        <a:sym typeface="Arial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71cdfcaf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71cdfcaf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877641A4-331F-F0DC-4B76-937B99041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2E9A4982-8B50-B353-7E87-2E38EC0B1B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FCBCCD20-B2FC-B7D8-5F7C-E2B483EF35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9005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5DBE520-CDFC-E8C5-EEBD-C90BF4F0D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55358D2-3B03-894F-00B1-0A53434853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84E2CFD-BA4C-F1A5-B72B-FFC3028F43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https://docs.google.com/drawings/d/1TuECFL9K7J5q5UePJLC-YH3satvb1RrjLRH-tW_VKeE/edit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26701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E55C5227-C226-41B0-02F1-9DBE0939E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DDB79DD3-330A-6CE9-1FAE-25951D15F6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D0F0019E-859D-57BD-3DF3-9EA01F7E18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https://github.com/runassu/chrome_v20_decryption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25998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E740B62-E56A-0FF4-3A8C-25450E289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8DC307A1-DBAD-6C11-C461-1D742A7D53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628DAE06-9109-C85A-B043-456AA637A8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https://chromium.googlesource.com/chromium/src/+/HEAD/mojo/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42616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2EA82B40-F7CE-F01B-34D0-01AE9A0C8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E58E2F04-AF3B-962A-BD30-A8AB22D901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BD09ECB6-97B7-4A88-EDFC-A9552614ED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216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ABD30DF6-A24A-2289-D71A-768FE07B0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70B1D2BE-6FAC-5E27-969F-DC833EC9E1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4AAAB81F-CF37-AD58-DB0B-039D417DBE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71809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ED9E058A-60DB-91B0-C059-B8506338B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0B4263C2-C29D-7ADC-9329-9B496FCCC3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916EFB1D-4672-F30C-B73D-7AE206FD38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ko-KR"/>
              <a:t>https://chromium.googlesource.com/chromium/src/+/HEAD/mojo/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32017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BC9D5A33-9D72-D5EB-CB02-B908994C8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B2F07161-EE47-C6AE-3C50-1EFC4CF698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BA22CB6A-653F-8ECF-B8BB-843D135DBF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32880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F79841E5-7387-565D-40B6-1A4E0A3E3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D0E06BD1-7365-008C-17DB-48B97A12E9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9E53E03C-A3DD-201D-1AF1-E9F3ECCF75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50337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1654B385-0755-1397-37F5-7A05193EB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AF62F200-F8FB-21B9-979E-FFEFEA20AC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A911C68-CC9D-F030-8A57-6D8FA9E00B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ko-KR"/>
              <a:t>https://chromium.googlesource.com/chromium/src/+/HEAD/chrome/elevation_service/elevator.cc#74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64802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1A960C6C-1B79-E0BA-D5EC-6477FBA52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775775C-2D03-C4C4-AC94-32FF0844AE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5533EB46-01F0-95D1-2C0F-9528C81BAC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https://chromium.googlesource.com/chromium/src/+/HEAD/chrome/elevation_service/elevator.cc#74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394628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2F6EF1CB-FE2D-4E9B-B4B3-70B98CE38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1962E37-4BAD-245A-B152-BDEA20731A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19F8BF98-A06D-EC92-698E-F32FD13FF2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https://chromium.googlesource.com/chromium/src/+/HEAD/chrome/elevation_service/elevator.cc#74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865772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D28794C6-883A-6D16-B8B8-CEE7BE919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CF4D839D-BD42-9299-26F4-81A6062F90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645452ED-2BE8-EAD8-FD0B-86E6853145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https://chromium.googlesource.com/chromium/src/+/HEAD/chrome/elevation_service/elevator.cc#74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048636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BA3C7F33-97C6-FEBE-240B-1B6A31F1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A21D1FD2-1874-E654-9AD3-8FEE8D5921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54313D45-BA0C-D855-E91B-095C738983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https://chromium.googlesource.com/chromium/src/+/HEAD/chrome/elevation_service/caller_validation.cc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519049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F5DABD3C-285D-5F7A-3F89-521E2879A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B27E3FB0-FD73-F11A-001B-45381CE81A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256A7B8-D874-CA7F-56B1-95539AB35E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ko-KR"/>
              <a:t>https://chromium.googlesource.com/chromium/src/+/HEAD/components/os_crypt/sync/os_crypt_win.cc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161500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15E41759-18ED-D2A3-809C-2314E8257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40A2C4EB-7E62-4D62-FF2F-2DA2112359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ACC7201B-6246-20A5-BE32-7102D0A691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ko-KR"/>
              <a:t>https://chromium.googlesource.com/chromium/src/+/HEAD/chrome/browser/os_crypt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964829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075708F6-27EC-86F8-6577-2CE2E2A9C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E763E257-C348-8C14-FA21-7FE5C5FD87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A74EDB0F-3273-1D8B-1CCE-4E3F2EF66A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09686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1FBAD4E-95CB-0796-CE14-3EE3C429D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8A89E39B-ABA2-B254-062F-4355A4EA48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1475922C-AB8B-3262-046C-E3C0813B5A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99827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42E9C64B-CA61-5B6A-EF7C-9BA678F8E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BD0F5933-CD44-6737-B803-A4372E7507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D0556E82-07EB-980D-494E-01A9C6B833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ko-KR"/>
              <a:t>https://chromium.googlesource.com/chromium/src/+/HEAD/chrome/browser/os_crypt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88800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84F6CB45-8757-E4D7-D8C3-963A45E08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07D17D8C-4EEE-0745-5A68-B423E26C25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5796869-3EDD-C72A-27A2-FEB27A424A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10383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808C19C8-E2C9-3371-A41E-485759B6E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C73B7FC9-9CEC-BB8B-BA98-E188602B22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EDA7D8FC-F619-87FA-85D0-DAEC83441E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39723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6A2A6BA7-FA4D-E781-A6AD-470243BA2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60BF1F2-197A-A378-8C50-78B9B6DD01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0A86A326-4CCC-DE93-8F27-F7B26AC5A9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https://docs.google.com/drawings/d/1TuECFL9K7J5q5UePJLC-YH3satvb1RrjLRH-tW_VKeE/edit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59454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9E5EB40A-B964-89DD-5550-72CCF1EFB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419A2427-1DB7-E7BA-C02C-D7B268504B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EB65A809-A6B4-FD0B-F977-E333D310D7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3601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5880F93-9E55-049A-7D41-0E90479E8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BBA70776-2782-08B8-7DB2-5A169254BF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8617F90-361A-E317-9A8B-B87FC42CD7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56651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CD5B4AF7-37E0-5F83-6021-28CF4BB95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5CF39356-3DE2-1E00-621B-06C8AF3E0A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62E4C3C-86C2-BB6A-8AEA-563CF64F02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3667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5775" y="1577992"/>
            <a:ext cx="4487400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5775" y="3135908"/>
            <a:ext cx="44874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  <a:cs typeface="페이퍼로지 6 SemiBold" pitchFamily="2" charset="-127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  <a:cs typeface="페이퍼로지 6 SemiBold" pitchFamily="2" charset="-127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accent6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빈 화면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TITLE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맑은 고딕"/>
              <a:buNone/>
              <a:defRPr sz="4500">
                <a:latin typeface="페이퍼로지 6 SemiBold" pitchFamily="2" charset="-127"/>
                <a:ea typeface="페이퍼로지 6 SemiBold" pitchFamily="2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 lang="ko-KR" altLang="en-US"/>
          </a:p>
        </p:txBody>
      </p:sp>
      <p:sp>
        <p:nvSpPr>
          <p:cNvPr id="44" name="Google Shape;4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 lang="ko-KR" altLang="en-US"/>
          </a:p>
        </p:txBody>
      </p:sp>
      <p:sp>
        <p:nvSpPr>
          <p:cNvPr id="45" name="Google Shape;4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marL="0" lvl="1" indent="0" algn="r">
              <a:spcBef>
                <a:spcPts val="0"/>
              </a:spcBef>
              <a:buNone/>
              <a:defRPr sz="1100"/>
            </a:lvl2pPr>
            <a:lvl3pPr marL="0" lvl="2" indent="0" algn="r">
              <a:spcBef>
                <a:spcPts val="0"/>
              </a:spcBef>
              <a:buNone/>
              <a:defRPr sz="1100"/>
            </a:lvl3pPr>
            <a:lvl4pPr marL="0" lvl="3" indent="0" algn="r">
              <a:spcBef>
                <a:spcPts val="0"/>
              </a:spcBef>
              <a:buNone/>
              <a:defRPr sz="1100"/>
            </a:lvl4pPr>
            <a:lvl5pPr marL="0" lvl="4" indent="0" algn="r">
              <a:spcBef>
                <a:spcPts val="0"/>
              </a:spcBef>
              <a:buNone/>
              <a:defRPr sz="1100"/>
            </a:lvl5pPr>
            <a:lvl6pPr marL="0" lvl="5" indent="0" algn="r">
              <a:spcBef>
                <a:spcPts val="0"/>
              </a:spcBef>
              <a:buNone/>
              <a:defRPr sz="1100"/>
            </a:lvl6pPr>
            <a:lvl7pPr marL="0" lvl="6" indent="0" algn="r">
              <a:spcBef>
                <a:spcPts val="0"/>
              </a:spcBef>
              <a:buNone/>
              <a:defRPr sz="1100"/>
            </a:lvl7pPr>
            <a:lvl8pPr marL="0" lvl="7" indent="0" algn="r">
              <a:spcBef>
                <a:spcPts val="0"/>
              </a:spcBef>
              <a:buNone/>
              <a:defRPr sz="1100"/>
            </a:lvl8pPr>
            <a:lvl9pPr marL="0" lvl="8" indent="0" algn="r">
              <a:spcBef>
                <a:spcPts val="0"/>
              </a:spcBef>
              <a:buNone/>
              <a:defRPr sz="1100"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96600"/>
            <a:ext cx="7713600" cy="3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페이퍼로지 6 SemiBold" pitchFamily="2" charset="-127"/>
          <a:ea typeface="페이퍼로지 6 SemiBold" pitchFamily="2" charset="-127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>
            <a:spLocks noGrp="1"/>
          </p:cNvSpPr>
          <p:nvPr>
            <p:ph type="ctrTitle"/>
          </p:nvPr>
        </p:nvSpPr>
        <p:spPr>
          <a:xfrm>
            <a:off x="737884" y="1792800"/>
            <a:ext cx="7668232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A Technical Deep Dive into </a:t>
            </a:r>
            <a:br>
              <a:rPr lang="en-US" sz="2800"/>
            </a:br>
            <a:br>
              <a:rPr lang="en-US" sz="2800"/>
            </a:br>
            <a:r>
              <a:rPr lang="en-US" sz="2800"/>
              <a:t>Chrome’s password_value Encryption</a:t>
            </a:r>
            <a:endParaRPr sz="2800"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grpSp>
        <p:nvGrpSpPr>
          <p:cNvPr id="67" name="Google Shape;67;p17"/>
          <p:cNvGrpSpPr/>
          <p:nvPr/>
        </p:nvGrpSpPr>
        <p:grpSpPr>
          <a:xfrm>
            <a:off x="6663079" y="991363"/>
            <a:ext cx="353630" cy="378892"/>
            <a:chOff x="4149138" y="4121151"/>
            <a:chExt cx="344065" cy="368644"/>
          </a:xfrm>
        </p:grpSpPr>
        <p:sp>
          <p:nvSpPr>
            <p:cNvPr id="68" name="Google Shape;68;p17"/>
            <p:cNvSpPr/>
            <p:nvPr/>
          </p:nvSpPr>
          <p:spPr>
            <a:xfrm>
              <a:off x="4205853" y="4182724"/>
              <a:ext cx="225746" cy="307071"/>
            </a:xfrm>
            <a:custGeom>
              <a:avLst/>
              <a:gdLst/>
              <a:ahLst/>
              <a:cxnLst/>
              <a:rect l="l" t="t" r="r" b="b"/>
              <a:pathLst>
                <a:path w="7109" h="9670" extrusionOk="0">
                  <a:moveTo>
                    <a:pt x="3643" y="359"/>
                  </a:moveTo>
                  <a:cubicBezTo>
                    <a:pt x="4417" y="359"/>
                    <a:pt x="5132" y="645"/>
                    <a:pt x="5703" y="1157"/>
                  </a:cubicBezTo>
                  <a:cubicBezTo>
                    <a:pt x="6358" y="1752"/>
                    <a:pt x="6751" y="2597"/>
                    <a:pt x="6751" y="3478"/>
                  </a:cubicBezTo>
                  <a:cubicBezTo>
                    <a:pt x="6739" y="4074"/>
                    <a:pt x="6572" y="4669"/>
                    <a:pt x="6251" y="5157"/>
                  </a:cubicBezTo>
                  <a:cubicBezTo>
                    <a:pt x="5929" y="5645"/>
                    <a:pt x="5489" y="6038"/>
                    <a:pt x="4953" y="6288"/>
                  </a:cubicBezTo>
                  <a:cubicBezTo>
                    <a:pt x="4620" y="6431"/>
                    <a:pt x="4417" y="6776"/>
                    <a:pt x="4417" y="7146"/>
                  </a:cubicBezTo>
                  <a:lnTo>
                    <a:pt x="4417" y="7360"/>
                  </a:lnTo>
                  <a:lnTo>
                    <a:pt x="2834" y="7360"/>
                  </a:lnTo>
                  <a:lnTo>
                    <a:pt x="2834" y="7146"/>
                  </a:lnTo>
                  <a:cubicBezTo>
                    <a:pt x="2834" y="6776"/>
                    <a:pt x="2631" y="6455"/>
                    <a:pt x="2298" y="6288"/>
                  </a:cubicBezTo>
                  <a:cubicBezTo>
                    <a:pt x="1084" y="5705"/>
                    <a:pt x="381" y="4407"/>
                    <a:pt x="548" y="3074"/>
                  </a:cubicBezTo>
                  <a:cubicBezTo>
                    <a:pt x="726" y="1669"/>
                    <a:pt x="1869" y="526"/>
                    <a:pt x="3286" y="383"/>
                  </a:cubicBezTo>
                  <a:cubicBezTo>
                    <a:pt x="3405" y="359"/>
                    <a:pt x="3524" y="359"/>
                    <a:pt x="3643" y="359"/>
                  </a:cubicBezTo>
                  <a:close/>
                  <a:moveTo>
                    <a:pt x="4417" y="7729"/>
                  </a:moveTo>
                  <a:lnTo>
                    <a:pt x="4417" y="8324"/>
                  </a:lnTo>
                  <a:cubicBezTo>
                    <a:pt x="4417" y="8443"/>
                    <a:pt x="4322" y="8539"/>
                    <a:pt x="4203" y="8539"/>
                  </a:cubicBezTo>
                  <a:lnTo>
                    <a:pt x="3048" y="8539"/>
                  </a:lnTo>
                  <a:cubicBezTo>
                    <a:pt x="2929" y="8539"/>
                    <a:pt x="2834" y="8443"/>
                    <a:pt x="2834" y="8324"/>
                  </a:cubicBezTo>
                  <a:lnTo>
                    <a:pt x="2834" y="7729"/>
                  </a:lnTo>
                  <a:close/>
                  <a:moveTo>
                    <a:pt x="4024" y="8896"/>
                  </a:moveTo>
                  <a:lnTo>
                    <a:pt x="4024" y="9098"/>
                  </a:lnTo>
                  <a:cubicBezTo>
                    <a:pt x="4024" y="9217"/>
                    <a:pt x="3941" y="9313"/>
                    <a:pt x="3822" y="9313"/>
                  </a:cubicBezTo>
                  <a:lnTo>
                    <a:pt x="3429" y="9313"/>
                  </a:lnTo>
                  <a:cubicBezTo>
                    <a:pt x="3310" y="9313"/>
                    <a:pt x="3227" y="9217"/>
                    <a:pt x="3227" y="9098"/>
                  </a:cubicBezTo>
                  <a:lnTo>
                    <a:pt x="3227" y="8896"/>
                  </a:lnTo>
                  <a:close/>
                  <a:moveTo>
                    <a:pt x="3658" y="1"/>
                  </a:moveTo>
                  <a:cubicBezTo>
                    <a:pt x="3519" y="1"/>
                    <a:pt x="3379" y="9"/>
                    <a:pt x="3239" y="26"/>
                  </a:cubicBezTo>
                  <a:cubicBezTo>
                    <a:pt x="1667" y="204"/>
                    <a:pt x="381" y="1466"/>
                    <a:pt x="191" y="3026"/>
                  </a:cubicBezTo>
                  <a:cubicBezTo>
                    <a:pt x="0" y="4526"/>
                    <a:pt x="786" y="5979"/>
                    <a:pt x="2155" y="6610"/>
                  </a:cubicBezTo>
                  <a:cubicBezTo>
                    <a:pt x="2358" y="6705"/>
                    <a:pt x="2477" y="6931"/>
                    <a:pt x="2477" y="7146"/>
                  </a:cubicBezTo>
                  <a:lnTo>
                    <a:pt x="2477" y="8324"/>
                  </a:lnTo>
                  <a:cubicBezTo>
                    <a:pt x="2477" y="8574"/>
                    <a:pt x="2643" y="8789"/>
                    <a:pt x="2870" y="8860"/>
                  </a:cubicBezTo>
                  <a:lnTo>
                    <a:pt x="2870" y="9098"/>
                  </a:lnTo>
                  <a:cubicBezTo>
                    <a:pt x="2870" y="9408"/>
                    <a:pt x="3120" y="9670"/>
                    <a:pt x="3429" y="9670"/>
                  </a:cubicBezTo>
                  <a:lnTo>
                    <a:pt x="3822" y="9670"/>
                  </a:lnTo>
                  <a:cubicBezTo>
                    <a:pt x="4132" y="9670"/>
                    <a:pt x="4382" y="9408"/>
                    <a:pt x="4382" y="9098"/>
                  </a:cubicBezTo>
                  <a:lnTo>
                    <a:pt x="4382" y="8860"/>
                  </a:lnTo>
                  <a:cubicBezTo>
                    <a:pt x="4608" y="8789"/>
                    <a:pt x="4775" y="8574"/>
                    <a:pt x="4775" y="8324"/>
                  </a:cubicBezTo>
                  <a:lnTo>
                    <a:pt x="4775" y="7146"/>
                  </a:lnTo>
                  <a:cubicBezTo>
                    <a:pt x="4775" y="6931"/>
                    <a:pt x="4906" y="6717"/>
                    <a:pt x="5096" y="6610"/>
                  </a:cubicBezTo>
                  <a:cubicBezTo>
                    <a:pt x="5691" y="6336"/>
                    <a:pt x="6191" y="5895"/>
                    <a:pt x="6549" y="5348"/>
                  </a:cubicBezTo>
                  <a:cubicBezTo>
                    <a:pt x="6906" y="4788"/>
                    <a:pt x="7096" y="4133"/>
                    <a:pt x="7096" y="3455"/>
                  </a:cubicBezTo>
                  <a:cubicBezTo>
                    <a:pt x="7108" y="2490"/>
                    <a:pt x="6680" y="1538"/>
                    <a:pt x="5953" y="883"/>
                  </a:cubicBezTo>
                  <a:cubicBezTo>
                    <a:pt x="5309" y="310"/>
                    <a:pt x="4506" y="1"/>
                    <a:pt x="36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69" name="Google Shape;69;p17"/>
            <p:cNvSpPr/>
            <p:nvPr/>
          </p:nvSpPr>
          <p:spPr>
            <a:xfrm>
              <a:off x="4444777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80" y="358"/>
                  </a:cubicBezTo>
                  <a:lnTo>
                    <a:pt x="1346" y="358"/>
                  </a:lnTo>
                  <a:cubicBezTo>
                    <a:pt x="1442" y="358"/>
                    <a:pt x="1525" y="275"/>
                    <a:pt x="1525" y="179"/>
                  </a:cubicBezTo>
                  <a:cubicBezTo>
                    <a:pt x="1525" y="72"/>
                    <a:pt x="1430" y="1"/>
                    <a:pt x="1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0" name="Google Shape;70;p17"/>
            <p:cNvSpPr/>
            <p:nvPr/>
          </p:nvSpPr>
          <p:spPr>
            <a:xfrm>
              <a:off x="4149138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334" y="358"/>
                  </a:lnTo>
                  <a:cubicBezTo>
                    <a:pt x="1441" y="358"/>
                    <a:pt x="1512" y="275"/>
                    <a:pt x="1512" y="179"/>
                  </a:cubicBezTo>
                  <a:cubicBezTo>
                    <a:pt x="1524" y="72"/>
                    <a:pt x="1441" y="1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1" name="Google Shape;71;p17"/>
            <p:cNvSpPr/>
            <p:nvPr/>
          </p:nvSpPr>
          <p:spPr>
            <a:xfrm>
              <a:off x="4315471" y="4121151"/>
              <a:ext cx="11400" cy="48045"/>
            </a:xfrm>
            <a:custGeom>
              <a:avLst/>
              <a:gdLst/>
              <a:ahLst/>
              <a:cxnLst/>
              <a:rect l="l" t="t" r="r" b="b"/>
              <a:pathLst>
                <a:path w="359" h="1513" extrusionOk="0">
                  <a:moveTo>
                    <a:pt x="180" y="0"/>
                  </a:moveTo>
                  <a:cubicBezTo>
                    <a:pt x="72" y="0"/>
                    <a:pt x="1" y="72"/>
                    <a:pt x="1" y="179"/>
                  </a:cubicBezTo>
                  <a:lnTo>
                    <a:pt x="1" y="1334"/>
                  </a:lnTo>
                  <a:cubicBezTo>
                    <a:pt x="1" y="1441"/>
                    <a:pt x="72" y="1512"/>
                    <a:pt x="180" y="1512"/>
                  </a:cubicBezTo>
                  <a:cubicBezTo>
                    <a:pt x="275" y="1512"/>
                    <a:pt x="358" y="1441"/>
                    <a:pt x="358" y="1334"/>
                  </a:cubicBezTo>
                  <a:lnTo>
                    <a:pt x="358" y="179"/>
                  </a:lnTo>
                  <a:cubicBezTo>
                    <a:pt x="358" y="72"/>
                    <a:pt x="275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2" name="Google Shape;72;p17"/>
            <p:cNvSpPr/>
            <p:nvPr/>
          </p:nvSpPr>
          <p:spPr>
            <a:xfrm>
              <a:off x="4378632" y="4159575"/>
              <a:ext cx="22705" cy="27754"/>
            </a:xfrm>
            <a:custGeom>
              <a:avLst/>
              <a:gdLst/>
              <a:ahLst/>
              <a:cxnLst/>
              <a:rect l="l" t="t" r="r" b="b"/>
              <a:pathLst>
                <a:path w="715" h="874" extrusionOk="0">
                  <a:moveTo>
                    <a:pt x="513" y="0"/>
                  </a:moveTo>
                  <a:cubicBezTo>
                    <a:pt x="451" y="0"/>
                    <a:pt x="387" y="27"/>
                    <a:pt x="346" y="76"/>
                  </a:cubicBezTo>
                  <a:lnTo>
                    <a:pt x="48" y="588"/>
                  </a:lnTo>
                  <a:cubicBezTo>
                    <a:pt x="0" y="671"/>
                    <a:pt x="24" y="778"/>
                    <a:pt x="107" y="838"/>
                  </a:cubicBezTo>
                  <a:cubicBezTo>
                    <a:pt x="131" y="850"/>
                    <a:pt x="167" y="874"/>
                    <a:pt x="191" y="874"/>
                  </a:cubicBezTo>
                  <a:cubicBezTo>
                    <a:pt x="250" y="874"/>
                    <a:pt x="310" y="838"/>
                    <a:pt x="358" y="778"/>
                  </a:cubicBezTo>
                  <a:lnTo>
                    <a:pt x="655" y="278"/>
                  </a:lnTo>
                  <a:cubicBezTo>
                    <a:pt x="715" y="171"/>
                    <a:pt x="691" y="64"/>
                    <a:pt x="596" y="16"/>
                  </a:cubicBezTo>
                  <a:cubicBezTo>
                    <a:pt x="570" y="5"/>
                    <a:pt x="542" y="0"/>
                    <a:pt x="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3" name="Google Shape;73;p17"/>
            <p:cNvSpPr/>
            <p:nvPr/>
          </p:nvSpPr>
          <p:spPr>
            <a:xfrm>
              <a:off x="4240243" y="4399103"/>
              <a:ext cx="22705" cy="27563"/>
            </a:xfrm>
            <a:custGeom>
              <a:avLst/>
              <a:gdLst/>
              <a:ahLst/>
              <a:cxnLst/>
              <a:rect l="l" t="t" r="r" b="b"/>
              <a:pathLst>
                <a:path w="715" h="868" extrusionOk="0">
                  <a:moveTo>
                    <a:pt x="507" y="0"/>
                  </a:moveTo>
                  <a:cubicBezTo>
                    <a:pt x="444" y="0"/>
                    <a:pt x="387" y="33"/>
                    <a:pt x="346" y="82"/>
                  </a:cubicBezTo>
                  <a:lnTo>
                    <a:pt x="48" y="594"/>
                  </a:lnTo>
                  <a:cubicBezTo>
                    <a:pt x="1" y="677"/>
                    <a:pt x="24" y="784"/>
                    <a:pt x="108" y="844"/>
                  </a:cubicBezTo>
                  <a:cubicBezTo>
                    <a:pt x="132" y="855"/>
                    <a:pt x="155" y="867"/>
                    <a:pt x="191" y="867"/>
                  </a:cubicBezTo>
                  <a:cubicBezTo>
                    <a:pt x="251" y="867"/>
                    <a:pt x="310" y="844"/>
                    <a:pt x="358" y="784"/>
                  </a:cubicBezTo>
                  <a:lnTo>
                    <a:pt x="655" y="272"/>
                  </a:lnTo>
                  <a:cubicBezTo>
                    <a:pt x="715" y="189"/>
                    <a:pt x="679" y="82"/>
                    <a:pt x="596" y="22"/>
                  </a:cubicBezTo>
                  <a:cubicBezTo>
                    <a:pt x="566" y="7"/>
                    <a:pt x="536" y="0"/>
                    <a:pt x="5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4" name="Google Shape;74;p17"/>
            <p:cNvSpPr/>
            <p:nvPr/>
          </p:nvSpPr>
          <p:spPr>
            <a:xfrm>
              <a:off x="4240243" y="41591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13" y="1"/>
                  </a:moveTo>
                  <a:cubicBezTo>
                    <a:pt x="181" y="1"/>
                    <a:pt x="148" y="10"/>
                    <a:pt x="120" y="30"/>
                  </a:cubicBezTo>
                  <a:cubicBezTo>
                    <a:pt x="24" y="78"/>
                    <a:pt x="1" y="197"/>
                    <a:pt x="60" y="292"/>
                  </a:cubicBezTo>
                  <a:lnTo>
                    <a:pt x="358" y="792"/>
                  </a:lnTo>
                  <a:cubicBezTo>
                    <a:pt x="382" y="852"/>
                    <a:pt x="441" y="888"/>
                    <a:pt x="525" y="888"/>
                  </a:cubicBezTo>
                  <a:cubicBezTo>
                    <a:pt x="548" y="888"/>
                    <a:pt x="584" y="864"/>
                    <a:pt x="608" y="852"/>
                  </a:cubicBezTo>
                  <a:cubicBezTo>
                    <a:pt x="679" y="792"/>
                    <a:pt x="715" y="685"/>
                    <a:pt x="667" y="602"/>
                  </a:cubicBezTo>
                  <a:lnTo>
                    <a:pt x="370" y="90"/>
                  </a:lnTo>
                  <a:cubicBezTo>
                    <a:pt x="338" y="35"/>
                    <a:pt x="276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5" name="Google Shape;75;p17"/>
            <p:cNvSpPr/>
            <p:nvPr/>
          </p:nvSpPr>
          <p:spPr>
            <a:xfrm>
              <a:off x="4378632" y="43992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21" y="0"/>
                  </a:moveTo>
                  <a:cubicBezTo>
                    <a:pt x="187" y="0"/>
                    <a:pt x="152" y="10"/>
                    <a:pt x="119" y="30"/>
                  </a:cubicBezTo>
                  <a:cubicBezTo>
                    <a:pt x="24" y="78"/>
                    <a:pt x="0" y="197"/>
                    <a:pt x="60" y="292"/>
                  </a:cubicBezTo>
                  <a:lnTo>
                    <a:pt x="358" y="792"/>
                  </a:lnTo>
                  <a:cubicBezTo>
                    <a:pt x="393" y="851"/>
                    <a:pt x="453" y="887"/>
                    <a:pt x="524" y="887"/>
                  </a:cubicBezTo>
                  <a:cubicBezTo>
                    <a:pt x="548" y="887"/>
                    <a:pt x="584" y="863"/>
                    <a:pt x="608" y="851"/>
                  </a:cubicBezTo>
                  <a:cubicBezTo>
                    <a:pt x="691" y="792"/>
                    <a:pt x="715" y="673"/>
                    <a:pt x="667" y="601"/>
                  </a:cubicBezTo>
                  <a:lnTo>
                    <a:pt x="369" y="89"/>
                  </a:lnTo>
                  <a:cubicBezTo>
                    <a:pt x="346" y="35"/>
                    <a:pt x="286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6" name="Google Shape;76;p17"/>
            <p:cNvSpPr/>
            <p:nvPr/>
          </p:nvSpPr>
          <p:spPr>
            <a:xfrm>
              <a:off x="4426264" y="4351851"/>
              <a:ext cx="29532" cy="21117"/>
            </a:xfrm>
            <a:custGeom>
              <a:avLst/>
              <a:gdLst/>
              <a:ahLst/>
              <a:cxnLst/>
              <a:rect l="l" t="t" r="r" b="b"/>
              <a:pathLst>
                <a:path w="930" h="665" extrusionOk="0">
                  <a:moveTo>
                    <a:pt x="215" y="0"/>
                  </a:moveTo>
                  <a:cubicBezTo>
                    <a:pt x="152" y="0"/>
                    <a:pt x="89" y="32"/>
                    <a:pt x="48" y="81"/>
                  </a:cubicBezTo>
                  <a:cubicBezTo>
                    <a:pt x="1" y="177"/>
                    <a:pt x="36" y="272"/>
                    <a:pt x="108" y="331"/>
                  </a:cubicBezTo>
                  <a:lnTo>
                    <a:pt x="608" y="629"/>
                  </a:lnTo>
                  <a:cubicBezTo>
                    <a:pt x="643" y="653"/>
                    <a:pt x="667" y="665"/>
                    <a:pt x="703" y="665"/>
                  </a:cubicBezTo>
                  <a:cubicBezTo>
                    <a:pt x="763" y="665"/>
                    <a:pt x="822" y="629"/>
                    <a:pt x="870" y="569"/>
                  </a:cubicBezTo>
                  <a:cubicBezTo>
                    <a:pt x="929" y="486"/>
                    <a:pt x="893" y="367"/>
                    <a:pt x="810" y="319"/>
                  </a:cubicBezTo>
                  <a:lnTo>
                    <a:pt x="298" y="22"/>
                  </a:lnTo>
                  <a:cubicBezTo>
                    <a:pt x="272" y="7"/>
                    <a:pt x="244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7" name="Google Shape;77;p17"/>
            <p:cNvSpPr/>
            <p:nvPr/>
          </p:nvSpPr>
          <p:spPr>
            <a:xfrm>
              <a:off x="4186196" y="4213463"/>
              <a:ext cx="29500" cy="21117"/>
            </a:xfrm>
            <a:custGeom>
              <a:avLst/>
              <a:gdLst/>
              <a:ahLst/>
              <a:cxnLst/>
              <a:rect l="l" t="t" r="r" b="b"/>
              <a:pathLst>
                <a:path w="929" h="665" extrusionOk="0">
                  <a:moveTo>
                    <a:pt x="214" y="0"/>
                  </a:moveTo>
                  <a:cubicBezTo>
                    <a:pt x="152" y="0"/>
                    <a:pt x="89" y="33"/>
                    <a:pt x="48" y="82"/>
                  </a:cubicBezTo>
                  <a:cubicBezTo>
                    <a:pt x="0" y="165"/>
                    <a:pt x="36" y="272"/>
                    <a:pt x="107" y="332"/>
                  </a:cubicBezTo>
                  <a:lnTo>
                    <a:pt x="619" y="629"/>
                  </a:lnTo>
                  <a:cubicBezTo>
                    <a:pt x="643" y="641"/>
                    <a:pt x="667" y="665"/>
                    <a:pt x="703" y="665"/>
                  </a:cubicBezTo>
                  <a:cubicBezTo>
                    <a:pt x="762" y="665"/>
                    <a:pt x="822" y="629"/>
                    <a:pt x="869" y="570"/>
                  </a:cubicBezTo>
                  <a:cubicBezTo>
                    <a:pt x="929" y="463"/>
                    <a:pt x="893" y="367"/>
                    <a:pt x="810" y="320"/>
                  </a:cubicBezTo>
                  <a:lnTo>
                    <a:pt x="298" y="22"/>
                  </a:lnTo>
                  <a:cubicBezTo>
                    <a:pt x="272" y="7"/>
                    <a:pt x="243" y="0"/>
                    <a:pt x="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8" name="Google Shape;78;p17"/>
            <p:cNvSpPr/>
            <p:nvPr/>
          </p:nvSpPr>
          <p:spPr>
            <a:xfrm>
              <a:off x="4425883" y="4213590"/>
              <a:ext cx="29913" cy="21371"/>
            </a:xfrm>
            <a:custGeom>
              <a:avLst/>
              <a:gdLst/>
              <a:ahLst/>
              <a:cxnLst/>
              <a:rect l="l" t="t" r="r" b="b"/>
              <a:pathLst>
                <a:path w="942" h="673" extrusionOk="0">
                  <a:moveTo>
                    <a:pt x="725" y="0"/>
                  </a:moveTo>
                  <a:cubicBezTo>
                    <a:pt x="693" y="0"/>
                    <a:pt x="660" y="10"/>
                    <a:pt x="632" y="30"/>
                  </a:cubicBezTo>
                  <a:lnTo>
                    <a:pt x="120" y="328"/>
                  </a:lnTo>
                  <a:cubicBezTo>
                    <a:pt x="36" y="375"/>
                    <a:pt x="1" y="494"/>
                    <a:pt x="60" y="578"/>
                  </a:cubicBezTo>
                  <a:cubicBezTo>
                    <a:pt x="96" y="637"/>
                    <a:pt x="155" y="673"/>
                    <a:pt x="227" y="673"/>
                  </a:cubicBezTo>
                  <a:cubicBezTo>
                    <a:pt x="251" y="673"/>
                    <a:pt x="286" y="661"/>
                    <a:pt x="310" y="637"/>
                  </a:cubicBezTo>
                  <a:lnTo>
                    <a:pt x="822" y="340"/>
                  </a:lnTo>
                  <a:cubicBezTo>
                    <a:pt x="905" y="280"/>
                    <a:pt x="941" y="161"/>
                    <a:pt x="882" y="89"/>
                  </a:cubicBezTo>
                  <a:cubicBezTo>
                    <a:pt x="850" y="35"/>
                    <a:pt x="788" y="0"/>
                    <a:pt x="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9" name="Google Shape;79;p17"/>
            <p:cNvSpPr/>
            <p:nvPr/>
          </p:nvSpPr>
          <p:spPr>
            <a:xfrm>
              <a:off x="4186196" y="4351978"/>
              <a:ext cx="29500" cy="21371"/>
            </a:xfrm>
            <a:custGeom>
              <a:avLst/>
              <a:gdLst/>
              <a:ahLst/>
              <a:cxnLst/>
              <a:rect l="l" t="t" r="r" b="b"/>
              <a:pathLst>
                <a:path w="929" h="673" extrusionOk="0">
                  <a:moveTo>
                    <a:pt x="725" y="0"/>
                  </a:moveTo>
                  <a:cubicBezTo>
                    <a:pt x="692" y="0"/>
                    <a:pt x="660" y="9"/>
                    <a:pt x="631" y="30"/>
                  </a:cubicBezTo>
                  <a:lnTo>
                    <a:pt x="119" y="327"/>
                  </a:lnTo>
                  <a:cubicBezTo>
                    <a:pt x="36" y="375"/>
                    <a:pt x="0" y="494"/>
                    <a:pt x="60" y="589"/>
                  </a:cubicBezTo>
                  <a:cubicBezTo>
                    <a:pt x="95" y="649"/>
                    <a:pt x="155" y="673"/>
                    <a:pt x="226" y="673"/>
                  </a:cubicBezTo>
                  <a:cubicBezTo>
                    <a:pt x="262" y="673"/>
                    <a:pt x="286" y="661"/>
                    <a:pt x="322" y="649"/>
                  </a:cubicBezTo>
                  <a:lnTo>
                    <a:pt x="822" y="351"/>
                  </a:lnTo>
                  <a:cubicBezTo>
                    <a:pt x="893" y="292"/>
                    <a:pt x="929" y="173"/>
                    <a:pt x="881" y="89"/>
                  </a:cubicBezTo>
                  <a:cubicBezTo>
                    <a:pt x="850" y="34"/>
                    <a:pt x="787" y="0"/>
                    <a:pt x="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249B52D-4AC4-D039-D3E5-FB82F8CEF825}"/>
              </a:ext>
            </a:extLst>
          </p:cNvPr>
          <p:cNvSpPr txBox="1"/>
          <p:nvPr/>
        </p:nvSpPr>
        <p:spPr>
          <a:xfrm>
            <a:off x="7326092" y="4681835"/>
            <a:ext cx="1817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latin typeface="페이퍼로지 1 Thin" pitchFamily="2" charset="-127"/>
                <a:ea typeface="페이퍼로지 1 Thin" pitchFamily="2" charset="-127"/>
              </a:rPr>
              <a:t>20200451 </a:t>
            </a:r>
          </a:p>
          <a:p>
            <a:pPr algn="r"/>
            <a:r>
              <a:rPr lang="ko-KR" altLang="en-US" sz="800" dirty="0">
                <a:latin typeface="페이퍼로지 1 Thin" pitchFamily="2" charset="-127"/>
                <a:ea typeface="페이퍼로지 1 Thin" pitchFamily="2" charset="-127"/>
              </a:rPr>
              <a:t>박세원</a:t>
            </a:r>
            <a:endParaRPr lang="en-US" altLang="ko-KR" sz="800" dirty="0">
              <a:latin typeface="페이퍼로지 1 Thin" pitchFamily="2" charset="-127"/>
              <a:ea typeface="페이퍼로지 1 Thin" pitchFamily="2" charset="-127"/>
            </a:endParaRPr>
          </a:p>
          <a:p>
            <a:pPr algn="r"/>
            <a:r>
              <a:rPr lang="en-US" altLang="ko-KR" sz="800" dirty="0">
                <a:latin typeface="페이퍼로지 1 Thin" pitchFamily="2" charset="-127"/>
                <a:ea typeface="페이퍼로지 1 Thin" pitchFamily="2" charset="-127"/>
              </a:rPr>
              <a:t>System Software Lab</a:t>
            </a:r>
            <a:r>
              <a:rPr lang="en-US" altLang="ko-KR" sz="8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FB4EE057-A625-8EDA-F9A3-1A1B1190A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E8D9E463-A1E3-BD5B-3714-9743D00013A8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Chrome Security Architecture (brief)</a:t>
            </a: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멀티 프로세스 모델과 권한 분리 원칙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Chrome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데이터 보호의 진화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“ v10 ~ v20 ”</a:t>
            </a: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Infostealer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대응을 위한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Elevation Service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도입 배경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버전별 암호화 알고리즘 및 구조 변화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핵심 통신 매커니즘</a:t>
            </a: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기존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COM Interface (IElevator, IElevator2)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및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Vtable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분석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차세대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Mojo IPC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도입 이유와 특징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App-Bound Encryption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상세 분석</a:t>
            </a: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AppBoundEncryptionProviderWin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역할과 구조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이중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DPAPI (SYSTEM + USER)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계층화 원리 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Password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복호화 프로세스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(Step-by-Step) </a:t>
            </a: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MasterKey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추출 및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Magic Header (APPB)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처리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Elevation Service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통한 권한 상승 및 경로 검증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(ValidatePath) </a:t>
            </a: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AES-256-GCM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복호화 및 최종 비밀번호 산출 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4EF0E6C8-922A-455C-A37E-81DE2FE286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D601D7A-84B1-D493-47B2-8D1B152CF415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094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24ACEF20-67BF-C1EF-810A-AB2F44351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83B6B331-BFD3-43AA-16E7-0F49E57F059F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1AFE6C03-798D-CD87-1C91-C47CCD3646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Chrome Security Architecture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F9182BB-CE65-7A7F-D6FF-F08D370ACE56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 descr="텍스트, 스크린샷, 폰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742259-C860-DD9E-548E-2512B7423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363" y="835502"/>
            <a:ext cx="5556181" cy="418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792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03373FFB-DDCD-6DFA-3478-E486442F4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67166F68-C329-8CC4-B936-FF04E5B0166E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Windows 11 Chrome App-Bound Encryption (v20) analysis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Chrome v133 </a:t>
            </a:r>
            <a:r>
              <a:rPr lang="ko-KR" altLang="en-US" sz="16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이후 핵심은 </a:t>
            </a:r>
            <a:r>
              <a:rPr lang="en-US" altLang="ko-KR" sz="16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*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</a:t>
            </a:r>
            <a:r>
              <a:rPr lang="en-US" altLang="ko-KR" sz="16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*elevation_service.exe** ”</a:t>
            </a:r>
            <a:r>
              <a:rPr lang="ko-KR" altLang="en-US" sz="16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라는 별도의 권한 상승 서비스를 사용한다</a:t>
            </a:r>
            <a:r>
              <a:rPr lang="en-US" altLang="ko-KR" sz="16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  <a:br>
              <a:rPr lang="en-US" altLang="ko-KR" sz="16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이중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DPAPI? app_bound_encrypted_key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는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SYSTEM DPAPI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암호화 된 후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다시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USER </a:t>
            </a:r>
          </a:p>
          <a:p>
            <a:pPr lvl="3">
              <a:buSzPts val="1600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           DPAPI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암호화 되어 저장된다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</a:t>
            </a:r>
            <a:b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 sz="16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버전 별</a:t>
            </a:r>
            <a:br>
              <a:rPr lang="en-US" altLang="ko-KR" sz="16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Chrome 133: ChaCha20_Poly1305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알고리즘을 사용하며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복호화에 필요한 키가 </a:t>
            </a: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9388" lvl="2" indent="-179388">
              <a:buSzPts val="1600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                                  elevation_service.exe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하드코딩 되어 있다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  <a:b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Chrome 137: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다시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AES-256-GCM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복귀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179388" lvl="2" indent="-179388">
              <a:buSzPts val="1600"/>
            </a:pP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버전 차이 핵심</a:t>
            </a:r>
            <a:b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v10 ” : Not using elevation service + USER DPAPI only.</a:t>
            </a:r>
            <a:b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v20 ” : Use the elevation service to use SYSTEM previlege.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C22CA270-7B15-6DCA-2AFB-52898B1AD6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C85C9EA-C9B1-D9BF-AEF4-1F9E809C7F95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8460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94DB5B32-F638-B706-1E2A-09CAA2B24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B917E7A2-7574-B0FA-AA08-651FB7ACCB9E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elevation service ??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Chrome Update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구성 요소가 망가졌을 시에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SYSTEM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권한으로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Recovery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하는 것이었음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”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65113" lvl="3" indent="-176213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Infostealer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대응 </a:t>
            </a:r>
            <a:b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88900" lvl="2">
              <a:buSzPts val="1600"/>
            </a:pPr>
            <a:r>
              <a:rPr lang="en-US" altLang="ko-KR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// Infostealer</a:t>
            </a:r>
            <a:r>
              <a:rPr lang="ko-KR" altLang="en-US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</a:t>
            </a:r>
            <a:r>
              <a:rPr lang="en-US" altLang="ko-KR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USER </a:t>
            </a:r>
            <a:r>
              <a:rPr lang="ko-KR" altLang="en-US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권한만으로 너무 쉽게 </a:t>
            </a:r>
            <a:r>
              <a:rPr lang="en-US" altLang="ko-KR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PW</a:t>
            </a:r>
            <a:r>
              <a:rPr lang="ko-KR" altLang="en-US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풀어버리니까 </a:t>
            </a:r>
            <a:r>
              <a:rPr lang="en-US" altLang="ko-KR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Chrome v127</a:t>
            </a:r>
            <a:r>
              <a:rPr lang="ko-KR" altLang="en-US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부터 </a:t>
            </a:r>
            <a:r>
              <a:rPr lang="en-US" altLang="ko-KR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v20 ”</a:t>
            </a:r>
            <a:r>
              <a:rPr lang="ko-KR" altLang="en-US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도입과 함께 </a:t>
            </a:r>
            <a:r>
              <a:rPr lang="en-US" altLang="ko-KR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elevation service</a:t>
            </a:r>
            <a:r>
              <a:rPr lang="ko-KR" altLang="en-US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개조해 </a:t>
            </a:r>
            <a:r>
              <a:rPr lang="en-US" altLang="ko-KR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Ielvator COM Interface</a:t>
            </a:r>
            <a:r>
              <a:rPr lang="ko-KR" altLang="en-US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통한 이중 </a:t>
            </a:r>
            <a:r>
              <a:rPr lang="en-US" altLang="ko-KR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DPAPI(SYSTEM + USER) </a:t>
            </a:r>
            <a:r>
              <a:rPr lang="ko-KR" altLang="en-US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계층과 </a:t>
            </a:r>
            <a:r>
              <a:rPr lang="en-US" altLang="ko-KR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Path Validation </a:t>
            </a:r>
            <a:r>
              <a:rPr lang="ko-KR" altLang="en-US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로직이 추가된 것</a:t>
            </a:r>
            <a:r>
              <a:rPr lang="en-US" altLang="ko-KR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</a:t>
            </a:r>
            <a:br>
              <a:rPr lang="en-US" altLang="ko-KR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&gt;&gt; Infostealer</a:t>
            </a:r>
            <a:r>
              <a:rPr lang="ko-KR" altLang="en-US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</a:t>
            </a:r>
            <a:r>
              <a:rPr lang="en-US" altLang="ko-KR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USER </a:t>
            </a:r>
            <a:r>
              <a:rPr lang="ko-KR" altLang="en-US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권한이면 </a:t>
            </a:r>
            <a:r>
              <a:rPr lang="en-US" altLang="ko-KR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SYSTEM </a:t>
            </a:r>
            <a:r>
              <a:rPr lang="ko-KR" altLang="en-US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권한의 영역은 접근 불가 </a:t>
            </a:r>
            <a:endParaRPr lang="en-US" altLang="ko-KR">
              <a:solidFill>
                <a:schemeClr val="accent1">
                  <a:lumMod val="50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lvl="2" indent="-342900">
              <a:buSzPts val="1600"/>
              <a:buAutoNum type="arabicPeriod"/>
            </a:pPr>
            <a:r>
              <a:rPr lang="en-US" altLang="ko-KR" sz="16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</a:t>
            </a:r>
            <a:r>
              <a:rPr lang="en-US" altLang="ko-KR" sz="16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*IElevator2** ??</a:t>
            </a:r>
          </a:p>
          <a:p>
            <a:pPr lvl="3">
              <a:buSzPts val="1600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lvl="2" indent="-342900">
              <a:buSzPts val="1600"/>
              <a:buAutoNum type="arabicPeriod"/>
            </a:pPr>
            <a:r>
              <a:rPr lang="en-US" altLang="ko-KR" sz="16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</a:t>
            </a:r>
            <a:r>
              <a:rPr lang="ko-KR" altLang="en-US" sz="16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방식에서 </a:t>
            </a:r>
            <a:r>
              <a:rPr lang="en-US" altLang="ko-KR" sz="16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chromium </a:t>
            </a:r>
            <a:r>
              <a:rPr lang="ko-KR" altLang="en-US" sz="16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차세대 내부 통신망 </a:t>
            </a:r>
            <a:r>
              <a:rPr lang="en-US" altLang="ko-KR" sz="16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&gt;&gt;</a:t>
            </a:r>
            <a:r>
              <a:rPr lang="en-US" altLang="ko-KR" sz="16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*Mojo IPC**</a:t>
            </a:r>
            <a:r>
              <a:rPr lang="ko-KR" altLang="en-US" sz="16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교체 </a:t>
            </a:r>
            <a:endParaRPr lang="en-US" altLang="ko-KR" sz="16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83C80620-A39F-1603-9A2A-6F59904F5F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CB7AF26-0D7C-5037-61CE-F3B292D07CC5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0837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D5ADDD14-A783-0505-C71F-C187B6FAA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8C40490F-33E3-61BF-A835-52E5133CE7D5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diff. IElevator</a:t>
            </a:r>
            <a:r>
              <a:rPr lang="ko-KR" altLang="en-US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IElevator2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Chrome v144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이상 </a:t>
            </a: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72EAD5DE-2899-CB36-D844-AB87601DB7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8D46AC8-4A26-DC1C-90F0-17C420CF6AFF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05832F6-A315-7811-4C8B-43B63F5BE9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912857"/>
              </p:ext>
            </p:extLst>
          </p:nvPr>
        </p:nvGraphicFramePr>
        <p:xfrm>
          <a:off x="692728" y="1841529"/>
          <a:ext cx="7671955" cy="2682240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897081">
                  <a:extLst>
                    <a:ext uri="{9D8B030D-6E8A-4147-A177-3AD203B41FA5}">
                      <a16:colId xmlns:a16="http://schemas.microsoft.com/office/drawing/2014/main" val="586688733"/>
                    </a:ext>
                  </a:extLst>
                </a:gridCol>
                <a:gridCol w="1267691">
                  <a:extLst>
                    <a:ext uri="{9D8B030D-6E8A-4147-A177-3AD203B41FA5}">
                      <a16:colId xmlns:a16="http://schemas.microsoft.com/office/drawing/2014/main" val="280542278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457280140"/>
                    </a:ext>
                  </a:extLst>
                </a:gridCol>
                <a:gridCol w="2192482">
                  <a:extLst>
                    <a:ext uri="{9D8B030D-6E8A-4147-A177-3AD203B41FA5}">
                      <a16:colId xmlns:a16="http://schemas.microsoft.com/office/drawing/2014/main" val="1789332456"/>
                    </a:ext>
                  </a:extLst>
                </a:gridCol>
                <a:gridCol w="1028701">
                  <a:extLst>
                    <a:ext uri="{9D8B030D-6E8A-4147-A177-3AD203B41FA5}">
                      <a16:colId xmlns:a16="http://schemas.microsoft.com/office/drawing/2014/main" val="22611847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Vtable 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Offset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IElevator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IElevator2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Note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4763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Slot 0 - 2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0 ~ 16 byte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IUnknown(QueryInterface, AddRef, Release)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IUnknown(</a:t>
                      </a:r>
                      <a:r>
                        <a:rPr lang="ko-KR" altLang="en-US" sz="1200">
                          <a:latin typeface="페이퍼로지 3 Light" pitchFamily="2" charset="-127"/>
                          <a:ea typeface="페이퍼로지 3 Light" pitchFamily="2" charset="-127"/>
                        </a:rPr>
                        <a:t>동일</a:t>
                      </a:r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)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COM </a:t>
                      </a:r>
                      <a:r>
                        <a:rPr lang="ko-KR" altLang="en-US" sz="1200">
                          <a:latin typeface="페이퍼로지 3 Light" pitchFamily="2" charset="-127"/>
                          <a:ea typeface="페이퍼로지 3 Light" pitchFamily="2" charset="-127"/>
                        </a:rPr>
                        <a:t>기본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0947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Slot 3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24 byte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RunRecoveryCRXElevated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RunRecoveryCRXElevated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==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559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Slot 4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EncryptData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EncryptData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EncryptData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==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112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Slot 5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40 byte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DecryptData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DecryptData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==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464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Slot 6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48 byte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None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RunIsolatedChrome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New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587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Slot 7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56 byte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None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AcceptInvitation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New 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858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5410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2C98F3DE-358C-1B3E-7456-F58566CDC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FF33B82D-023D-8908-CE81-A1922059AF8D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diff. IElevator</a:t>
            </a:r>
            <a:r>
              <a:rPr lang="ko-KR" altLang="en-US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IElevator2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IElevator2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추가된 함수 </a:t>
            </a: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DD4F6DEE-BFB7-9829-7681-41B832E9B4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F11DC94-662E-D03E-C822-1B400E4951F5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D98A38A-52F8-6B3E-BB26-8CF724AE5655}"/>
              </a:ext>
            </a:extLst>
          </p:cNvPr>
          <p:cNvSpPr txBox="1"/>
          <p:nvPr/>
        </p:nvSpPr>
        <p:spPr>
          <a:xfrm>
            <a:off x="2017484" y="2083529"/>
            <a:ext cx="634163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interface IElevator2 : IElevator {</a:t>
            </a:r>
          </a:p>
          <a:p>
            <a:r>
              <a:rPr lang="ko-KR" altLang="en-US"/>
              <a:t>        HRESULT _stdcall </a:t>
            </a:r>
            <a:r>
              <a:rPr lang="ko-KR" altLang="en-US">
                <a:solidFill>
                  <a:srgbClr val="FF0000"/>
                </a:solidFill>
              </a:rPr>
              <a:t>RunIsolatedChrome</a:t>
            </a:r>
            <a:r>
              <a:rPr lang="ko-KR" altLang="en-US"/>
              <a:t>(</a:t>
            </a:r>
          </a:p>
          <a:p>
            <a:r>
              <a:rPr lang="ko-KR" altLang="en-US"/>
              <a:t>                        [in] unsigned long flags, </a:t>
            </a:r>
          </a:p>
          <a:p>
            <a:r>
              <a:rPr lang="ko-KR" altLang="en-US"/>
              <a:t>                        [in] LPWSTR command_line, </a:t>
            </a:r>
          </a:p>
          <a:p>
            <a:r>
              <a:rPr lang="ko-KR" altLang="en-US"/>
              <a:t>                        [out] BSTR* log, </a:t>
            </a:r>
          </a:p>
          <a:p>
            <a:r>
              <a:rPr lang="ko-KR" altLang="en-US"/>
              <a:t>                        [out] ULONG_PTR* proc_handle, </a:t>
            </a:r>
          </a:p>
          <a:p>
            <a:r>
              <a:rPr lang="ko-KR" altLang="en-US"/>
              <a:t>                        [out] unsigned long* last_error);</a:t>
            </a:r>
          </a:p>
          <a:p>
            <a:r>
              <a:rPr lang="ko-KR" altLang="en-US"/>
              <a:t>        HRESULT _stdcall </a:t>
            </a:r>
            <a:r>
              <a:rPr lang="ko-KR" altLang="en-US">
                <a:solidFill>
                  <a:srgbClr val="FF0000"/>
                </a:solidFill>
              </a:rPr>
              <a:t>AcceptInvitation</a:t>
            </a:r>
            <a:r>
              <a:rPr lang="ko-KR" altLang="en-US"/>
              <a:t>([in] LPWSTR server_name);</a:t>
            </a:r>
          </a:p>
          <a:p>
            <a:r>
              <a:rPr lang="ko-KR" altLang="en-US"/>
              <a:t>    };</a:t>
            </a:r>
          </a:p>
        </p:txBody>
      </p:sp>
    </p:spTree>
    <p:extLst>
      <p:ext uri="{BB962C8B-B14F-4D97-AF65-F5344CB8AC3E}">
        <p14:creationId xmlns:p14="http://schemas.microsoft.com/office/powerpoint/2010/main" val="2083327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593526D0-361E-040D-CDF4-D5EB810A7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D1DB9DF2-26B3-A1FE-0F86-29864779B3DF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Mojo IPC ?? </a:t>
            </a:r>
            <a: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Inter-Process Commun…</a:t>
            </a: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Why needed IPC...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chrom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은 대부분의 프로세스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렌더러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GPU...)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Sandbox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안에 가둬두는데 이것 때문에 해당 프로세스들은 마음대로 다른 프로세스에 연결해서 소켓을 주고 받을 수 없다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이를 위해서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Broker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라는 놈이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IPC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중개자 역할 수행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”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Mojo: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프로세스 간 통신을 담당 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기존 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COM)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3538" lvl="2" indent="-187325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#define: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플랫폼 독립적 추상화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메시지 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IDL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형식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여러 대상 언어에 대한 코드 생성 기능을 갖춘 </a:t>
            </a: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6213" lvl="2" indent="987425">
              <a:buSzPts val="1600"/>
            </a:pP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바인딩 라이브러리를 제공하는 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Runtime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라이브러리 모음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3538" lvl="2" indent="-187325">
              <a:buSzPts val="1600"/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공유 메모리 버퍼 기능도 제공 </a:t>
            </a: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**protobuf**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라는 놈도 있는데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 fd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는 전송이 안돼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..!</a:t>
            </a:r>
            <a:endParaRPr lang="en-US" altLang="ko-KR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055314D4-7E6D-71C7-CFB7-AE986E70C8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0D664DA-E9BB-06E5-1AF4-062CB6697941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C4B921-624F-DB00-7285-F12EED0A0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159" y="3270963"/>
            <a:ext cx="3185796" cy="17145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07F98B-A6E6-96F6-BB7D-958EEEC5B228}"/>
              </a:ext>
            </a:extLst>
          </p:cNvPr>
          <p:cNvSpPr txBox="1"/>
          <p:nvPr/>
        </p:nvSpPr>
        <p:spPr>
          <a:xfrm>
            <a:off x="387275" y="4928056"/>
            <a:ext cx="71247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protobuf: Data serialization format (Can explanin to JSON,</a:t>
            </a:r>
            <a:r>
              <a:rPr lang="ko-KR" altLang="en-US" sz="800">
                <a:latin typeface="페이퍼로지 1 Thin" pitchFamily="2" charset="-127"/>
                <a:ea typeface="페이퍼로지 1 Thin" pitchFamily="2" charset="-127"/>
              </a:rPr>
              <a:t> </a:t>
            </a:r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XML</a:t>
            </a:r>
            <a:r>
              <a:rPr lang="ko-KR" altLang="en-US" sz="800">
                <a:latin typeface="페이퍼로지 1 Thin" pitchFamily="2" charset="-127"/>
                <a:ea typeface="페이퍼로지 1 Thin" pitchFamily="2" charset="-127"/>
              </a:rPr>
              <a:t> </a:t>
            </a:r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binary</a:t>
            </a:r>
            <a:r>
              <a:rPr lang="ko-KR" altLang="en-US" sz="800">
                <a:latin typeface="페이퍼로지 1 Thin" pitchFamily="2" charset="-127"/>
                <a:ea typeface="페이퍼로지 1 Thin" pitchFamily="2" charset="-127"/>
              </a:rPr>
              <a:t> </a:t>
            </a:r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version…) + .Need to define proto scheme (ex: .proto)</a:t>
            </a:r>
          </a:p>
        </p:txBody>
      </p:sp>
    </p:spTree>
    <p:extLst>
      <p:ext uri="{BB962C8B-B14F-4D97-AF65-F5344CB8AC3E}">
        <p14:creationId xmlns:p14="http://schemas.microsoft.com/office/powerpoint/2010/main" val="1211418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4AFA6EFD-89A5-C7F3-39B6-81AE245EE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551346DF-9C2E-97D3-5ACE-BAD25F81AEEE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Why</a:t>
            </a:r>
            <a:r>
              <a:rPr lang="ko-KR" altLang="en-US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Mojo instead of COM ??</a:t>
            </a:r>
          </a:p>
          <a:p>
            <a:pPr marL="452438" lvl="2" indent="-276225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accent3">
                  <a:lumMod val="7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452438" lvl="2" indent="-276225">
              <a:buSzPts val="1600"/>
              <a:buAutoNum type="arabicPeriod"/>
            </a:pPr>
            <a:r>
              <a:rPr lang="en-US" altLang="ko-KR" sz="1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Cross-platform: 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윈도우 전용 </a:t>
            </a:r>
            <a:r>
              <a:rPr lang="en-US" altLang="ko-KR" sz="1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과 달리 모든 </a:t>
            </a:r>
            <a:r>
              <a:rPr lang="en-US" altLang="ko-KR" sz="1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OS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에서 작동</a:t>
            </a:r>
            <a:endParaRPr lang="en-US" altLang="ko-KR" sz="18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452438" lvl="3" indent="-276225">
              <a:buSzPts val="1600"/>
            </a:pPr>
            <a:endParaRPr lang="en-US" altLang="ko-KR" sz="18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452438" lvl="2" indent="-276225">
              <a:buSzPts val="1600"/>
              <a:buAutoNum type="arabicPeriod"/>
            </a:pPr>
            <a:r>
              <a:rPr lang="en-US" altLang="ko-KR" sz="1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Sandbox-friendly: 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권한이 제한된 샌드박스 </a:t>
            </a:r>
            <a:r>
              <a:rPr lang="en-US" altLang="ko-KR" sz="1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Proc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간 통신에 최적화</a:t>
            </a:r>
            <a:endParaRPr lang="en-US" altLang="ko-KR" sz="18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452438" lvl="3" indent="-276225">
              <a:buSzPts val="1600"/>
            </a:pPr>
            <a:endParaRPr lang="en-US" altLang="ko-KR" sz="18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452438" lvl="2" indent="-276225">
              <a:buSzPts val="1600"/>
              <a:buAutoNum type="arabicPeriod"/>
            </a:pPr>
            <a:r>
              <a:rPr lang="en-US" altLang="ko-KR" sz="1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Efficiency: 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기존 방식보다 효율적인 리소스 및 </a:t>
            </a:r>
            <a:r>
              <a:rPr lang="en-US" altLang="ko-KR" sz="1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FD 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전송 가능</a:t>
            </a:r>
            <a:endParaRPr lang="en-US" altLang="ko-KR" sz="1800" dirty="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E5B3FC01-EA4A-02CD-6276-EC62D12CD6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46D01E3-C979-42AA-877E-02BDAD8431AB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641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FA7B48A-AF8D-103B-693C-8FABB8EEB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34A9ADDB-49B6-20F0-272A-982F20380EAE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Decrypt</a:t>
            </a:r>
            <a:r>
              <a:rPr lang="ko-KR" altLang="en-US" sz="16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위한 단계</a:t>
            </a:r>
            <a:endParaRPr lang="en-US" altLang="ko-KR" sz="1600">
              <a:solidFill>
                <a:schemeClr val="accent3">
                  <a:lumMod val="7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lvl="2" indent="-342900">
              <a:buSzPts val="1600"/>
              <a:buAutoNum type="arabicPeriod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App-Bound Encrypted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Key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추출 및 식별 </a:t>
            </a: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Local State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파일의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os_crypt.app_bound_encrypted_key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값 추출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특징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Base64 encoded, “ APPB ” 4 byte Magic Header included (Need to Pre-processing)</a:t>
            </a:r>
          </a:p>
          <a:p>
            <a:pPr marL="342900" lvl="2" indent="-342900">
              <a:buSzPts val="1600"/>
              <a:buAutoNum type="arabicPeriod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lvl="2" indent="-342900">
              <a:buSzPts val="1600"/>
              <a:buAutoNum type="arabicPeriod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Elevation Service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이용한 키 복호화 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(COM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상호작용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 </a:t>
            </a: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암호화된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BLOB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풀기 위해서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Elevation Service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와 통신해야 하고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그를 위해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IElevator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인터페이스 이용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3">
              <a:buSzPts val="1600"/>
            </a:pPr>
            <a:endParaRPr lang="en-US" altLang="ko-KR" sz="4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3" indent="542925">
              <a:buSzPts val="1600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과정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1.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인터페이스 호출 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3" indent="542925">
              <a:buSzPts val="1600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과정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2. DecryptData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메서드 실행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3" indent="542925">
              <a:buSzPts val="1600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과정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3.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경로 검증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endParaRPr lang="en-US" altLang="ko-KR" sz="4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3" indent="542925">
              <a:buSzPts val="1600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결과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AES Key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획득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4">
              <a:buSzPts val="1600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</a:t>
            </a: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lvl="2" indent="-342900">
              <a:buSzPts val="1600"/>
              <a:buAutoNum type="arabicPeriod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AES-256-GCM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적용 및 비밀번호 산출 </a:t>
            </a: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Decrypt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연산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Nonce(12 byte) + ciphertext (var)+ Tag(16 byte)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AES-GCM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특성에 따라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Tag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일치하면 데이터의 무결성이 확인되고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	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성공적으로 복호화된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plaintext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비밀번호를 알 수 있게 된다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12B1E83D-1D46-73B0-058B-1C67AA2523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7CF54AC-52F4-8855-D17B-E93978B2CD24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CE8F26-3A77-F0CD-6886-A47E6598F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434" y="885617"/>
            <a:ext cx="2543454" cy="72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135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AD538FA2-B9F7-F698-B2DB-D8EFE8A80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95226B63-5B7F-7F11-A62E-1475F9EDE60B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elevation_service/elevator.cc 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EncryptData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데이터 암호화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+ “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어떤 프로세스가 데이터를 암호화했는가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”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같이 저장 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DecryptData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데이터 복호화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+ “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암호화했던 그 프로세스와 일치하는가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”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확인 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RunRecovery**CRX**Elvated 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관리자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시스템 권한으로 복구 프로세스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(RunChromeRecoveryCRX)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실행할 수 있는 통로 제공 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RunIsolatedChrome (More Advanced security policy.. than init version “ v20 ”)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kIsolated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스위치를 붙여 외부 간섭을 차단한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chrome.exe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실행 후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hProcess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전달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82563" lvl="2" indent="-182563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elevation_service/caller_validation.cc </a:t>
            </a:r>
          </a:p>
          <a:p>
            <a:pPr marL="182563" lvl="2" indent="-182563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8775" lvl="2" indent="-176213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GenerateValidationData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검증 데이터 생성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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{caller Proc .exe abs.path, ProtectionLevel}</a:t>
            </a:r>
          </a:p>
          <a:p>
            <a:pPr marL="358775" lvl="2" indent="-176213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8775" lvl="2" indent="-176213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ValidateData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검증 분기 처리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(switch)</a:t>
            </a:r>
          </a:p>
          <a:p>
            <a:pPr marL="358775" lvl="2" indent="-176213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8775" lvl="2" indent="-176213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ValidatePath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경로 대조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(App-Bound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강제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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복호화 요청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Proc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의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h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를 이용해 실행중인 프로세스에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QueryFullProcessImageName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5CF4AE67-E3E5-0702-2B4D-53CD1F5AFC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/>
              <a:t>“ v20 ” chrome/elevation_service/...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6D8F52-0BCE-3F86-F325-3E9B6845A595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63E886D-FF0E-19A1-212F-C04AEDF29C4D}"/>
              </a:ext>
            </a:extLst>
          </p:cNvPr>
          <p:cNvSpPr txBox="1"/>
          <p:nvPr/>
        </p:nvSpPr>
        <p:spPr>
          <a:xfrm>
            <a:off x="387275" y="4928056"/>
            <a:ext cx="71247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CRX: ChRome eXtension .crx</a:t>
            </a:r>
          </a:p>
        </p:txBody>
      </p:sp>
    </p:spTree>
    <p:extLst>
      <p:ext uri="{BB962C8B-B14F-4D97-AF65-F5344CB8AC3E}">
        <p14:creationId xmlns:p14="http://schemas.microsoft.com/office/powerpoint/2010/main" val="980346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8860EB33-C9F1-C441-5DDC-6AF3B94DD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FA164F95-FC84-4DDC-ACFB-5476E1B53628}"/>
              </a:ext>
            </a:extLst>
          </p:cNvPr>
          <p:cNvSpPr txBox="1"/>
          <p:nvPr/>
        </p:nvSpPr>
        <p:spPr>
          <a:xfrm flipH="1">
            <a:off x="387275" y="888595"/>
            <a:ext cx="4633800" cy="2413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>
              <a:buSzPts val="1600"/>
            </a:pPr>
            <a:r>
              <a:rPr lang="en-US" altLang="ko-KR" sz="9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chromium/src/+/HEAD/chrome/elevation_service/elevator.cc</a:t>
            </a:r>
            <a:r>
              <a:rPr lang="en-US" altLang="ko-KR" sz="9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EncryptData </a:t>
            </a:r>
            <a:endParaRPr lang="en-US" altLang="ko-KR" sz="800">
              <a:solidFill>
                <a:schemeClr val="dk1"/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endParaRPr lang="en-US" altLang="ko-KR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171450" lvl="2" indent="-171450">
              <a:buSzPts val="1600"/>
              <a:buFontTx/>
              <a:buChar char="-"/>
            </a:pP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impersonate: 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사칭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(impersonation)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을 수행하는 객체</a:t>
            </a:r>
            <a:b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br>
              <a:rPr lang="en-US" altLang="ko-KR" sz="8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&gt; elevation_service.exe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가 자신을 호출한 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chrome.exe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의  권한을 일시적으로 빌려 쓰는 것을 의미 </a:t>
            </a:r>
            <a:b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br>
              <a:rPr lang="en-US" altLang="ko-KR" sz="8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&gt;&gt; Why?</a:t>
            </a:r>
            <a:b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elevation_service.exe</a:t>
            </a:r>
            <a:r>
              <a:rPr lang="ko-KR" altLang="en-US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는 </a:t>
            </a:r>
            <a:r>
              <a:rPr lang="en-US" altLang="ko-KR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SYSTEM </a:t>
            </a:r>
            <a:r>
              <a:rPr lang="ko-KR" altLang="en-US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권한으로 실행</a:t>
            </a:r>
            <a:br>
              <a:rPr lang="en-US" altLang="ko-KR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 </a:t>
            </a:r>
            <a:r>
              <a:rPr lang="en-US" altLang="ko-KR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chrome.exe</a:t>
            </a:r>
            <a:r>
              <a:rPr lang="ko-KR" altLang="en-US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의 권한</a:t>
            </a:r>
            <a:r>
              <a:rPr lang="en-US" altLang="ko-KR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(USER)</a:t>
            </a:r>
            <a:r>
              <a:rPr lang="ko-KR" altLang="en-US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을 빌려 써야 함</a:t>
            </a:r>
            <a:r>
              <a:rPr lang="en-US" altLang="ko-KR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.</a:t>
            </a:r>
            <a:endParaRPr lang="en-US" altLang="ko-KR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171450" lvl="2" indent="-171450">
              <a:buSzPts val="1600"/>
              <a:buFontTx/>
              <a:buChar char="-"/>
            </a:pPr>
            <a:endParaRPr lang="en-US" altLang="ko-KR" sz="10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171450" lvl="2" indent="-171450">
              <a:buSzPts val="1600"/>
              <a:buFontTx/>
              <a:buChar char="-"/>
            </a:pP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validation_data</a:t>
            </a:r>
            <a:b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br>
              <a:rPr lang="en-US" altLang="ko-KR" sz="8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&gt; 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데이터를 암호화하는 프로세스에 대한 정보</a:t>
            </a:r>
            <a:b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br>
              <a:rPr lang="en-US" altLang="ko-KR" sz="8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&gt;&gt; 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후에 복호화하는 프로세스를 대조 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(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다르면 안되겠징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..)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EDD4094-6C0D-2373-882D-3945FAABC114}"/>
              </a:ext>
            </a:extLst>
          </p:cNvPr>
          <p:cNvCxnSpPr>
            <a:cxnSpLocks/>
          </p:cNvCxnSpPr>
          <p:nvPr/>
        </p:nvCxnSpPr>
        <p:spPr>
          <a:xfrm>
            <a:off x="387275" y="763285"/>
            <a:ext cx="4763371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52E4E3B9-0497-7B32-BED3-8297C8478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98" y="71514"/>
            <a:ext cx="609524" cy="609524"/>
          </a:xfrm>
          <a:prstGeom prst="rect">
            <a:avLst/>
          </a:prstGeom>
        </p:spPr>
      </p:pic>
      <p:pic>
        <p:nvPicPr>
          <p:cNvPr id="19" name="그림 1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D9E158-ED04-31FF-B6E7-7F022DD97B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630"/>
          <a:stretch>
            <a:fillRect/>
          </a:stretch>
        </p:blipFill>
        <p:spPr>
          <a:xfrm>
            <a:off x="176053" y="3299430"/>
            <a:ext cx="4022362" cy="1751474"/>
          </a:xfrm>
          <a:prstGeom prst="rect">
            <a:avLst/>
          </a:prstGeom>
        </p:spPr>
      </p:pic>
      <p:pic>
        <p:nvPicPr>
          <p:cNvPr id="21" name="그림 20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DBE1AE-A613-6410-BF13-4648571A75C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250" b="2122"/>
          <a:stretch>
            <a:fillRect/>
          </a:stretch>
        </p:blipFill>
        <p:spPr>
          <a:xfrm>
            <a:off x="5207796" y="-1"/>
            <a:ext cx="3707606" cy="5143501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35DA5C-82B5-44BC-F8AC-322582501D10}"/>
              </a:ext>
            </a:extLst>
          </p:cNvPr>
          <p:cNvSpPr/>
          <p:nvPr/>
        </p:nvSpPr>
        <p:spPr>
          <a:xfrm>
            <a:off x="5412581" y="92596"/>
            <a:ext cx="2957513" cy="250304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92BEBCED-0268-CE00-A0D3-88EF0924A3F5}"/>
              </a:ext>
            </a:extLst>
          </p:cNvPr>
          <p:cNvCxnSpPr>
            <a:cxnSpLocks/>
          </p:cNvCxnSpPr>
          <p:nvPr/>
        </p:nvCxnSpPr>
        <p:spPr>
          <a:xfrm flipV="1">
            <a:off x="2291874" y="2095500"/>
            <a:ext cx="3281443" cy="1601943"/>
          </a:xfrm>
          <a:prstGeom prst="bentConnector3">
            <a:avLst>
              <a:gd name="adj1" fmla="val 9005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3DDEC8F0-E0EB-EE20-72D5-DF88FADA4122}"/>
              </a:ext>
            </a:extLst>
          </p:cNvPr>
          <p:cNvSpPr/>
          <p:nvPr/>
        </p:nvSpPr>
        <p:spPr>
          <a:xfrm>
            <a:off x="5573317" y="556514"/>
            <a:ext cx="2957513" cy="936529"/>
          </a:xfrm>
          <a:prstGeom prst="rect">
            <a:avLst/>
          </a:prstGeom>
          <a:noFill/>
          <a:ln w="31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35F852D8-8949-07E2-EF63-510D1FD552B0}"/>
              </a:ext>
            </a:extLst>
          </p:cNvPr>
          <p:cNvCxnSpPr>
            <a:cxnSpLocks/>
          </p:cNvCxnSpPr>
          <p:nvPr/>
        </p:nvCxnSpPr>
        <p:spPr>
          <a:xfrm flipV="1">
            <a:off x="1704303" y="1019175"/>
            <a:ext cx="3869014" cy="1669359"/>
          </a:xfrm>
          <a:prstGeom prst="bentConnector3">
            <a:avLst>
              <a:gd name="adj1" fmla="val 87420"/>
            </a:avLst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7623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A18CBEAE-6A0C-10FF-31E3-61B407A24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061F04A-232C-30A4-E6AF-253BDEF73C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23" b="1493"/>
          <a:stretch>
            <a:fillRect/>
          </a:stretch>
        </p:blipFill>
        <p:spPr>
          <a:xfrm>
            <a:off x="5214943" y="1"/>
            <a:ext cx="3503112" cy="5143500"/>
          </a:xfrm>
          <a:prstGeom prst="rect">
            <a:avLst/>
          </a:prstGeom>
        </p:spPr>
      </p:pic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4CDD3D68-3317-E7E1-94FF-0A8363F35F3F}"/>
              </a:ext>
            </a:extLst>
          </p:cNvPr>
          <p:cNvSpPr txBox="1"/>
          <p:nvPr/>
        </p:nvSpPr>
        <p:spPr>
          <a:xfrm flipH="1">
            <a:off x="387275" y="914194"/>
            <a:ext cx="4633800" cy="4010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>
              <a:buSzPts val="1600"/>
            </a:pPr>
            <a:r>
              <a:rPr lang="en-US" altLang="ko-KR" sz="9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chromium/src/+/HEAD/chrome/elevation_service/elevator.cc</a:t>
            </a:r>
            <a:r>
              <a:rPr lang="en-US" altLang="ko-KR" sz="9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</a:t>
            </a:r>
            <a:r>
              <a:rPr lang="en-US" altLang="ko-KR" sz="9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DecryptData </a:t>
            </a:r>
            <a:endParaRPr lang="en-US" altLang="ko-KR" sz="800">
              <a:solidFill>
                <a:schemeClr val="dk1"/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endParaRPr lang="en-US" altLang="ko-KR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171450" lvl="2" indent="-171450">
              <a:buSzPts val="1600"/>
              <a:buFontTx/>
              <a:buChar char="-"/>
            </a:pP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impersonate: 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사칭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(impersonation)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을 수행하는 객체</a:t>
            </a:r>
            <a:b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&gt; elevation_service.exe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가 자신을 호출한 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chrome.exe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의  권한을 일시적으로 빌려 쓰는 것을 의미 </a:t>
            </a:r>
            <a:b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&gt;&gt; Why?</a:t>
            </a:r>
            <a:b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elevation_service.exe</a:t>
            </a:r>
            <a:r>
              <a:rPr lang="ko-KR" altLang="en-US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는 </a:t>
            </a:r>
            <a:r>
              <a:rPr lang="en-US" altLang="ko-KR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SYSTEM </a:t>
            </a:r>
            <a:r>
              <a:rPr lang="ko-KR" altLang="en-US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권한으로 실행</a:t>
            </a:r>
            <a:br>
              <a:rPr lang="en-US" altLang="ko-KR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 </a:t>
            </a:r>
            <a:r>
              <a:rPr lang="en-US" altLang="ko-KR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chrome.exe</a:t>
            </a:r>
            <a:r>
              <a:rPr lang="ko-KR" altLang="en-US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의 권한</a:t>
            </a:r>
            <a:r>
              <a:rPr lang="en-US" altLang="ko-KR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(USER)</a:t>
            </a:r>
            <a:r>
              <a:rPr lang="ko-KR" altLang="en-US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을 빌려 써야 함</a:t>
            </a:r>
            <a:r>
              <a:rPr lang="en-US" altLang="ko-KR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.</a:t>
            </a:r>
            <a:endParaRPr lang="en-US" altLang="ko-KR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endParaRPr lang="en-US" altLang="ko-KR" sz="8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-  </a:t>
            </a:r>
            <a:r>
              <a:rPr lang="en-US" altLang="ko-KR" sz="1200">
                <a:solidFill>
                  <a:schemeClr val="accent1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Decrypt</a:t>
            </a:r>
          </a:p>
          <a:p>
            <a:pPr marL="357188" lvl="2" indent="-177800">
              <a:buSzPct val="100000"/>
              <a:buAutoNum type="arabicPeriod"/>
            </a:pPr>
            <a:r>
              <a:rPr lang="en-US" altLang="ko-KR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SYSTEM </a:t>
            </a:r>
            <a:r>
              <a:rPr lang="ko-KR" altLang="en-US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권한 </a:t>
            </a:r>
            <a:r>
              <a:rPr lang="en-US" altLang="ko-KR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DPAPI </a:t>
            </a:r>
          </a:p>
          <a:p>
            <a:pPr marL="357188" lvl="2" indent="-177800">
              <a:buSzPct val="100000"/>
              <a:buAutoNum type="arabicPeriod"/>
            </a:pPr>
            <a:r>
              <a:rPr lang="en-US" altLang="ko-KR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USER </a:t>
            </a:r>
            <a:r>
              <a:rPr lang="ko-KR" altLang="en-US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권한 </a:t>
            </a:r>
            <a:r>
              <a:rPr lang="en-US" altLang="ko-KR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DPAPI</a:t>
            </a:r>
            <a:endParaRPr lang="en-US" altLang="ko-KR" sz="800">
              <a:solidFill>
                <a:schemeClr val="tx1">
                  <a:lumMod val="65000"/>
                  <a:lumOff val="35000"/>
                </a:schemeClr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179388" lvl="2" indent="-179388">
              <a:buSzPct val="100000"/>
              <a:buFontTx/>
              <a:buChar char="-"/>
            </a:pPr>
            <a:r>
              <a:rPr lang="en-US" altLang="ko-KR" sz="1200">
                <a:solidFill>
                  <a:schemeClr val="accent3">
                    <a:lumMod val="7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Encrypt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1.  </a:t>
            </a:r>
            <a:r>
              <a:rPr lang="en-US" altLang="ko-KR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USER</a:t>
            </a:r>
            <a:r>
              <a:rPr lang="ko-KR" altLang="en-US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 권한 </a:t>
            </a:r>
            <a:r>
              <a:rPr lang="en-US" altLang="ko-KR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DPAPI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2.  </a:t>
            </a:r>
            <a:r>
              <a:rPr lang="en-US" altLang="ko-KR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SYSTEM</a:t>
            </a:r>
            <a:r>
              <a:rPr lang="ko-KR" altLang="en-US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 권한 </a:t>
            </a:r>
            <a:r>
              <a:rPr lang="en-US" altLang="ko-KR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DPAPI</a:t>
            </a:r>
          </a:p>
          <a:p>
            <a:pPr lvl="2">
              <a:buSzPct val="100000"/>
            </a:pPr>
            <a:endParaRPr lang="en-US" altLang="ko-KR" sz="10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11976A0-7AC5-19D9-1F0C-FE8D5B751167}"/>
              </a:ext>
            </a:extLst>
          </p:cNvPr>
          <p:cNvCxnSpPr>
            <a:cxnSpLocks/>
          </p:cNvCxnSpPr>
          <p:nvPr/>
        </p:nvCxnSpPr>
        <p:spPr>
          <a:xfrm>
            <a:off x="387275" y="763285"/>
            <a:ext cx="4763371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CDB724A9-FAC8-813D-EF49-6767E59668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198" y="78307"/>
            <a:ext cx="609524" cy="609524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5A3A1077-97C9-7A40-BF45-BFA7D1CE9B49}"/>
              </a:ext>
            </a:extLst>
          </p:cNvPr>
          <p:cNvSpPr/>
          <p:nvPr/>
        </p:nvSpPr>
        <p:spPr>
          <a:xfrm>
            <a:off x="5448452" y="92596"/>
            <a:ext cx="2866873" cy="343173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AE36360-DBEB-5954-D567-30610B893A42}"/>
              </a:ext>
            </a:extLst>
          </p:cNvPr>
          <p:cNvSpPr/>
          <p:nvPr/>
        </p:nvSpPr>
        <p:spPr>
          <a:xfrm>
            <a:off x="5448452" y="914194"/>
            <a:ext cx="3052611" cy="500270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E810501-F93F-68EE-A46B-D880DCEBDE8D}"/>
              </a:ext>
            </a:extLst>
          </p:cNvPr>
          <p:cNvSpPr/>
          <p:nvPr/>
        </p:nvSpPr>
        <p:spPr>
          <a:xfrm>
            <a:off x="5562752" y="2847768"/>
            <a:ext cx="2938311" cy="581231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32AB97-11FE-1EEF-265B-2F090AD288FE}"/>
              </a:ext>
            </a:extLst>
          </p:cNvPr>
          <p:cNvSpPr txBox="1"/>
          <p:nvPr/>
        </p:nvSpPr>
        <p:spPr>
          <a:xfrm>
            <a:off x="3929058" y="2938328"/>
            <a:ext cx="1381126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chemeClr val="tx2">
                    <a:lumMod val="75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과거의 요청자와 </a:t>
            </a:r>
            <a:endParaRPr lang="en-US" altLang="ko-KR" sz="1000">
              <a:solidFill>
                <a:schemeClr val="tx2">
                  <a:lumMod val="75000"/>
                </a:schemeClr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ko-KR" altLang="en-US" sz="1000">
                <a:solidFill>
                  <a:schemeClr val="tx2">
                    <a:lumMod val="75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현재의 요청자 일치 검증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2120EBD-E9AE-95D2-80E4-4CF9C2C64B1C}"/>
              </a:ext>
            </a:extLst>
          </p:cNvPr>
          <p:cNvSpPr/>
          <p:nvPr/>
        </p:nvSpPr>
        <p:spPr>
          <a:xfrm>
            <a:off x="1766456" y="4478843"/>
            <a:ext cx="2005008" cy="40011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app_bound_encrypted_key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A83088C-6A9E-578F-CC9B-E9FCD17A9C9E}"/>
              </a:ext>
            </a:extLst>
          </p:cNvPr>
          <p:cNvSpPr/>
          <p:nvPr/>
        </p:nvSpPr>
        <p:spPr>
          <a:xfrm>
            <a:off x="1463738" y="3844920"/>
            <a:ext cx="2610441" cy="12202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077A386-B0D7-E315-CABB-0ACD740E15F8}"/>
              </a:ext>
            </a:extLst>
          </p:cNvPr>
          <p:cNvSpPr/>
          <p:nvPr/>
        </p:nvSpPr>
        <p:spPr>
          <a:xfrm>
            <a:off x="1582197" y="4229306"/>
            <a:ext cx="2373525" cy="74042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FE4B53-474B-AA11-BD37-087C4CE54554}"/>
              </a:ext>
            </a:extLst>
          </p:cNvPr>
          <p:cNvSpPr txBox="1"/>
          <p:nvPr/>
        </p:nvSpPr>
        <p:spPr>
          <a:xfrm>
            <a:off x="2528447" y="4010158"/>
            <a:ext cx="4810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USER</a:t>
            </a:r>
            <a:endParaRPr lang="ko-KR" altLang="en-US" sz="800">
              <a:latin typeface="페이퍼로지 2 ExtraLight" pitchFamily="2" charset="-127"/>
              <a:ea typeface="페이퍼로지 2 ExtraLight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75DCC6-BCED-B7AE-FBA6-9FB8A634B410}"/>
              </a:ext>
            </a:extLst>
          </p:cNvPr>
          <p:cNvSpPr txBox="1"/>
          <p:nvPr/>
        </p:nvSpPr>
        <p:spPr>
          <a:xfrm>
            <a:off x="2463897" y="3586290"/>
            <a:ext cx="609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SYSTEM</a:t>
            </a:r>
            <a:r>
              <a:rPr lang="ko-KR" altLang="en-US" sz="800">
                <a:latin typeface="페이퍼로지 2 ExtraLight" pitchFamily="2" charset="-127"/>
                <a:ea typeface="페이퍼로지 2 ExtraLight" pitchFamily="2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79143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A9FD92CD-91C1-E7BE-50D9-92054C1FA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87AD6D6D-010B-5A4C-41FB-D30C1B117BF6}"/>
              </a:ext>
            </a:extLst>
          </p:cNvPr>
          <p:cNvSpPr txBox="1"/>
          <p:nvPr/>
        </p:nvSpPr>
        <p:spPr>
          <a:xfrm flipH="1">
            <a:off x="387275" y="926292"/>
            <a:ext cx="5004832" cy="361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>
              <a:buSzPts val="1600"/>
            </a:pPr>
            <a:r>
              <a:rPr lang="en-US" altLang="ko-KR" sz="9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chromium/src/+/HEAD/chrome/elevation_service/elevator.cc</a:t>
            </a:r>
            <a:r>
              <a:rPr lang="en-US" altLang="ko-KR" sz="9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RunIsolatedChrome</a:t>
            </a:r>
            <a:endParaRPr lang="en-US" altLang="ko-KR" sz="800">
              <a:solidFill>
                <a:schemeClr val="dk1"/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endParaRPr lang="en-US" altLang="ko-KR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171450" lvl="2" indent="-171450">
              <a:buSzPts val="1600"/>
              <a:buFontTx/>
              <a:buChar char="-"/>
            </a:pP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untrusted_cmd_line</a:t>
            </a:r>
            <a:r>
              <a:rPr lang="ko-KR" altLang="ko-KR" sz="1000">
                <a:latin typeface="페이퍼로지 2 ExtraLight" pitchFamily="2" charset="-127"/>
                <a:ea typeface="페이퍼로지 2 ExtraLight" pitchFamily="2" charset="-127"/>
              </a:rPr>
              <a:t>을 신용하지 않고</a:t>
            </a:r>
            <a:b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</a:b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trusted_cmd_line</a:t>
            </a:r>
            <a:r>
              <a:rPr lang="ko-KR" altLang="ko-KR" sz="1000">
                <a:latin typeface="페이퍼로지 2 ExtraLight" pitchFamily="2" charset="-127"/>
                <a:ea typeface="페이퍼로지 2 ExtraLight" pitchFamily="2" charset="-127"/>
              </a:rPr>
              <a:t>을 자체 구축</a:t>
            </a: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 (</a:t>
            </a:r>
            <a:r>
              <a:rPr lang="ko-KR" altLang="ko-KR" sz="1000">
                <a:latin typeface="페이퍼로지 2 ExtraLight" pitchFamily="2" charset="-127"/>
                <a:ea typeface="페이퍼로지 2 ExtraLight" pitchFamily="2" charset="-127"/>
              </a:rPr>
              <a:t>경로 직접 탐색</a:t>
            </a: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) </a:t>
            </a:r>
            <a:b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&gt; </a:t>
            </a: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trusted_cmd_line</a:t>
            </a: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  <a:sym typeface="Wingdings" panose="05000000000000000000" pitchFamily="2" charset="2"/>
              </a:rPr>
              <a:t>-&gt;</a:t>
            </a: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AppendSwitch(::switches::kIsolated);</a:t>
            </a:r>
            <a:b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</a:br>
            <a:br>
              <a:rPr lang="en-US" altLang="ko-KR" sz="400">
                <a:latin typeface="페이퍼로지 2 ExtraLight" pitchFamily="2" charset="-127"/>
                <a:ea typeface="페이퍼로지 2 ExtraLight" pitchFamily="2" charset="-127"/>
              </a:rPr>
            </a:b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	“ </a:t>
            </a:r>
            <a:r>
              <a:rPr lang="ko-KR" altLang="ko-KR" sz="1000">
                <a:latin typeface="페이퍼로지 2 ExtraLight" pitchFamily="2" charset="-127"/>
                <a:ea typeface="페이퍼로지 2 ExtraLight" pitchFamily="2" charset="-127"/>
              </a:rPr>
              <a:t>프로세스 격리 강제</a:t>
            </a: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 ”</a:t>
            </a:r>
            <a:endParaRPr lang="en-US" altLang="ko-KR" sz="100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sym typeface="Montserrat SemiBold"/>
            </a:endParaRPr>
          </a:p>
          <a:p>
            <a:pPr marL="171450" lvl="2" indent="-171450">
              <a:buSzPts val="1600"/>
              <a:buFontTx/>
              <a:buChar char="-"/>
            </a:pPr>
            <a:endParaRPr lang="en-US" altLang="ko-KR" sz="80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sym typeface="Montserrat SemiBold"/>
            </a:endParaRPr>
          </a:p>
          <a:p>
            <a:pPr marL="171450" lvl="2" indent="-171450">
              <a:buSzPts val="1600"/>
              <a:buFontTx/>
              <a:buChar char="-"/>
            </a:pPr>
            <a:r>
              <a:rPr lang="en-US" altLang="ko-KR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trusted_cmd_line.. become writable_cmd_line </a:t>
            </a:r>
          </a:p>
          <a:p>
            <a:pPr lvl="2">
              <a:buSzPts val="1600"/>
            </a:pPr>
            <a:endParaRPr lang="en-US" altLang="ko-KR" sz="80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sym typeface="Montserrat SemiBold"/>
            </a:endParaRPr>
          </a:p>
          <a:p>
            <a:pPr marL="171450" lvl="2" indent="-171450">
              <a:buSzPts val="1600"/>
              <a:buFontTx/>
              <a:buChar char="-"/>
            </a:pPr>
            <a:r>
              <a:rPr lang="en-US" altLang="ko-KR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Normally.. Post Exploitation </a:t>
            </a:r>
            <a:b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sym typeface="Montserrat SemiBold"/>
              </a:rPr>
            </a:br>
            <a:br>
              <a:rPr lang="en-US" altLang="ko-KR" sz="4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sym typeface="Montserrat SemiBold"/>
              </a:rPr>
            </a:b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sym typeface="Montserrat SemiBold"/>
              </a:rPr>
              <a:t>이 과정은 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sym typeface="Montserrat SemiBold"/>
              </a:rPr>
              <a:t>Exploit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sym typeface="Montserrat SemiBold"/>
              </a:rPr>
              <a:t>에 성공하여 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sym typeface="Montserrat SemiBold"/>
              </a:rPr>
              <a:t>SYSTEM 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sym typeface="Montserrat SemiBold"/>
              </a:rPr>
              <a:t>권한을 얻은 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sym typeface="Montserrat SemiBold"/>
              </a:rPr>
              <a:t>Malware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sym typeface="Montserrat SemiBold"/>
              </a:rPr>
              <a:t>도 </a:t>
            </a:r>
            <a:b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sym typeface="Montserrat SemiBold"/>
              </a:rPr>
              <a:t>Chrome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sym typeface="Montserrat SemiBold"/>
              </a:rPr>
              <a:t>의 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sym typeface="Montserrat SemiBold"/>
              </a:rPr>
              <a:t>password_value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sym typeface="Montserrat SemiBold"/>
              </a:rPr>
              <a:t>를 평문으로 탈취하지 못하게 한다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sym typeface="Montserrat SemiBold"/>
              </a:rPr>
              <a:t>.</a:t>
            </a:r>
          </a:p>
          <a:p>
            <a:pPr marL="171450" lvl="2" indent="-171450">
              <a:buSzPts val="1600"/>
              <a:buFontTx/>
              <a:buChar char="-"/>
            </a:pPr>
            <a:endParaRPr lang="en-US" altLang="ko-KR" sz="800">
              <a:solidFill>
                <a:schemeClr val="dk1"/>
              </a:solidFill>
              <a:latin typeface="페이퍼로지 2 ExtraLight" pitchFamily="2" charset="-127"/>
              <a:ea typeface="페이퍼로지 2 ExtraLight" pitchFamily="2" charset="-127"/>
              <a:sym typeface="Montserrat SemiBold"/>
            </a:endParaRPr>
          </a:p>
          <a:p>
            <a:pPr marL="171450" lvl="2" indent="-171450">
              <a:buSzPts val="1600"/>
              <a:buFontTx/>
              <a:buChar char="-"/>
            </a:pPr>
            <a:r>
              <a:rPr lang="en-US" altLang="ko-KR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elevation servic</a:t>
            </a:r>
            <a:r>
              <a:rPr lang="ko-KR" altLang="en-US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는 </a:t>
            </a:r>
            <a:r>
              <a:rPr lang="en-US" altLang="ko-KR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SYSTEM </a:t>
            </a:r>
            <a:r>
              <a:rPr lang="ko-KR" altLang="en-US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권한으로 수행되고 </a:t>
            </a:r>
            <a:br>
              <a:rPr lang="en-US" altLang="ko-KR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</a:br>
            <a:r>
              <a:rPr lang="ko-KR" altLang="en-US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이 서비스를 호출하는 프로세스는 사용자 권한으로 수행되는 </a:t>
            </a:r>
            <a:r>
              <a:rPr lang="en-US" altLang="ko-KR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chrome </a:t>
            </a:r>
            <a:r>
              <a:rPr lang="ko-KR" altLang="en-US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이면 </a:t>
            </a:r>
            <a:br>
              <a:rPr lang="en-US" altLang="ko-KR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“ </a:t>
            </a:r>
            <a:r>
              <a:rPr lang="ko-KR" altLang="en-US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이 명령을 넣어서 크롬을 실행해줘 </a:t>
            </a:r>
            <a:r>
              <a:rPr lang="en-US" altLang="ko-KR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” </a:t>
            </a:r>
            <a:r>
              <a:rPr lang="ko-KR" altLang="en-US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라고 요청하는 상황</a:t>
            </a:r>
            <a:endParaRPr lang="en-US" altLang="ko-KR" sz="100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sym typeface="Montserrat SemiBold"/>
            </a:endParaRPr>
          </a:p>
          <a:p>
            <a:pPr marL="171450" lvl="2" indent="-171450">
              <a:buSzPts val="1600"/>
              <a:buFontTx/>
              <a:buChar char="-"/>
            </a:pPr>
            <a:endParaRPr lang="en-US" altLang="ko-KR" sz="80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sym typeface="Montserrat SemiBold"/>
            </a:endParaRPr>
          </a:p>
          <a:p>
            <a:pPr marL="171450" lvl="2" indent="-171450">
              <a:buSzPts val="1600"/>
              <a:buFontTx/>
              <a:buChar char="-"/>
            </a:pPr>
            <a:r>
              <a:rPr lang="en-US" altLang="ko-KR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--no-sandbox, --load-extension(</a:t>
            </a:r>
            <a:r>
              <a:rPr lang="ko-KR" altLang="en-US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악성</a:t>
            </a:r>
            <a:r>
              <a:rPr lang="en-US" altLang="ko-KR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), … </a:t>
            </a:r>
            <a:r>
              <a:rPr lang="ko-KR" altLang="en-US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치명적일 수 있는 스위치를 붙여 </a:t>
            </a:r>
            <a:br>
              <a:rPr lang="en-US" altLang="ko-KR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</a:br>
            <a:r>
              <a:rPr lang="ko-KR" altLang="en-US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요청할 수 있기 때문에 </a:t>
            </a:r>
            <a:r>
              <a:rPr lang="en-US" altLang="ko-KR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“ </a:t>
            </a:r>
            <a:r>
              <a:rPr lang="en-US" altLang="ko-KR" sz="10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–</a:t>
            </a:r>
            <a:r>
              <a:rPr lang="en-US" altLang="ko-KR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 ” skip</a:t>
            </a:r>
            <a:r>
              <a:rPr lang="ko-KR" altLang="en-US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을 통해 인자를 조정</a:t>
            </a:r>
            <a:endParaRPr lang="en-US" altLang="ko-KR" sz="100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sym typeface="Montserrat SemiBold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4101127-C572-E433-9041-B1DFBFA8A6CF}"/>
              </a:ext>
            </a:extLst>
          </p:cNvPr>
          <p:cNvCxnSpPr>
            <a:cxnSpLocks/>
          </p:cNvCxnSpPr>
          <p:nvPr/>
        </p:nvCxnSpPr>
        <p:spPr>
          <a:xfrm>
            <a:off x="387275" y="763285"/>
            <a:ext cx="4763371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5EDDF93F-2F72-9580-591C-A62F2E13E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98" y="72258"/>
            <a:ext cx="609524" cy="609524"/>
          </a:xfrm>
          <a:prstGeom prst="rect">
            <a:avLst/>
          </a:prstGeom>
        </p:spPr>
      </p:pic>
      <p:pic>
        <p:nvPicPr>
          <p:cNvPr id="4" name="그림 3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952DBD-0323-52DF-C40F-EBB7635B61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182" y="-1"/>
            <a:ext cx="2824157" cy="514350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47FBF17-B6EF-AF29-8BA7-DBB5B259DFC6}"/>
              </a:ext>
            </a:extLst>
          </p:cNvPr>
          <p:cNvSpPr/>
          <p:nvPr/>
        </p:nvSpPr>
        <p:spPr>
          <a:xfrm>
            <a:off x="5485918" y="1530144"/>
            <a:ext cx="1955648" cy="273256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722840-29C1-B5C7-BC7A-D5D68127522F}"/>
              </a:ext>
            </a:extLst>
          </p:cNvPr>
          <p:cNvSpPr/>
          <p:nvPr/>
        </p:nvSpPr>
        <p:spPr>
          <a:xfrm>
            <a:off x="5479567" y="1981292"/>
            <a:ext cx="2393797" cy="1054007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0B76B26-6E52-D076-B426-3EEB27D5DA92}"/>
              </a:ext>
            </a:extLst>
          </p:cNvPr>
          <p:cNvSpPr/>
          <p:nvPr/>
        </p:nvSpPr>
        <p:spPr>
          <a:xfrm>
            <a:off x="5485917" y="4336844"/>
            <a:ext cx="1790548" cy="203406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" name="연결선: 꺾임 1">
            <a:extLst>
              <a:ext uri="{FF2B5EF4-FFF2-40B4-BE49-F238E27FC236}">
                <a16:creationId xmlns:a16="http://schemas.microsoft.com/office/drawing/2014/main" id="{97A39D61-0B80-3CEF-C6DF-DF2031AE33FB}"/>
              </a:ext>
            </a:extLst>
          </p:cNvPr>
          <p:cNvCxnSpPr>
            <a:cxnSpLocks/>
          </p:cNvCxnSpPr>
          <p:nvPr/>
        </p:nvCxnSpPr>
        <p:spPr>
          <a:xfrm flipV="1">
            <a:off x="1877876" y="3948691"/>
            <a:ext cx="3687005" cy="108995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1C5EE1A-DCFF-A333-01BE-09D9F660C90E}"/>
              </a:ext>
            </a:extLst>
          </p:cNvPr>
          <p:cNvCxnSpPr>
            <a:cxnSpLocks/>
          </p:cNvCxnSpPr>
          <p:nvPr/>
        </p:nvCxnSpPr>
        <p:spPr>
          <a:xfrm flipV="1">
            <a:off x="1877876" y="3948691"/>
            <a:ext cx="0" cy="10899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8508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11916B21-9CD1-1348-08F5-AF54B520E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FDCE4FE5-E399-5F47-80BD-E40B96B93042}"/>
              </a:ext>
            </a:extLst>
          </p:cNvPr>
          <p:cNvSpPr txBox="1"/>
          <p:nvPr/>
        </p:nvSpPr>
        <p:spPr>
          <a:xfrm flipH="1">
            <a:off x="452549" y="885617"/>
            <a:ext cx="4633800" cy="2413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>
              <a:buSzPts val="1600"/>
            </a:pPr>
            <a:r>
              <a:rPr lang="en-US" altLang="ko-KR" sz="9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chromium/src/+/HEAD/chrome/elevation_service/caller_validation.cc</a:t>
            </a:r>
            <a:r>
              <a:rPr lang="en-US" altLang="ko-KR" sz="9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…</a:t>
            </a:r>
            <a:r>
              <a:rPr lang="en-US" altLang="ko-KR" sz="9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 </a:t>
            </a:r>
            <a:endParaRPr lang="en-US" altLang="ko-KR" sz="800">
              <a:solidFill>
                <a:schemeClr val="dk1"/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endParaRPr lang="en-US" altLang="ko-KR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171450" lvl="2" indent="-171450">
              <a:buSzPts val="1600"/>
              <a:buFontTx/>
              <a:buChar char="-"/>
            </a:pP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ValidateData</a:t>
            </a:r>
            <a:b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b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ProtectionLevel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 확인 후 분기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...</a:t>
            </a:r>
          </a:p>
          <a:p>
            <a:pPr marL="171450" lvl="2" indent="-171450">
              <a:buSzPts val="1600"/>
              <a:buFontTx/>
              <a:buChar char="-"/>
            </a:pPr>
            <a:endParaRPr lang="en-US" altLang="ko-KR" sz="1000">
              <a:solidFill>
                <a:schemeClr val="dk1"/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Montserrat SemiBold"/>
            </a:endParaRPr>
          </a:p>
          <a:p>
            <a:pPr marL="171450" lvl="2" indent="-171450">
              <a:buSzPts val="1600"/>
              <a:buFontTx/>
              <a:buChar char="-"/>
            </a:pP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ValidatePath</a:t>
            </a:r>
            <a:b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b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data(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이전에 암호화한 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Proc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의 경로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 </a:t>
            </a:r>
            <a:r>
              <a:rPr lang="ko-KR" altLang="en-US" sz="1000">
                <a:solidFill>
                  <a:schemeClr val="dk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ontserrat SemiBold"/>
                <a:sym typeface="Montserrat SemiBold"/>
              </a:rPr>
              <a:t>有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)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와 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proc_path 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대조</a:t>
            </a:r>
            <a:b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b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accent1">
                    <a:lumMod val="50000"/>
                  </a:schemeClr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GetProcExecPath(proc) &gt; QueryFullProcessImageNameW </a:t>
            </a:r>
            <a:r>
              <a:rPr lang="ko-KR" altLang="en-US" sz="1000">
                <a:solidFill>
                  <a:schemeClr val="accent1">
                    <a:lumMod val="50000"/>
                  </a:schemeClr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호출</a:t>
            </a:r>
            <a:br>
              <a:rPr lang="en-US" altLang="ko-KR" sz="1000">
                <a:solidFill>
                  <a:schemeClr val="accent1">
                    <a:lumMod val="50000"/>
                  </a:schemeClr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br>
              <a:rPr lang="en-US" altLang="ko-KR" sz="1000">
                <a:solidFill>
                  <a:schemeClr val="accent1">
                    <a:lumMod val="50000"/>
                  </a:schemeClr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accent1">
                    <a:lumMod val="50000"/>
                  </a:schemeClr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Query…NameW </a:t>
            </a:r>
            <a:r>
              <a:rPr lang="en-US" altLang="ko-KR" sz="1000">
                <a:solidFill>
                  <a:schemeClr val="accent1">
                    <a:lumMod val="50000"/>
                  </a:schemeClr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 </a:t>
            </a:r>
            <a:r>
              <a:rPr lang="ko-KR" altLang="en-US" sz="1000">
                <a:solidFill>
                  <a:schemeClr val="accent1">
                    <a:lumMod val="50000"/>
                  </a:schemeClr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실제 프로세스의 경로를 확인 </a:t>
            </a:r>
            <a:endParaRPr lang="en-US" altLang="ko-KR" sz="1000">
              <a:solidFill>
                <a:schemeClr val="accent1">
                  <a:lumMod val="50000"/>
                </a:schemeClr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Wingdings" panose="05000000000000000000" pitchFamily="2" charset="2"/>
            </a:endParaRPr>
          </a:p>
          <a:p>
            <a:pPr marL="171450" lvl="2" indent="-171450">
              <a:buSzPts val="1600"/>
              <a:buFontTx/>
              <a:buChar char="-"/>
            </a:pPr>
            <a:endParaRPr lang="en-US" altLang="ko-KR" sz="1000">
              <a:solidFill>
                <a:schemeClr val="accent1">
                  <a:lumMod val="50000"/>
                </a:schemeClr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Wingdings" panose="05000000000000000000" pitchFamily="2" charset="2"/>
            </a:endParaRPr>
          </a:p>
          <a:p>
            <a:pPr marL="171450" lvl="2" indent="-171450">
              <a:buSzPts val="1600"/>
              <a:buFontTx/>
              <a:buChar char="-"/>
            </a:pPr>
            <a:endParaRPr lang="en-US" altLang="ko-KR" sz="1000">
              <a:solidFill>
                <a:schemeClr val="accent1">
                  <a:lumMod val="50000"/>
                </a:schemeClr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Wingdings" panose="05000000000000000000" pitchFamily="2" charset="2"/>
            </a:endParaRPr>
          </a:p>
          <a:p>
            <a:pPr marL="171450" lvl="2" indent="-171450">
              <a:buSzPts val="1600"/>
              <a:buFontTx/>
              <a:buChar char="-"/>
            </a:pPr>
            <a:endParaRPr lang="en-US" altLang="ko-KR" sz="1000">
              <a:solidFill>
                <a:schemeClr val="accent1">
                  <a:lumMod val="50000"/>
                </a:schemeClr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Wingdings" panose="05000000000000000000" pitchFamily="2" charset="2"/>
            </a:endParaRPr>
          </a:p>
          <a:p>
            <a:pPr marL="171450" lvl="2" indent="-171450">
              <a:buSzPts val="1600"/>
              <a:buFontTx/>
              <a:buChar char="-"/>
            </a:pPr>
            <a:r>
              <a:rPr lang="en-US" altLang="ko-KR" sz="1000">
                <a:solidFill>
                  <a:srgbClr val="B07202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i.e.) App-Bound</a:t>
            </a:r>
            <a:r>
              <a:rPr lang="ko-KR" altLang="en-US" sz="1000">
                <a:solidFill>
                  <a:srgbClr val="B07202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 는 </a:t>
            </a:r>
            <a:r>
              <a:rPr lang="en-US" altLang="ko-KR" sz="1000">
                <a:solidFill>
                  <a:srgbClr val="B07202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chrome.exe</a:t>
            </a:r>
            <a:r>
              <a:rPr lang="ko-KR" altLang="en-US" sz="1000">
                <a:solidFill>
                  <a:srgbClr val="B07202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가 아닌  </a:t>
            </a:r>
            <a:r>
              <a:rPr lang="en-US" altLang="ko-KR" sz="1000">
                <a:solidFill>
                  <a:srgbClr val="B07202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ValidatePath</a:t>
            </a:r>
            <a:r>
              <a:rPr lang="ko-KR" altLang="en-US" sz="1000">
                <a:solidFill>
                  <a:srgbClr val="B07202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로 인한 </a:t>
            </a:r>
            <a:r>
              <a:rPr lang="en-US" altLang="ko-KR" sz="1000">
                <a:solidFill>
                  <a:srgbClr val="B07202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Proc </a:t>
            </a:r>
            <a:r>
              <a:rPr lang="ko-KR" altLang="en-US" sz="1000">
                <a:solidFill>
                  <a:srgbClr val="B07202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대조</a:t>
            </a:r>
            <a:r>
              <a:rPr lang="en-US" altLang="ko-KR" sz="1000">
                <a:solidFill>
                  <a:srgbClr val="B07202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..</a:t>
            </a:r>
            <a:br>
              <a:rPr lang="en-US" altLang="ko-KR" sz="1000">
                <a:solidFill>
                  <a:srgbClr val="B07202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000">
                <a:solidFill>
                  <a:srgbClr val="B07202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</a:br>
            <a:r>
              <a:rPr lang="ko-KR" altLang="en-US" sz="1000">
                <a:solidFill>
                  <a:srgbClr val="B07202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그러나</a:t>
            </a:r>
            <a:r>
              <a:rPr lang="en-US" altLang="ko-KR" sz="1000">
                <a:solidFill>
                  <a:srgbClr val="B07202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, </a:t>
            </a:r>
            <a:r>
              <a:rPr lang="ko-KR" altLang="en-US" sz="1000">
                <a:solidFill>
                  <a:srgbClr val="B07202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암호화를 요청하는 주체가 </a:t>
            </a:r>
            <a:r>
              <a:rPr lang="en-US" altLang="ko-KR" sz="1000">
                <a:solidFill>
                  <a:srgbClr val="B07202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chrome.exe</a:t>
            </a:r>
            <a:r>
              <a:rPr lang="ko-KR" altLang="en-US" sz="1000">
                <a:solidFill>
                  <a:srgbClr val="B07202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 이기 때문에 </a:t>
            </a:r>
            <a:br>
              <a:rPr lang="en-US" altLang="ko-KR" sz="1000">
                <a:solidFill>
                  <a:srgbClr val="B07202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</a:br>
            <a:r>
              <a:rPr lang="ko-KR" altLang="en-US" sz="1000">
                <a:solidFill>
                  <a:srgbClr val="B07202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사실상 </a:t>
            </a:r>
            <a:r>
              <a:rPr lang="en-US" altLang="ko-KR" sz="1000">
                <a:solidFill>
                  <a:srgbClr val="B07202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chrome.exe path validation..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22CCC0F-6CD5-6756-3DC4-7B5BFC7C9C2D}"/>
              </a:ext>
            </a:extLst>
          </p:cNvPr>
          <p:cNvCxnSpPr>
            <a:cxnSpLocks/>
          </p:cNvCxnSpPr>
          <p:nvPr/>
        </p:nvCxnSpPr>
        <p:spPr>
          <a:xfrm>
            <a:off x="387275" y="763285"/>
            <a:ext cx="4763371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867F2930-659A-5B59-DC2C-B714C9DD4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98" y="73546"/>
            <a:ext cx="609524" cy="609524"/>
          </a:xfrm>
          <a:prstGeom prst="rect">
            <a:avLst/>
          </a:prstGeom>
        </p:spPr>
      </p:pic>
      <p:pic>
        <p:nvPicPr>
          <p:cNvPr id="4" name="그림 3" descr="텍스트, 전자제품, 스크린샷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46F694-2392-6244-FF1B-FC43EF0522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943" y="5508"/>
            <a:ext cx="3825327" cy="2762458"/>
          </a:xfrm>
          <a:prstGeom prst="rect">
            <a:avLst/>
          </a:prstGeom>
        </p:spPr>
      </p:pic>
      <p:pic>
        <p:nvPicPr>
          <p:cNvPr id="5" name="그림 4" descr="텍스트, 스크린샷, 멀티미디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583F02-34EA-2648-FC5F-18D65F71B4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4942" y="2465875"/>
            <a:ext cx="3825327" cy="2683817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3553378-8273-4A6F-6CAF-26B3C3D891EF}"/>
              </a:ext>
            </a:extLst>
          </p:cNvPr>
          <p:cNvCxnSpPr/>
          <p:nvPr/>
        </p:nvCxnSpPr>
        <p:spPr>
          <a:xfrm>
            <a:off x="6027420" y="3177540"/>
            <a:ext cx="22098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3E369C8-8806-5D4B-0EC7-5950D001D43E}"/>
              </a:ext>
            </a:extLst>
          </p:cNvPr>
          <p:cNvCxnSpPr>
            <a:cxnSpLocks/>
          </p:cNvCxnSpPr>
          <p:nvPr/>
        </p:nvCxnSpPr>
        <p:spPr>
          <a:xfrm>
            <a:off x="5775960" y="3634740"/>
            <a:ext cx="279654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35A8FC2-D177-0DEB-2632-C03B2521EB00}"/>
              </a:ext>
            </a:extLst>
          </p:cNvPr>
          <p:cNvCxnSpPr>
            <a:cxnSpLocks/>
          </p:cNvCxnSpPr>
          <p:nvPr/>
        </p:nvCxnSpPr>
        <p:spPr>
          <a:xfrm>
            <a:off x="5707380" y="4213860"/>
            <a:ext cx="30022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2D74AE3A-37A9-2381-9DAB-5927F33D0DFD}"/>
              </a:ext>
            </a:extLst>
          </p:cNvPr>
          <p:cNvSpPr/>
          <p:nvPr/>
        </p:nvSpPr>
        <p:spPr>
          <a:xfrm>
            <a:off x="5450533" y="1332411"/>
            <a:ext cx="140369" cy="1001486"/>
          </a:xfrm>
          <a:custGeom>
            <a:avLst/>
            <a:gdLst>
              <a:gd name="csX0" fmla="*/ 88118 w 140369"/>
              <a:gd name="csY0" fmla="*/ 0 h 1001486"/>
              <a:gd name="csX1" fmla="*/ 1032 w 140369"/>
              <a:gd name="csY1" fmla="*/ 548640 h 1001486"/>
              <a:gd name="csX2" fmla="*/ 140369 w 140369"/>
              <a:gd name="csY2" fmla="*/ 1001486 h 10014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0369" h="1001486">
                <a:moveTo>
                  <a:pt x="88118" y="0"/>
                </a:moveTo>
                <a:cubicBezTo>
                  <a:pt x="40221" y="190863"/>
                  <a:pt x="-7676" y="381726"/>
                  <a:pt x="1032" y="548640"/>
                </a:cubicBezTo>
                <a:cubicBezTo>
                  <a:pt x="9740" y="715554"/>
                  <a:pt x="75054" y="858520"/>
                  <a:pt x="140369" y="1001486"/>
                </a:cubicBezTo>
              </a:path>
            </a:pathLst>
          </a:cu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BF2071E-4ABD-3AC7-5E3F-74786F5636CA}"/>
              </a:ext>
            </a:extLst>
          </p:cNvPr>
          <p:cNvCxnSpPr>
            <a:endCxn id="6" idx="1"/>
          </p:cNvCxnSpPr>
          <p:nvPr/>
        </p:nvCxnSpPr>
        <p:spPr>
          <a:xfrm>
            <a:off x="2464198" y="1672046"/>
            <a:ext cx="2986335" cy="1915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690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908E32A4-690C-7FBB-A6FB-406C697A8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223334BC-CADE-4090-F477-372DDA2E608D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>
              <a:buSzPts val="1600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  “ Windows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환경에서 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Chromium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사용자 데이터를 보호하는 핵심 암호화 모듈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(OSCrypt)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구현체 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”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En/DecryptStringWithDPAPI</a:t>
            </a:r>
            <a:b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실제 데이터에 대한 암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복호화 적용 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” + key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에도 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USER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암호화만 적용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(“ v10 ”)</a:t>
            </a:r>
            <a:b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Prefix: “ DPAPI ”</a:t>
            </a:r>
            <a:b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Decrypt Key: Call DecryptStringWithDPAPI(encrypted_key, &amp;key);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E08BCCBC-AECE-CB05-92AE-65EC2FF5CE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/>
              <a:t>“ v10 ” components/os_crypt/sync/os_crypt_win.cc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FCDF7E9-097C-E72E-51EC-E81BF27FAB74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 descr="텍스트, 스크린샷, 폰트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C5CB0E-A2B2-7980-7142-1B2D19CE3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1699" y="2636426"/>
            <a:ext cx="4620602" cy="2446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240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4D7DDF50-8EB9-4B7B-98E1-EA5729590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C9F1F9E3-ECDD-EB51-B4A7-C78AD2CF54BD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app_bound_encryption_provider_win.cc </a:t>
            </a:r>
            <a:endParaRPr lang="en-US" altLang="ko-KR" sz="400">
              <a:solidFill>
                <a:schemeClr val="accent3">
                  <a:lumMod val="7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4625" lvl="2">
              <a:buSzPts val="1600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키 관리 및 암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복호화 요청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”</a:t>
            </a: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4625" lvl="2">
              <a:buSzPts val="1600"/>
            </a:pPr>
            <a:endParaRPr lang="en-US" altLang="ko-KR" sz="24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AppBoundEncryptionProviderWin : : *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*COMWorker Class**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elevator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객체와 소통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”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En/DecryptKey &gt; EncryptAppBoundString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호출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elevator-&gt;EncryptData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호출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데이터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2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번 잠구기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</a:t>
            </a: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GetKey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RetriveEncryptedKey(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키 정리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함수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호출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COMWorker : : DecryptKey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호출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StoreKey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-Inverse operation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of the RetriveEncryptedKey (</a:t>
            </a:r>
            <a:r>
              <a:rPr lang="en-US" altLang="ko-KR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Prefixing the Key, Encoding, Encryption, …)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HandleEncryptedKey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 StoreAndReplyWithKey </a:t>
            </a:r>
            <a:r>
              <a:rPr lang="en-US" altLang="ko-KR" sz="1200">
                <a:solidFill>
                  <a:srgbClr val="0099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// Storing Key in Local State &amp; return Key Handler.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A420E302-0C59-0A29-8C38-F53367383A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/>
              <a:t>“ v20 ” chrome/browser/os_crypt/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D471DED-34CB-28C0-C216-47DDE2FA82EF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65EC73-8F1D-34C7-54D7-DE682B220A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29" t="9768" r="3000" b="9447"/>
          <a:stretch>
            <a:fillRect/>
          </a:stretch>
        </p:blipFill>
        <p:spPr>
          <a:xfrm>
            <a:off x="4440779" y="923716"/>
            <a:ext cx="4672012" cy="160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496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3BC9C14A-76F9-1237-CD3E-C8609882B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83D5A49F-E119-F1C8-3D34-19EC19299E9E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COM? </a:t>
            </a: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Componenet Object Model ”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7188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정체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 </a:t>
            </a:r>
          </a:p>
          <a:p>
            <a:pPr marL="357188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536575" lvl="2" indent="-179388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C++, C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작성된 프로그램이 그냥은 대화가 안되기 때문에 언어의 장벽을 허물기 위한 인터페이스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536575" lvl="2" indent="-179388">
              <a:buSzPts val="16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너는 마치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돼지코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</a:t>
            </a:r>
          </a:p>
          <a:p>
            <a:pPr marL="536575" lvl="2" indent="-179388">
              <a:buSzPts val="16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어떤 프로그램에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 Interface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구현되어 있으면 해당 형식에 맞춰 전달하면 끝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COMWorker Class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En/DecryptAppBoundString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함수 호출 </a:t>
            </a: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endParaRPr lang="en-US" altLang="ko-KR" sz="8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COMWorker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통해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Elevation Service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Ielevator COM Interface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호출해 암호화된 키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(AES-256 Key)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째로 던져서 복호화 부탁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(SYSTEM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권한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B4C31DE3-7B50-1CFD-AD42-D9BEC0448E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3C3E8E1-F6D3-44A6-F9A1-F7628CB09D7C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B487B8AD-B831-5A73-AFE7-5D5B26E47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3263" y="1895475"/>
            <a:ext cx="952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336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69684D9E-779F-220E-7281-52A6C355B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54BDB5DF-A9EC-6942-46C4-FDC954506DEE}"/>
              </a:ext>
            </a:extLst>
          </p:cNvPr>
          <p:cNvSpPr txBox="1"/>
          <p:nvPr/>
        </p:nvSpPr>
        <p:spPr>
          <a:xfrm flipH="1">
            <a:off x="2545668" y="2888161"/>
            <a:ext cx="4362337" cy="1879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SAPI.SpVoice : SAPI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SpVoice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객체 생성</a:t>
            </a: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SpVoice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COM Interface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B437EFF0-3FAF-E973-E1AD-C003BECF52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E57F14C-71F3-ACCB-2BAC-BCE1AE72F3A0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A7440E34-8365-7599-D5DB-1631A9D965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1718" y="913303"/>
            <a:ext cx="4500563" cy="2098886"/>
          </a:xfrm>
          <a:prstGeom prst="rect">
            <a:avLst/>
          </a:prstGeom>
        </p:spPr>
      </p:pic>
      <p:pic>
        <p:nvPicPr>
          <p:cNvPr id="6" name="output">
            <a:hlinkClick r:id="" action="ppaction://media"/>
            <a:extLst>
              <a:ext uri="{FF2B5EF4-FFF2-40B4-BE49-F238E27FC236}">
                <a16:creationId xmlns:a16="http://schemas.microsoft.com/office/drawing/2014/main" id="{EBB570A6-0B6D-31E3-ABF7-19F73D8120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267199" y="377300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844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1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8CDC11BC-68B6-251A-4CED-797AB60A6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A6A9BFDD-EAFC-08AE-AFE6-4ACB81CFB865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app_bound_encryption_win.cc </a:t>
            </a:r>
            <a:endParaRPr lang="en-US" altLang="ko-KR" sz="600">
              <a:solidFill>
                <a:schemeClr val="accent3">
                  <a:lumMod val="7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GetAppBoundEncryptionSupportLevel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시스템 상태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브라우저 설정 조회 후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Enum(os_crypt : : SupportLevel)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반환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En/DecryptAppBoundString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elevator-&gt;En/DecryptData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호출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”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+ DecryptAppBoundString &gt; kSuccessShouldReencrypt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flag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조회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AFA79D13-C114-92D7-F4B3-134E59FEC3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/>
              <a:t>“ v20 ” chrome/browser/os_crypt/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1EEECB4-2549-959A-21AC-9B636EFBEE33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430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F57CFD4-1BCD-A628-DDAB-EBA9681C1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D45A8E38-59F6-D2AE-30FE-123949D968F7}"/>
              </a:ext>
            </a:extLst>
          </p:cNvPr>
          <p:cNvSpPr txBox="1"/>
          <p:nvPr/>
        </p:nvSpPr>
        <p:spPr>
          <a:xfrm flipH="1">
            <a:off x="452550" y="885617"/>
            <a:ext cx="40242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IElevator handler.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mempcy(plaintext)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if (flags) 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hr = elevator-&gt;EncryptData</a:t>
            </a:r>
            <a:b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// 2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번 잠구기</a:t>
            </a: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ciphertext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포인터에 저장 및 가공 </a:t>
            </a: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FD31BE6-04FA-BF9A-573E-4E3A7257735C}"/>
              </a:ext>
            </a:extLst>
          </p:cNvPr>
          <p:cNvCxnSpPr>
            <a:cxnSpLocks/>
          </p:cNvCxnSpPr>
          <p:nvPr/>
        </p:nvCxnSpPr>
        <p:spPr>
          <a:xfrm>
            <a:off x="387275" y="763285"/>
            <a:ext cx="4184725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F3E53E-5348-0C66-D09A-7ADAC73668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958"/>
          <a:stretch>
            <a:fillRect/>
          </a:stretch>
        </p:blipFill>
        <p:spPr>
          <a:xfrm>
            <a:off x="4572000" y="763285"/>
            <a:ext cx="4572000" cy="380999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E14EA99-85A7-F175-B861-3CA9E46737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4875" y="73545"/>
            <a:ext cx="609524" cy="609524"/>
          </a:xfrm>
          <a:prstGeom prst="rect">
            <a:avLst/>
          </a:prstGeom>
        </p:spPr>
      </p:pic>
      <p:pic>
        <p:nvPicPr>
          <p:cNvPr id="14" name="그림 13" descr="다채로움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F3ED66-8A38-D4FA-5C5D-9B05894A39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1476375"/>
            <a:ext cx="180975" cy="180975"/>
          </a:xfrm>
          <a:prstGeom prst="rect">
            <a:avLst/>
          </a:prstGeom>
        </p:spPr>
      </p:pic>
      <p:pic>
        <p:nvPicPr>
          <p:cNvPr id="15" name="그림 14" descr="다채로움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5AEEF4-485C-795D-96CA-5655CD3E55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1895475"/>
            <a:ext cx="180975" cy="180975"/>
          </a:xfrm>
          <a:prstGeom prst="rect">
            <a:avLst/>
          </a:prstGeom>
        </p:spPr>
      </p:pic>
      <p:pic>
        <p:nvPicPr>
          <p:cNvPr id="16" name="그림 15" descr="다채로움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2D009C-9310-96EB-17D5-A346CC2551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799" y="2352675"/>
            <a:ext cx="180975" cy="180975"/>
          </a:xfrm>
          <a:prstGeom prst="rect">
            <a:avLst/>
          </a:prstGeom>
        </p:spPr>
      </p:pic>
      <p:pic>
        <p:nvPicPr>
          <p:cNvPr id="17" name="그림 16" descr="다채로움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C7B797-23EA-A680-D3D6-AD6468DCBA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798" y="2771775"/>
            <a:ext cx="180975" cy="180975"/>
          </a:xfrm>
          <a:prstGeom prst="rect">
            <a:avLst/>
          </a:prstGeom>
        </p:spPr>
      </p:pic>
      <p:pic>
        <p:nvPicPr>
          <p:cNvPr id="18" name="그림 17" descr="다채로움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341B155-D77D-0384-BEC4-FA2B2E4635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798" y="3343915"/>
            <a:ext cx="180975" cy="18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0676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6AD7F548-B155-BA84-2D7C-ECD93A6F5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11C5DED7-AC7E-9FD2-5C32-090559BA3E5F}"/>
              </a:ext>
            </a:extLst>
          </p:cNvPr>
          <p:cNvSpPr txBox="1"/>
          <p:nvPr/>
        </p:nvSpPr>
        <p:spPr>
          <a:xfrm flipH="1">
            <a:off x="452550" y="885617"/>
            <a:ext cx="40242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IElevator handler.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memcpy(ciphertext)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if (flags) 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hr = elevator-&gt;DecryptData</a:t>
            </a:r>
            <a:b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// 2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번 풀기</a:t>
            </a: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plaintext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포인터에 저장</a:t>
            </a: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en-US" altLang="ko-KR" sz="12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+++++++++++++++++++++++++++++++++</a:t>
            </a:r>
          </a:p>
          <a:p>
            <a:pPr marL="177800" lvl="2" indent="-177800">
              <a:buSzPts val="1600"/>
              <a:buFont typeface="Wingdings" panose="05000000000000000000" pitchFamily="2" charset="2"/>
              <a:buChar char="ü"/>
            </a:pPr>
            <a:r>
              <a:rPr lang="en-US" altLang="ko-KR" sz="12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new_ciphertext </a:t>
            </a:r>
            <a:r>
              <a:rPr lang="ko-KR" altLang="en-US" sz="12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생성 및 </a:t>
            </a:r>
            <a:br>
              <a:rPr lang="en-US" altLang="ko-KR" sz="12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kAppBoundDataReencrypt </a:t>
            </a:r>
            <a:r>
              <a:rPr lang="ko-KR" altLang="en-US" sz="12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확인</a:t>
            </a:r>
            <a:endParaRPr lang="en-US" altLang="ko-KR" sz="1200">
              <a:solidFill>
                <a:schemeClr val="dk1"/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Wingdings" panose="05000000000000000000" pitchFamily="2" charset="2"/>
              <a:buChar char="ü"/>
            </a:pPr>
            <a:endParaRPr lang="en-US" altLang="ko-KR" sz="1200">
              <a:solidFill>
                <a:schemeClr val="dk1"/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Montserrat SemiBold"/>
            </a:endParaRPr>
          </a:p>
          <a:p>
            <a:pPr marL="354013" lvl="2" indent="-177800">
              <a:buSzPts val="1600"/>
              <a:buFont typeface="Wingdings" panose="05000000000000000000" pitchFamily="2" charset="2"/>
              <a:buChar char="ü"/>
            </a:pPr>
            <a:r>
              <a:rPr lang="en-US" altLang="ko-KR" sz="12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reencrypted_data </a:t>
            </a:r>
            <a:r>
              <a:rPr lang="ko-KR" altLang="en-US" sz="12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포인터에 저장</a:t>
            </a:r>
            <a:endParaRPr lang="en-US" altLang="ko-KR" sz="1200">
              <a:solidFill>
                <a:schemeClr val="dk1"/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Montserrat SemiBold"/>
            </a:endParaRPr>
          </a:p>
          <a:p>
            <a:pPr marL="176213" lvl="2" indent="-176213">
              <a:buSzPts val="1600"/>
            </a:pPr>
            <a:r>
              <a:rPr lang="en-US" altLang="ko-KR" sz="12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+++++++++++++++++++++++++++++++++</a:t>
            </a:r>
          </a:p>
          <a:p>
            <a:pPr marL="176213" lvl="2" indent="-176213">
              <a:buSzPts val="1600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6213" lvl="2" indent="-176213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plaintext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가공 </a:t>
            </a:r>
            <a:b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1506BD2-77F2-9CBE-C4E4-CB22B15D874E}"/>
              </a:ext>
            </a:extLst>
          </p:cNvPr>
          <p:cNvCxnSpPr>
            <a:cxnSpLocks/>
          </p:cNvCxnSpPr>
          <p:nvPr/>
        </p:nvCxnSpPr>
        <p:spPr>
          <a:xfrm>
            <a:off x="387275" y="763285"/>
            <a:ext cx="4184725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1494DF95-B55C-A3DB-3E84-EBA720EEB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875" y="73545"/>
            <a:ext cx="609524" cy="609524"/>
          </a:xfrm>
          <a:prstGeom prst="rect">
            <a:avLst/>
          </a:prstGeom>
        </p:spPr>
      </p:pic>
      <p:pic>
        <p:nvPicPr>
          <p:cNvPr id="2" name="그림 1" descr="텍스트, 스크린샷, 소프트웨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B560C1-4105-05DC-294C-99199B3DEA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150" y="0"/>
            <a:ext cx="3695734" cy="5143500"/>
          </a:xfrm>
          <a:prstGeom prst="rect">
            <a:avLst/>
          </a:prstGeom>
        </p:spPr>
      </p:pic>
      <p:pic>
        <p:nvPicPr>
          <p:cNvPr id="5" name="그림 4" descr="다채로움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A192B9-D1C3-1B35-B3C6-F86673E550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700" y="592581"/>
            <a:ext cx="180975" cy="180975"/>
          </a:xfrm>
          <a:prstGeom prst="rect">
            <a:avLst/>
          </a:prstGeom>
        </p:spPr>
      </p:pic>
      <p:pic>
        <p:nvPicPr>
          <p:cNvPr id="6" name="그림 5" descr="다채로움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E0D487-5863-F713-47DC-9CE46540C6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699" y="1630074"/>
            <a:ext cx="180975" cy="180975"/>
          </a:xfrm>
          <a:prstGeom prst="rect">
            <a:avLst/>
          </a:prstGeom>
        </p:spPr>
      </p:pic>
      <p:pic>
        <p:nvPicPr>
          <p:cNvPr id="8" name="그림 7" descr="다채로움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2BC1C5-3641-2194-989A-169B4AA119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699" y="1924050"/>
            <a:ext cx="180975" cy="180975"/>
          </a:xfrm>
          <a:prstGeom prst="rect">
            <a:avLst/>
          </a:prstGeom>
        </p:spPr>
      </p:pic>
      <p:pic>
        <p:nvPicPr>
          <p:cNvPr id="9" name="그림 8" descr="다채로움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24118B-AF19-F659-E896-BAF3143662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699" y="2438967"/>
            <a:ext cx="180975" cy="180975"/>
          </a:xfrm>
          <a:prstGeom prst="rect">
            <a:avLst/>
          </a:prstGeom>
        </p:spPr>
      </p:pic>
      <p:pic>
        <p:nvPicPr>
          <p:cNvPr id="10" name="그림 9" descr="다채로움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6A63FD-58A5-2A6C-D909-F551CF0B82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698" y="2562792"/>
            <a:ext cx="180975" cy="180975"/>
          </a:xfrm>
          <a:prstGeom prst="rect">
            <a:avLst/>
          </a:prstGeom>
        </p:spPr>
      </p:pic>
      <p:pic>
        <p:nvPicPr>
          <p:cNvPr id="11" name="그림 10" descr="다채로움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5E0A2D-D4E7-CFC9-2D42-3A4F00449A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6320" y="3276316"/>
            <a:ext cx="180975" cy="180975"/>
          </a:xfrm>
          <a:prstGeom prst="rect">
            <a:avLst/>
          </a:prstGeom>
        </p:spPr>
      </p:pic>
      <p:pic>
        <p:nvPicPr>
          <p:cNvPr id="12" name="그림 11" descr="다채로움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75CBB4-1859-3CE4-64A9-5CAFB3949B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40" y="3457291"/>
            <a:ext cx="180975" cy="180975"/>
          </a:xfrm>
          <a:prstGeom prst="rect">
            <a:avLst/>
          </a:prstGeom>
        </p:spPr>
      </p:pic>
      <p:pic>
        <p:nvPicPr>
          <p:cNvPr id="13" name="그림 12" descr="다채로움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476642-908A-F9D6-8B45-B9B15EFDAF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3455" y="4209034"/>
            <a:ext cx="180975" cy="18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840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2FDBE0D6-DB72-0042-E673-64B4B82E3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49AE2575-B3A8-3EDA-4EA7-BDDE0601F4FB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80437C35-30DE-729F-F0A3-7A82909FA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3A6B4B2-7B3F-EE1C-0253-2F257C705334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 descr="텍스트, 폰트, 스크린샷, 대수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01C34D-D61C-115A-D9F9-DDC090B5C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362" y="1261879"/>
            <a:ext cx="8059275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7284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76986C70-6ADD-A889-349C-A55FAB189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E6A9AED8-DCDE-A626-11D4-7A5F4AFEFE67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D9292D3B-5B2C-1258-6CEB-4C35970D88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69C72A1-E4B3-98C0-DF21-4A8C53FE2780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A06449-CE97-005C-1811-78D3FCCD3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904" y="-1"/>
            <a:ext cx="515238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608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93B25CA3-2689-C083-FF69-EA7FCD3FB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0EFAD1BE-5A42-5F12-17EC-83B8AD8CD497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53B8D81E-7ACC-D283-A417-3336204D18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314C9BD-6C4D-7FE6-6A3D-A3E6661910A7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1440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34D396A-4999-660B-FEB9-04B788350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68846D92-0BEB-C31F-DAEA-EF1A261CA1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889640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Thank you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2380057775"/>
      </p:ext>
    </p:extLst>
  </p:cSld>
  <p:clrMapOvr>
    <a:masterClrMapping/>
  </p:clrMapOvr>
</p:sld>
</file>

<file path=ppt/theme/theme1.xml><?xml version="1.0" encoding="utf-8"?>
<a:theme xmlns:a="http://schemas.openxmlformats.org/drawingml/2006/main" name="Energy Infographics by Slidesgo">
  <a:themeElements>
    <a:clrScheme name="Simple Light">
      <a:dk1>
        <a:srgbClr val="000000"/>
      </a:dk1>
      <a:lt1>
        <a:srgbClr val="FFFFFF"/>
      </a:lt1>
      <a:dk2>
        <a:srgbClr val="E9E9E9"/>
      </a:dk2>
      <a:lt2>
        <a:srgbClr val="A7A7A7"/>
      </a:lt2>
      <a:accent1>
        <a:srgbClr val="51EEBC"/>
      </a:accent1>
      <a:accent2>
        <a:srgbClr val="ECBF69"/>
      </a:accent2>
      <a:accent3>
        <a:srgbClr val="8DB6FA"/>
      </a:accent3>
      <a:accent4>
        <a:srgbClr val="FAA4B5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13_Hash</Template>
  <TotalTime>1816</TotalTime>
  <Words>2148</Words>
  <Application>Microsoft Office PowerPoint</Application>
  <PresentationFormat>화면 슬라이드 쇼(16:9)</PresentationFormat>
  <Paragraphs>276</Paragraphs>
  <Slides>26</Slides>
  <Notes>26</Notes>
  <HiddenSlides>0</HiddenSlides>
  <MMClips>1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9" baseType="lpstr">
      <vt:lpstr>맑은 고딕</vt:lpstr>
      <vt:lpstr>Montserrat Medium</vt:lpstr>
      <vt:lpstr>페이퍼로지 1 Thin</vt:lpstr>
      <vt:lpstr>Wingdings</vt:lpstr>
      <vt:lpstr>페이퍼로지 2 ExtraLight</vt:lpstr>
      <vt:lpstr>페이퍼로지 3 Light</vt:lpstr>
      <vt:lpstr>Montserrat</vt:lpstr>
      <vt:lpstr>페이퍼로지 6 SemiBold</vt:lpstr>
      <vt:lpstr>Arial</vt:lpstr>
      <vt:lpstr>페이퍼로지 7 Bold</vt:lpstr>
      <vt:lpstr>D2Coding</vt:lpstr>
      <vt:lpstr>페이퍼로지 4 Regular</vt:lpstr>
      <vt:lpstr>Energy Infographics by Slidesgo</vt:lpstr>
      <vt:lpstr>A Technical Deep Dive into   Chrome’s password_value Encryption</vt:lpstr>
      <vt:lpstr>Overview</vt:lpstr>
      <vt:lpstr>Chrome Security Architecture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“ v20 ” chrome/elevation_service/...</vt:lpstr>
      <vt:lpstr>PowerPoint 프레젠테이션</vt:lpstr>
      <vt:lpstr>PowerPoint 프레젠테이션</vt:lpstr>
      <vt:lpstr>PowerPoint 프레젠테이션</vt:lpstr>
      <vt:lpstr>PowerPoint 프레젠테이션</vt:lpstr>
      <vt:lpstr>“ v10 ” components/os_crypt/sync/os_crypt_win.cc</vt:lpstr>
      <vt:lpstr>“ v20 ” chrome/browser/os_crypt/</vt:lpstr>
      <vt:lpstr>Overview</vt:lpstr>
      <vt:lpstr>Overview</vt:lpstr>
      <vt:lpstr>“ v20 ” chrome/browser/os_crypt/</vt:lpstr>
      <vt:lpstr>PowerPoint 프레젠테이션</vt:lpstr>
      <vt:lpstr>PowerPoint 프레젠테이션</vt:lpstr>
      <vt:lpstr>Overview</vt:lpstr>
      <vt:lpstr>Overview</vt:lpstr>
      <vt:lpstr>Overview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박세원</dc:creator>
  <cp:lastModifiedBy>박세원</cp:lastModifiedBy>
  <cp:revision>390</cp:revision>
  <dcterms:created xsi:type="dcterms:W3CDTF">2026-02-25T09:00:40Z</dcterms:created>
  <dcterms:modified xsi:type="dcterms:W3CDTF">2026-03-10T07:40:18Z</dcterms:modified>
</cp:coreProperties>
</file>